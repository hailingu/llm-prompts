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30秒陈述核心结论与三项决策请求，目标让管理层快速授权示范、材料验证与标准化参与。</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简要呈现本次会议的三项决策请求与预期交付物，便于现场快速表决。</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迅速回顾三条关键结论以便管理层快速判断资源与优先级。</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分节过渡，简要说明本节要点并引导至市场细分。</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概述主要细分市场、估算区间与数据不确定性来源，建议以示范数据降低偏差。</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说明区域竞争格局，建议以可靠性+服务的差异化策略获取初期市场份额。</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过渡至技术议题并介绍本节结构。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阐明器件参数如何推动频率上移及其对绝缘与 EMC 的影响。</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说明为何推荐 50–200 kHz 并请求批准首轮样机采用该频段用于验证。</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推荐并行材料验证以降低后期返工风险并在验收中纳入工艺可重复性指标。</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比较不同绕组形式并强调制造可重复性与互电感控制的测试需求。</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引导进入工程挑战并说明本节要达成的技术门槛。</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建议短期验证风冷，并在中期评估液冷方案的运维与可靠性影响。</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 是绝缘失效的前兆，早期发现可降低返修风险。</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将 EMC 预检列为样机放行的一项强制性测试以减少后期整改。</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建立放行 SOP 并安排工厂试产验证以确保量产一致性。</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引导至示范计划并说明数据采集与治理要求。</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确认示范目标与数据采集责任，并请求批准示范计划。</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描述仿真—样机—现场的闭环验证链，并建议标准化模板以提升校准效率。</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介绍商业化路径并邀请商务团队准备试点模型。</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推荐组合硬件与 SaaS 的收入路径，并授权商务团队进行试点。</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以比较方式展示 BOM 关键项的成本影响与对应缓解策略，便于财务评估缓冲预算。</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说明如何通过在线监测与备件策略转化为服务化收入，并评估商业化潜力。</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引导管理层审阅风险矩阵與缓解措施。</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展示高优先级风险并建议对应缓解措施与责任人。</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提出治理结构与沟通节奏以确保跨部门协同与快速决策。</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明确验收准则（实验室→现场→客户验收）并作为示范合同的验收条件。</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列出短期里程碑、责任人与验收门槛，确保短期能产出示范数据。</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批准中期扩展方案并预留必要资本支出预算。</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请在会后 48 小时内确认负责人并指示是否需要补充 DOI 列表（2 周内首版）。</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A70"/>
        </a:solidFill>
        <a:effectLst/>
      </p:bgPr>
    </p:bg>
    <p:spTree>
      <p:nvGrpSpPr>
        <p:cNvPr id="1" name=""/>
        <p:cNvGrpSpPr/>
        <p:nvPr/>
      </p:nvGrpSpPr>
      <p:grpSpPr/>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91440"/>
            <a:ext cx="9753295" cy="365760"/>
          </a:xfrm>
          <a:prstGeom prst="rect">
            <a:avLst/>
          </a:prstGeom>
          <a:noFill/>
        </p:spPr>
        <p:txBody>
          <a:bodyPr wrap="square">
            <a:spAutoFit/>
          </a:bodyPr>
          <a:lstStyle/>
          <a:p>
            <a:r>
              <a:rPr sz="2200" b="1">
                <a:solidFill>
                  <a:srgbClr val="FFFFFF"/>
                </a:solidFill>
                <a:latin typeface="Georgia"/>
              </a:rPr>
              <a:t>本次会议要决策的三项请求</a:t>
            </a:r>
          </a:p>
        </p:txBody>
      </p:sp>
      <p:sp>
        <p:nvSpPr>
          <p:cNvPr id="4" name="TextBox 3"/>
          <p:cNvSpPr txBox="1"/>
          <p:nvPr/>
        </p:nvSpPr>
        <p:spPr>
          <a:xfrm>
            <a:off x="11277295" y="91440"/>
            <a:ext cx="640080" cy="320040"/>
          </a:xfrm>
          <a:prstGeom prst="rect">
            <a:avLst/>
          </a:prstGeom>
          <a:noFill/>
        </p:spPr>
        <p:txBody>
          <a:bodyPr wrap="none">
            <a:spAutoFit/>
          </a:bodyPr>
          <a:lstStyle/>
          <a:p>
            <a:pPr algn="r"/>
            <a:r>
              <a:rPr sz="1000" b="1">
                <a:solidFill>
                  <a:srgbClr val="FFFFFF"/>
                </a:solidFill>
                <a:latin typeface="Georgia"/>
              </a:rPr>
              <a:t>2</a:t>
            </a:r>
          </a:p>
        </p:txBody>
      </p:sp>
      <p:sp>
        <p:nvSpPr>
          <p:cNvPr id="5" name="Rounded Rectangle 4"/>
          <p:cNvSpPr/>
          <p:nvPr/>
        </p:nvSpPr>
        <p:spPr>
          <a:xfrm>
            <a:off x="762000" y="749808"/>
            <a:ext cx="4311523" cy="594360"/>
          </a:xfrm>
          <a:prstGeom prst="round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1728" y="822960"/>
            <a:ext cx="4092067" cy="256032"/>
          </a:xfrm>
          <a:prstGeom prst="rect">
            <a:avLst/>
          </a:prstGeom>
          <a:noFill/>
        </p:spPr>
        <p:txBody>
          <a:bodyPr wrap="none">
            <a:spAutoFit/>
          </a:bodyPr>
          <a:lstStyle/>
          <a:p>
            <a:r>
              <a:rPr sz="1600" b="1">
                <a:solidFill>
                  <a:srgbClr val="0F172A"/>
                </a:solidFill>
                <a:latin typeface="Georgia"/>
              </a:rPr>
              <a:t>批准示范场景与首轮预算</a:t>
            </a:r>
          </a:p>
        </p:txBody>
      </p:sp>
      <p:sp>
        <p:nvSpPr>
          <p:cNvPr id="7" name="TextBox 6"/>
          <p:cNvSpPr txBox="1"/>
          <p:nvPr/>
        </p:nvSpPr>
        <p:spPr>
          <a:xfrm>
            <a:off x="871728" y="1078992"/>
            <a:ext cx="4092067" cy="192024"/>
          </a:xfrm>
          <a:prstGeom prst="rect">
            <a:avLst/>
          </a:prstGeom>
          <a:noFill/>
        </p:spPr>
        <p:txBody>
          <a:bodyPr wrap="none">
            <a:spAutoFit/>
          </a:bodyPr>
          <a:lstStyle/>
          <a:p>
            <a:r>
              <a:rPr sz="1000">
                <a:solidFill>
                  <a:srgbClr val="6B7280"/>
                </a:solidFill>
              </a:rPr>
              <a:t>批准 0.5–1.5M USD 的示范预算并确定目标场景。</a:t>
            </a:r>
          </a:p>
        </p:txBody>
      </p:sp>
      <p:sp>
        <p:nvSpPr>
          <p:cNvPr id="8" name="Rounded Rectangle 7"/>
          <p:cNvSpPr/>
          <p:nvPr/>
        </p:nvSpPr>
        <p:spPr>
          <a:xfrm>
            <a:off x="762000" y="1453896"/>
            <a:ext cx="4311523" cy="594360"/>
          </a:xfrm>
          <a:prstGeom prst="round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1728" y="1527048"/>
            <a:ext cx="4092067" cy="256032"/>
          </a:xfrm>
          <a:prstGeom prst="rect">
            <a:avLst/>
          </a:prstGeom>
          <a:noFill/>
        </p:spPr>
        <p:txBody>
          <a:bodyPr wrap="none">
            <a:spAutoFit/>
          </a:bodyPr>
          <a:lstStyle/>
          <a:p>
            <a:r>
              <a:rPr sz="1600" b="1">
                <a:solidFill>
                  <a:srgbClr val="0F172A"/>
                </a:solidFill>
                <a:latin typeface="Georgia"/>
              </a:rPr>
              <a:t>批准材料验证与中试计划</a:t>
            </a:r>
          </a:p>
        </p:txBody>
      </p:sp>
      <p:sp>
        <p:nvSpPr>
          <p:cNvPr id="10" name="TextBox 9"/>
          <p:cNvSpPr txBox="1"/>
          <p:nvPr/>
        </p:nvSpPr>
        <p:spPr>
          <a:xfrm>
            <a:off x="871728" y="1783080"/>
            <a:ext cx="4092067" cy="192024"/>
          </a:xfrm>
          <a:prstGeom prst="rect">
            <a:avLst/>
          </a:prstGeom>
          <a:noFill/>
        </p:spPr>
        <p:txBody>
          <a:bodyPr wrap="none">
            <a:spAutoFit/>
          </a:bodyPr>
          <a:lstStyle/>
          <a:p>
            <a:r>
              <a:rPr sz="1000">
                <a:solidFill>
                  <a:srgbClr val="6B7280"/>
                </a:solidFill>
              </a:rPr>
              <a:t>批准并行验证 2–3 种候选材料并启动中试。</a:t>
            </a:r>
          </a:p>
        </p:txBody>
      </p:sp>
      <p:sp>
        <p:nvSpPr>
          <p:cNvPr id="11" name="Rounded Rectangle 10"/>
          <p:cNvSpPr/>
          <p:nvPr/>
        </p:nvSpPr>
        <p:spPr>
          <a:xfrm>
            <a:off x="762000" y="2157984"/>
            <a:ext cx="4311523" cy="594360"/>
          </a:xfrm>
          <a:prstGeom prst="round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1728" y="2231136"/>
            <a:ext cx="4092067" cy="256032"/>
          </a:xfrm>
          <a:prstGeom prst="rect">
            <a:avLst/>
          </a:prstGeom>
          <a:noFill/>
        </p:spPr>
        <p:txBody>
          <a:bodyPr wrap="none">
            <a:spAutoFit/>
          </a:bodyPr>
          <a:lstStyle/>
          <a:p>
            <a:r>
              <a:rPr sz="1600" b="1">
                <a:solidFill>
                  <a:srgbClr val="0F172A"/>
                </a:solidFill>
                <a:latin typeface="Georgia"/>
              </a:rPr>
              <a:t>授权参与标准化与行业协作</a:t>
            </a:r>
          </a:p>
        </p:txBody>
      </p:sp>
      <p:sp>
        <p:nvSpPr>
          <p:cNvPr id="13" name="TextBox 12"/>
          <p:cNvSpPr txBox="1"/>
          <p:nvPr/>
        </p:nvSpPr>
        <p:spPr>
          <a:xfrm>
            <a:off x="871728" y="2487168"/>
            <a:ext cx="4092067" cy="192024"/>
          </a:xfrm>
          <a:prstGeom prst="rect">
            <a:avLst/>
          </a:prstGeom>
          <a:noFill/>
        </p:spPr>
        <p:txBody>
          <a:bodyPr wrap="none">
            <a:spAutoFit/>
          </a:bodyPr>
          <a:lstStyle/>
          <a:p>
            <a:r>
              <a:rPr sz="1000">
                <a:solidFill>
                  <a:srgbClr val="6B7280"/>
                </a:solidFill>
              </a:rPr>
              <a:t>指派代表并同意在标准委员会中提供示范数据支持。</a:t>
            </a:r>
          </a:p>
        </p:txBody>
      </p:sp>
      <p:sp>
        <p:nvSpPr>
          <p:cNvPr id="14" name="Rounded Rectangle 13"/>
          <p:cNvSpPr/>
          <p:nvPr/>
        </p:nvSpPr>
        <p:spPr>
          <a:xfrm>
            <a:off x="5302123" y="749808"/>
            <a:ext cx="6127572" cy="594360"/>
          </a:xfrm>
          <a:prstGeom prst="round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11851" y="822960"/>
            <a:ext cx="5908116" cy="256032"/>
          </a:xfrm>
          <a:prstGeom prst="rect">
            <a:avLst/>
          </a:prstGeom>
          <a:noFill/>
        </p:spPr>
        <p:txBody>
          <a:bodyPr wrap="none">
            <a:spAutoFit/>
          </a:bodyPr>
          <a:lstStyle/>
          <a:p>
            <a:r>
              <a:rPr sz="1600" b="1">
                <a:solidFill>
                  <a:srgbClr val="0F172A"/>
                </a:solidFill>
                <a:latin typeface="Georgia"/>
              </a:rPr>
              <a:t>批准示范场景与首轮预算</a:t>
            </a:r>
          </a:p>
        </p:txBody>
      </p:sp>
      <p:sp>
        <p:nvSpPr>
          <p:cNvPr id="16" name="TextBox 15"/>
          <p:cNvSpPr txBox="1"/>
          <p:nvPr/>
        </p:nvSpPr>
        <p:spPr>
          <a:xfrm>
            <a:off x="5411851" y="1078992"/>
            <a:ext cx="5908116" cy="192024"/>
          </a:xfrm>
          <a:prstGeom prst="rect">
            <a:avLst/>
          </a:prstGeom>
          <a:noFill/>
        </p:spPr>
        <p:txBody>
          <a:bodyPr wrap="none">
            <a:spAutoFit/>
          </a:bodyPr>
          <a:lstStyle/>
          <a:p>
            <a:r>
              <a:rPr sz="1000">
                <a:solidFill>
                  <a:srgbClr val="6B7280"/>
                </a:solidFill>
              </a:rPr>
              <a:t>批准 0.5–1.5M USD 的示范预算并确定目标场景。</a:t>
            </a:r>
          </a:p>
        </p:txBody>
      </p:sp>
      <p:sp>
        <p:nvSpPr>
          <p:cNvPr id="17" name="Rounded Rectangle 16"/>
          <p:cNvSpPr/>
          <p:nvPr/>
        </p:nvSpPr>
        <p:spPr>
          <a:xfrm>
            <a:off x="5302123" y="1453896"/>
            <a:ext cx="6127572" cy="594360"/>
          </a:xfrm>
          <a:prstGeom prst="round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11851" y="1527048"/>
            <a:ext cx="5908116" cy="256032"/>
          </a:xfrm>
          <a:prstGeom prst="rect">
            <a:avLst/>
          </a:prstGeom>
          <a:noFill/>
        </p:spPr>
        <p:txBody>
          <a:bodyPr wrap="none">
            <a:spAutoFit/>
          </a:bodyPr>
          <a:lstStyle/>
          <a:p>
            <a:r>
              <a:rPr sz="1600" b="1">
                <a:solidFill>
                  <a:srgbClr val="0F172A"/>
                </a:solidFill>
                <a:latin typeface="Georgia"/>
              </a:rPr>
              <a:t>批准材料验证与中试计划</a:t>
            </a:r>
          </a:p>
        </p:txBody>
      </p:sp>
      <p:sp>
        <p:nvSpPr>
          <p:cNvPr id="19" name="TextBox 18"/>
          <p:cNvSpPr txBox="1"/>
          <p:nvPr/>
        </p:nvSpPr>
        <p:spPr>
          <a:xfrm>
            <a:off x="5411851" y="1783080"/>
            <a:ext cx="5908116" cy="192024"/>
          </a:xfrm>
          <a:prstGeom prst="rect">
            <a:avLst/>
          </a:prstGeom>
          <a:noFill/>
        </p:spPr>
        <p:txBody>
          <a:bodyPr wrap="none">
            <a:spAutoFit/>
          </a:bodyPr>
          <a:lstStyle/>
          <a:p>
            <a:r>
              <a:rPr sz="1000">
                <a:solidFill>
                  <a:srgbClr val="6B7280"/>
                </a:solidFill>
              </a:rPr>
              <a:t>批准并行验证 2–3 种候选材料并启动中试。</a:t>
            </a:r>
          </a:p>
        </p:txBody>
      </p:sp>
      <p:sp>
        <p:nvSpPr>
          <p:cNvPr id="20" name="Rounded Rectangle 19"/>
          <p:cNvSpPr/>
          <p:nvPr/>
        </p:nvSpPr>
        <p:spPr>
          <a:xfrm>
            <a:off x="5302123" y="2157984"/>
            <a:ext cx="6127572" cy="594360"/>
          </a:xfrm>
          <a:prstGeom prst="round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11851" y="2231136"/>
            <a:ext cx="5908116" cy="256032"/>
          </a:xfrm>
          <a:prstGeom prst="rect">
            <a:avLst/>
          </a:prstGeom>
          <a:noFill/>
        </p:spPr>
        <p:txBody>
          <a:bodyPr wrap="none">
            <a:spAutoFit/>
          </a:bodyPr>
          <a:lstStyle/>
          <a:p>
            <a:r>
              <a:rPr sz="1600" b="1">
                <a:solidFill>
                  <a:srgbClr val="0F172A"/>
                </a:solidFill>
                <a:latin typeface="Georgia"/>
              </a:rPr>
              <a:t>授权参与标准化与行业协作</a:t>
            </a:r>
          </a:p>
        </p:txBody>
      </p:sp>
      <p:sp>
        <p:nvSpPr>
          <p:cNvPr id="22" name="TextBox 21"/>
          <p:cNvSpPr txBox="1"/>
          <p:nvPr/>
        </p:nvSpPr>
        <p:spPr>
          <a:xfrm>
            <a:off x="5411851" y="2487168"/>
            <a:ext cx="5908116" cy="192024"/>
          </a:xfrm>
          <a:prstGeom prst="rect">
            <a:avLst/>
          </a:prstGeom>
          <a:noFill/>
        </p:spPr>
        <p:txBody>
          <a:bodyPr wrap="none">
            <a:spAutoFit/>
          </a:bodyPr>
          <a:lstStyle/>
          <a:p>
            <a:r>
              <a:rPr sz="1000">
                <a:solidFill>
                  <a:srgbClr val="6B7280"/>
                </a:solidFill>
              </a:rPr>
              <a:t>指派代表并同意在标准委员会中提供示范数据支持。</a:t>
            </a:r>
          </a:p>
        </p:txBody>
      </p:sp>
      <p:sp>
        <p:nvSpPr>
          <p:cNvPr id="23" name="Rectangle 22"/>
          <p:cNvSpPr/>
          <p:nvPr/>
        </p:nvSpPr>
        <p:spPr>
          <a:xfrm>
            <a:off x="0" y="6629400"/>
            <a:ext cx="12191695" cy="2286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2000" y="6656832"/>
            <a:ext cx="2743200" cy="173736"/>
          </a:xfrm>
          <a:prstGeom prst="rect">
            <a:avLst/>
          </a:prstGeom>
          <a:noFill/>
        </p:spPr>
        <p:txBody>
          <a:bodyPr wrap="none" anchor="ctr">
            <a:spAutoFit/>
          </a:bodyPr>
          <a:lstStyle/>
          <a:p>
            <a:r>
              <a:rPr sz="1000" b="1">
                <a:solidFill>
                  <a:srgbClr val="003A70"/>
                </a:solidFill>
              </a:rPr>
              <a:t/>
            </a:r>
          </a:p>
        </p:txBody>
      </p:sp>
      <p:sp>
        <p:nvSpPr>
          <p:cNvPr id="25" name="Rectangle 24"/>
          <p:cNvSpPr/>
          <p:nvPr/>
        </p:nvSpPr>
        <p:spPr>
          <a:xfrm>
            <a:off x="4742535" y="6716268"/>
            <a:ext cx="420624" cy="54864"/>
          </a:xfrm>
          <a:prstGeom prst="rect">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1997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569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141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5713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0285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095" y="6656832"/>
            <a:ext cx="1371600" cy="173736"/>
          </a:xfrm>
          <a:prstGeom prst="rect">
            <a:avLst/>
          </a:prstGeom>
          <a:noFill/>
        </p:spPr>
        <p:txBody>
          <a:bodyPr wrap="none" anchor="ctr">
            <a:spAutoFit/>
          </a:bodyPr>
          <a:lstStyle/>
          <a:p>
            <a:pPr algn="r"/>
            <a:r>
              <a:rPr sz="1000">
                <a:solidFill>
                  <a:srgbClr val="6B7280"/>
                </a:solidFill>
              </a:rPr>
              <a:t>2 /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4F6"/>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91440"/>
            <a:ext cx="9753295" cy="365760"/>
          </a:xfrm>
          <a:prstGeom prst="rect">
            <a:avLst/>
          </a:prstGeom>
          <a:noFill/>
        </p:spPr>
        <p:txBody>
          <a:bodyPr wrap="square">
            <a:spAutoFit/>
          </a:bodyPr>
          <a:lstStyle/>
          <a:p>
            <a:r>
              <a:rPr sz="2200" b="1">
                <a:solidFill>
                  <a:srgbClr val="FFFFFF"/>
                </a:solidFill>
                <a:latin typeface="Georgia"/>
              </a:rPr>
              <a:t>3 条关键结论（结论先行）</a:t>
            </a:r>
          </a:p>
        </p:txBody>
      </p:sp>
      <p:sp>
        <p:nvSpPr>
          <p:cNvPr id="4" name="TextBox 3"/>
          <p:cNvSpPr txBox="1"/>
          <p:nvPr/>
        </p:nvSpPr>
        <p:spPr>
          <a:xfrm>
            <a:off x="11277295" y="91440"/>
            <a:ext cx="640080" cy="320040"/>
          </a:xfrm>
          <a:prstGeom prst="rect">
            <a:avLst/>
          </a:prstGeom>
          <a:noFill/>
        </p:spPr>
        <p:txBody>
          <a:bodyPr wrap="none">
            <a:spAutoFit/>
          </a:bodyPr>
          <a:lstStyle/>
          <a:p>
            <a:pPr algn="r"/>
            <a:r>
              <a:rPr sz="1000" b="1">
                <a:solidFill>
                  <a:srgbClr val="FFFFFF"/>
                </a:solidFill>
                <a:latin typeface="Georgia"/>
              </a:rPr>
              <a:t>3</a:t>
            </a:r>
          </a:p>
        </p:txBody>
      </p:sp>
      <p:sp>
        <p:nvSpPr>
          <p:cNvPr id="5" name="TextBox 4"/>
          <p:cNvSpPr txBox="1"/>
          <p:nvPr/>
        </p:nvSpPr>
        <p:spPr>
          <a:xfrm>
            <a:off x="807720" y="3008376"/>
            <a:ext cx="5128107" cy="411480"/>
          </a:xfrm>
          <a:prstGeom prst="rect">
            <a:avLst/>
          </a:prstGeom>
          <a:noFill/>
        </p:spPr>
        <p:txBody>
          <a:bodyPr wrap="square">
            <a:spAutoFit/>
          </a:bodyPr>
          <a:lstStyle/>
          <a:p>
            <a:pPr>
              <a:lnSpc>
                <a:spcPct val="150000"/>
              </a:lnSpc>
            </a:pPr>
            <a:r>
              <a:rPr sz="1400">
                <a:solidFill>
                  <a:srgbClr val="0F172A"/>
                </a:solidFill>
              </a:rPr>
              <a:t>• MFT 是实现高功率密度的关键路径（50–200 kHz）</a:t>
            </a:r>
          </a:p>
        </p:txBody>
      </p:sp>
      <p:sp>
        <p:nvSpPr>
          <p:cNvPr id="6" name="TextBox 5"/>
          <p:cNvSpPr txBox="1"/>
          <p:nvPr/>
        </p:nvSpPr>
        <p:spPr>
          <a:xfrm>
            <a:off x="807720" y="3447288"/>
            <a:ext cx="5128107" cy="411480"/>
          </a:xfrm>
          <a:prstGeom prst="rect">
            <a:avLst/>
          </a:prstGeom>
          <a:noFill/>
        </p:spPr>
        <p:txBody>
          <a:bodyPr wrap="square">
            <a:spAutoFit/>
          </a:bodyPr>
          <a:lstStyle/>
          <a:p>
            <a:pPr>
              <a:lnSpc>
                <a:spcPct val="150000"/>
              </a:lnSpc>
            </a:pPr>
            <a:r>
              <a:rPr sz="1400">
                <a:solidFill>
                  <a:srgbClr val="0F172A"/>
                </a:solidFill>
              </a:rPr>
              <a:t>• 优先示范→数据验证→规模化推广</a:t>
            </a:r>
          </a:p>
        </p:txBody>
      </p:sp>
      <p:sp>
        <p:nvSpPr>
          <p:cNvPr id="7" name="TextBox 6"/>
          <p:cNvSpPr txBox="1"/>
          <p:nvPr/>
        </p:nvSpPr>
        <p:spPr>
          <a:xfrm>
            <a:off x="807720" y="3886200"/>
            <a:ext cx="5128107" cy="411480"/>
          </a:xfrm>
          <a:prstGeom prst="rect">
            <a:avLst/>
          </a:prstGeom>
          <a:noFill/>
        </p:spPr>
        <p:txBody>
          <a:bodyPr wrap="square">
            <a:spAutoFit/>
          </a:bodyPr>
          <a:lstStyle/>
          <a:p>
            <a:pPr>
              <a:lnSpc>
                <a:spcPct val="150000"/>
              </a:lnSpc>
            </a:pPr>
            <a:r>
              <a:rPr sz="1400">
                <a:solidFill>
                  <a:srgbClr val="0F172A"/>
                </a:solidFill>
              </a:rPr>
              <a:t>• 材料、热与监测为首要工程任务</a:t>
            </a:r>
          </a:p>
        </p:txBody>
      </p:sp>
      <p:sp>
        <p:nvSpPr>
          <p:cNvPr id="8" name="TextBox 7"/>
          <p:cNvSpPr txBox="1"/>
          <p:nvPr/>
        </p:nvSpPr>
        <p:spPr>
          <a:xfrm>
            <a:off x="6210147" y="704088"/>
            <a:ext cx="1739849" cy="1097280"/>
          </a:xfrm>
          <a:prstGeom prst="rect">
            <a:avLst/>
          </a:prstGeom>
          <a:noFill/>
        </p:spPr>
        <p:txBody>
          <a:bodyPr wrap="square" anchor="ctr">
            <a:spAutoFit/>
          </a:bodyPr>
          <a:lstStyle/>
          <a:p>
            <a:r>
              <a:rPr sz="1200" b="1">
                <a:solidFill>
                  <a:srgbClr val="0F172A"/>
                </a:solidFill>
              </a:rPr>
              <a:t>示范验证</a:t>
            </a:r>
          </a:p>
        </p:txBody>
      </p:sp>
      <p:sp>
        <p:nvSpPr>
          <p:cNvPr id="9" name="TextBox 8"/>
          <p:cNvSpPr txBox="1"/>
          <p:nvPr/>
        </p:nvSpPr>
        <p:spPr>
          <a:xfrm>
            <a:off x="7949996" y="704088"/>
            <a:ext cx="1739849" cy="1097280"/>
          </a:xfrm>
          <a:prstGeom prst="rect">
            <a:avLst/>
          </a:prstGeom>
          <a:noFill/>
        </p:spPr>
        <p:txBody>
          <a:bodyPr wrap="square" anchor="ctr">
            <a:spAutoFit/>
          </a:bodyPr>
          <a:lstStyle/>
          <a:p>
            <a:r>
              <a:rPr sz="1200" b="1">
                <a:solidFill>
                  <a:srgbClr val="0F172A"/>
                </a:solidFill>
              </a:rPr>
              <a:t>材料研发</a:t>
            </a:r>
          </a:p>
        </p:txBody>
      </p:sp>
      <p:sp>
        <p:nvSpPr>
          <p:cNvPr id="10" name="TextBox 9"/>
          <p:cNvSpPr txBox="1"/>
          <p:nvPr/>
        </p:nvSpPr>
        <p:spPr>
          <a:xfrm>
            <a:off x="9689846" y="704088"/>
            <a:ext cx="1739849" cy="1097280"/>
          </a:xfrm>
          <a:prstGeom prst="rect">
            <a:avLst/>
          </a:prstGeom>
          <a:noFill/>
        </p:spPr>
        <p:txBody>
          <a:bodyPr wrap="square" anchor="ctr">
            <a:spAutoFit/>
          </a:bodyPr>
          <a:lstStyle/>
          <a:p>
            <a:r>
              <a:rPr sz="1200" b="1">
                <a:solidFill>
                  <a:srgbClr val="0F172A"/>
                </a:solidFill>
              </a:rPr>
              <a:t>标准化参与</a:t>
            </a:r>
          </a:p>
        </p:txBody>
      </p:sp>
      <p:sp>
        <p:nvSpPr>
          <p:cNvPr id="11" name="Rectangle 10"/>
          <p:cNvSpPr/>
          <p:nvPr/>
        </p:nvSpPr>
        <p:spPr>
          <a:xfrm>
            <a:off x="6210147" y="1783080"/>
            <a:ext cx="5219547" cy="25400"/>
          </a:xfrm>
          <a:prstGeom prst="rect">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0147" y="1801368"/>
            <a:ext cx="1739849" cy="1097280"/>
          </a:xfrm>
          <a:prstGeom prst="rect">
            <a:avLst/>
          </a:prstGeom>
          <a:noFill/>
        </p:spPr>
        <p:txBody>
          <a:bodyPr wrap="square" anchor="ctr">
            <a:spAutoFit/>
          </a:bodyPr>
          <a:lstStyle/>
          <a:p>
            <a:pPr algn="r"/>
            <a:r>
              <a:rPr sz="1100">
                <a:solidFill>
                  <a:srgbClr val="0F172A"/>
                </a:solidFill>
              </a:rPr>
              <a:t>95</a:t>
            </a:r>
          </a:p>
        </p:txBody>
      </p:sp>
      <p:sp>
        <p:nvSpPr>
          <p:cNvPr id="13" name="TextBox 12"/>
          <p:cNvSpPr txBox="1"/>
          <p:nvPr/>
        </p:nvSpPr>
        <p:spPr>
          <a:xfrm>
            <a:off x="7949996" y="1801368"/>
            <a:ext cx="1739849" cy="1097280"/>
          </a:xfrm>
          <a:prstGeom prst="rect">
            <a:avLst/>
          </a:prstGeom>
          <a:noFill/>
        </p:spPr>
        <p:txBody>
          <a:bodyPr wrap="square" anchor="ctr">
            <a:spAutoFit/>
          </a:bodyPr>
          <a:lstStyle/>
          <a:p>
            <a:pPr algn="r"/>
            <a:r>
              <a:rPr sz="1100">
                <a:solidFill>
                  <a:srgbClr val="0F172A"/>
                </a:solidFill>
              </a:rPr>
              <a:t>85</a:t>
            </a:r>
          </a:p>
        </p:txBody>
      </p:sp>
      <p:sp>
        <p:nvSpPr>
          <p:cNvPr id="14" name="TextBox 13"/>
          <p:cNvSpPr txBox="1"/>
          <p:nvPr/>
        </p:nvSpPr>
        <p:spPr>
          <a:xfrm>
            <a:off x="9689846" y="1801368"/>
            <a:ext cx="1739849" cy="1097280"/>
          </a:xfrm>
          <a:prstGeom prst="rect">
            <a:avLst/>
          </a:prstGeom>
          <a:noFill/>
        </p:spPr>
        <p:txBody>
          <a:bodyPr wrap="square" anchor="ctr">
            <a:spAutoFit/>
          </a:bodyPr>
          <a:lstStyle/>
          <a:p>
            <a:pPr algn="r"/>
            <a:r>
              <a:rPr sz="1100">
                <a:solidFill>
                  <a:srgbClr val="0F172A"/>
                </a:solidFill>
              </a:rPr>
              <a:t>70</a:t>
            </a:r>
          </a:p>
        </p:txBody>
      </p:sp>
      <p:sp>
        <p:nvSpPr>
          <p:cNvPr id="15" name="Rectangle 14"/>
          <p:cNvSpPr/>
          <p:nvPr/>
        </p:nvSpPr>
        <p:spPr>
          <a:xfrm>
            <a:off x="6210147" y="2898648"/>
            <a:ext cx="5219547" cy="109728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0147" y="2898648"/>
            <a:ext cx="1739849" cy="1097280"/>
          </a:xfrm>
          <a:prstGeom prst="rect">
            <a:avLst/>
          </a:prstGeom>
          <a:noFill/>
        </p:spPr>
        <p:txBody>
          <a:bodyPr wrap="square" anchor="ctr">
            <a:spAutoFit/>
          </a:bodyPr>
          <a:lstStyle/>
          <a:p>
            <a:pPr algn="r"/>
            <a:r>
              <a:rPr sz="1100">
                <a:solidFill>
                  <a:srgbClr val="0F172A"/>
                </a:solidFill>
              </a:rPr>
              <a:t>80</a:t>
            </a:r>
          </a:p>
        </p:txBody>
      </p:sp>
      <p:sp>
        <p:nvSpPr>
          <p:cNvPr id="17" name="TextBox 16"/>
          <p:cNvSpPr txBox="1"/>
          <p:nvPr/>
        </p:nvSpPr>
        <p:spPr>
          <a:xfrm>
            <a:off x="7949996" y="2898648"/>
            <a:ext cx="1739849" cy="1097280"/>
          </a:xfrm>
          <a:prstGeom prst="rect">
            <a:avLst/>
          </a:prstGeom>
          <a:noFill/>
        </p:spPr>
        <p:txBody>
          <a:bodyPr wrap="square" anchor="ctr">
            <a:spAutoFit/>
          </a:bodyPr>
          <a:lstStyle/>
          <a:p>
            <a:pPr algn="r"/>
            <a:r>
              <a:rPr sz="1100">
                <a:solidFill>
                  <a:srgbClr val="0F172A"/>
                </a:solidFill>
              </a:rPr>
              <a:t>75</a:t>
            </a:r>
          </a:p>
        </p:txBody>
      </p:sp>
      <p:sp>
        <p:nvSpPr>
          <p:cNvPr id="18" name="TextBox 17"/>
          <p:cNvSpPr txBox="1"/>
          <p:nvPr/>
        </p:nvSpPr>
        <p:spPr>
          <a:xfrm>
            <a:off x="9689846" y="2898648"/>
            <a:ext cx="1739849" cy="1097280"/>
          </a:xfrm>
          <a:prstGeom prst="rect">
            <a:avLst/>
          </a:prstGeom>
          <a:noFill/>
        </p:spPr>
        <p:txBody>
          <a:bodyPr wrap="square" anchor="ctr">
            <a:spAutoFit/>
          </a:bodyPr>
          <a:lstStyle/>
          <a:p>
            <a:pPr algn="r"/>
            <a:r>
              <a:rPr sz="1100">
                <a:solidFill>
                  <a:srgbClr val="0F172A"/>
                </a:solidFill>
              </a:rPr>
              <a:t>50</a:t>
            </a:r>
          </a:p>
        </p:txBody>
      </p:sp>
      <p:sp>
        <p:nvSpPr>
          <p:cNvPr id="19" name="Rectangle 18"/>
          <p:cNvSpPr/>
          <p:nvPr/>
        </p:nvSpPr>
        <p:spPr>
          <a:xfrm>
            <a:off x="0" y="6629400"/>
            <a:ext cx="12191695" cy="2286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000" y="6656832"/>
            <a:ext cx="2743200" cy="173736"/>
          </a:xfrm>
          <a:prstGeom prst="rect">
            <a:avLst/>
          </a:prstGeom>
          <a:noFill/>
        </p:spPr>
        <p:txBody>
          <a:bodyPr wrap="none" anchor="ctr">
            <a:spAutoFit/>
          </a:bodyPr>
          <a:lstStyle/>
          <a:p>
            <a:r>
              <a:rPr sz="1000" b="1">
                <a:solidFill>
                  <a:srgbClr val="003A70"/>
                </a:solidFill>
              </a:rPr>
              <a:t/>
            </a:r>
          </a:p>
        </p:txBody>
      </p:sp>
      <p:sp>
        <p:nvSpPr>
          <p:cNvPr id="21" name="Rectangle 20"/>
          <p:cNvSpPr/>
          <p:nvPr/>
        </p:nvSpPr>
        <p:spPr>
          <a:xfrm>
            <a:off x="4742535" y="6716268"/>
            <a:ext cx="420624" cy="54864"/>
          </a:xfrm>
          <a:prstGeom prst="rect">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997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569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141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713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0285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095" y="6656832"/>
            <a:ext cx="1371600" cy="173736"/>
          </a:xfrm>
          <a:prstGeom prst="rect">
            <a:avLst/>
          </a:prstGeom>
          <a:noFill/>
        </p:spPr>
        <p:txBody>
          <a:bodyPr wrap="none" anchor="ctr">
            <a:spAutoFit/>
          </a:bodyPr>
          <a:lstStyle/>
          <a:p>
            <a:pPr algn="r"/>
            <a:r>
              <a:rPr sz="1000">
                <a:solidFill>
                  <a:srgbClr val="6B7280"/>
                </a:solidFill>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3A70"/>
        </a:solidFill>
        <a:effectLst/>
      </p:bgPr>
    </p:bg>
    <p:spTree>
      <p:nvGrpSpPr>
        <p:cNvPr id="1" name=""/>
        <p:cNvGrpSpPr/>
        <p:nvPr/>
      </p:nvGrpSpPr>
      <p:grpSpPr/>
      <p:sp>
        <p:nvSpPr>
          <p:cNvPr id="2" name="TextBox 1"/>
          <p:cNvSpPr txBox="1"/>
          <p:nvPr/>
        </p:nvSpPr>
        <p:spPr>
          <a:xfrm>
            <a:off x="1676400" y="2194560"/>
            <a:ext cx="8838895" cy="914400"/>
          </a:xfrm>
          <a:prstGeom prst="rect">
            <a:avLst/>
          </a:prstGeom>
          <a:noFill/>
        </p:spPr>
        <p:txBody>
          <a:bodyPr wrap="square">
            <a:spAutoFit/>
          </a:bodyPr>
          <a:lstStyle/>
          <a:p>
            <a:pPr algn="ctr"/>
            <a:r>
              <a:rPr sz="2800" b="1">
                <a:solidFill>
                  <a:srgbClr val="FFFFFF"/>
                </a:solidFill>
                <a:latin typeface="Georgia"/>
              </a:rPr>
              <a:t>市场与战略（节）</a:t>
            </a:r>
          </a:p>
        </p:txBody>
      </p:sp>
      <p:sp>
        <p:nvSpPr>
          <p:cNvPr id="3" name="TextBox 2"/>
          <p:cNvSpPr txBox="1"/>
          <p:nvPr/>
        </p:nvSpPr>
        <p:spPr>
          <a:xfrm>
            <a:off x="2133600" y="3429000"/>
            <a:ext cx="7924495" cy="457200"/>
          </a:xfrm>
          <a:prstGeom prst="rect">
            <a:avLst/>
          </a:prstGeom>
          <a:noFill/>
        </p:spPr>
        <p:txBody>
          <a:bodyPr wrap="square">
            <a:spAutoFit/>
          </a:bodyPr>
          <a:lstStyle/>
          <a:p>
            <a:pPr algn="ctr"/>
            <a:r>
              <a:rPr sz="1600">
                <a:solidFill>
                  <a:srgbClr val="FFFFFF"/>
                </a:solidFill>
              </a:rPr>
              <a:t>本节覆盖：市场细分、竞争格局与战略优先级矩阵。</a:t>
            </a:r>
          </a:p>
        </p:txBody>
      </p:sp>
      <p:sp>
        <p:nvSpPr>
          <p:cNvPr id="4" name="Rectangle 3"/>
          <p:cNvSpPr/>
          <p:nvPr/>
        </p:nvSpPr>
        <p:spPr>
          <a:xfrm>
            <a:off x="4751679" y="4937759"/>
            <a:ext cx="402336" cy="731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208879" y="4937759"/>
            <a:ext cx="402336" cy="7315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6079" y="4937759"/>
            <a:ext cx="402336" cy="7315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123279" y="4937759"/>
            <a:ext cx="402336" cy="7315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0479" y="4937759"/>
            <a:ext cx="402336" cy="7315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037679" y="4937759"/>
            <a:ext cx="402336" cy="7315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08584"/>
          </a:xfrm>
          <a:prstGeom prst="rect">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54864"/>
            <a:ext cx="3657600" cy="201168"/>
          </a:xfrm>
          <a:prstGeom prst="rect">
            <a:avLst/>
          </a:prstGeom>
          <a:noFill/>
        </p:spPr>
        <p:txBody>
          <a:bodyPr wrap="none">
            <a:spAutoFit/>
          </a:bodyPr>
          <a:lstStyle/>
          <a:p>
            <a:r>
              <a:rPr sz="1000" b="1">
                <a:solidFill>
                  <a:srgbClr val="FFFFFF"/>
                </a:solidFill>
                <a:latin typeface="Georgia"/>
              </a:rPr>
              <a:t>Section A · 市场与战略</a:t>
            </a:r>
          </a:p>
        </p:txBody>
      </p:sp>
      <p:sp>
        <p:nvSpPr>
          <p:cNvPr id="4" name="TextBox 3"/>
          <p:cNvSpPr txBox="1"/>
          <p:nvPr/>
        </p:nvSpPr>
        <p:spPr>
          <a:xfrm>
            <a:off x="762000" y="201168"/>
            <a:ext cx="9753295" cy="361696"/>
          </a:xfrm>
          <a:prstGeom prst="rect">
            <a:avLst/>
          </a:prstGeom>
          <a:noFill/>
        </p:spPr>
        <p:txBody>
          <a:bodyPr wrap="square">
            <a:spAutoFit/>
          </a:bodyPr>
          <a:lstStyle/>
          <a:p>
            <a:r>
              <a:rPr sz="2200" b="1">
                <a:solidFill>
                  <a:srgbClr val="FFFFFF"/>
                </a:solidFill>
                <a:latin typeface="Georgia"/>
              </a:rPr>
              <a:t>细分市场与规模估计</a:t>
            </a:r>
          </a:p>
        </p:txBody>
      </p:sp>
      <p:sp>
        <p:nvSpPr>
          <p:cNvPr id="5" name="TextBox 4"/>
          <p:cNvSpPr txBox="1"/>
          <p:nvPr/>
        </p:nvSpPr>
        <p:spPr>
          <a:xfrm>
            <a:off x="11277295" y="201168"/>
            <a:ext cx="640080" cy="320040"/>
          </a:xfrm>
          <a:prstGeom prst="rect">
            <a:avLst/>
          </a:prstGeom>
          <a:noFill/>
        </p:spPr>
        <p:txBody>
          <a:bodyPr wrap="none">
            <a:spAutoFit/>
          </a:bodyPr>
          <a:lstStyle/>
          <a:p>
            <a:pPr algn="r"/>
            <a:r>
              <a:rPr sz="1000" b="1">
                <a:solidFill>
                  <a:srgbClr val="FFFFFF"/>
                </a:solidFill>
                <a:latin typeface="Georgia"/>
              </a:rPr>
              <a:t>5</a:t>
            </a:r>
          </a:p>
        </p:txBody>
      </p:sp>
      <p:sp>
        <p:nvSpPr>
          <p:cNvPr id="6" name="Rounded Rectangle 5"/>
          <p:cNvSpPr/>
          <p:nvPr/>
        </p:nvSpPr>
        <p:spPr>
          <a:xfrm>
            <a:off x="762000" y="855472"/>
            <a:ext cx="1429023" cy="5545327"/>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1728" y="946912"/>
            <a:ext cx="1209567" cy="320040"/>
          </a:xfrm>
          <a:prstGeom prst="rect">
            <a:avLst/>
          </a:prstGeom>
          <a:noFill/>
        </p:spPr>
        <p:txBody>
          <a:bodyPr wrap="none">
            <a:spAutoFit/>
          </a:bodyPr>
          <a:lstStyle/>
          <a:p>
            <a:r>
              <a:rPr sz="1600" b="1">
                <a:solidFill>
                  <a:srgbClr val="0F172A"/>
                </a:solidFill>
                <a:latin typeface="Georgia"/>
              </a:rPr>
              <a:t>EV 快充</a:t>
            </a:r>
          </a:p>
        </p:txBody>
      </p:sp>
      <p:sp>
        <p:nvSpPr>
          <p:cNvPr id="8" name="Rectangle 7"/>
          <p:cNvSpPr/>
          <p:nvPr/>
        </p:nvSpPr>
        <p:spPr>
          <a:xfrm>
            <a:off x="871728" y="1294384"/>
            <a:ext cx="1209567" cy="18288"/>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1728" y="1358392"/>
            <a:ext cx="1209567" cy="4950967"/>
          </a:xfrm>
          <a:prstGeom prst="rect">
            <a:avLst/>
          </a:prstGeom>
          <a:noFill/>
        </p:spPr>
        <p:txBody>
          <a:bodyPr wrap="square">
            <a:spAutoFit/>
          </a:bodyPr>
          <a:lstStyle/>
          <a:p>
            <a:pPr>
              <a:lnSpc>
                <a:spcPct val="150000"/>
              </a:lnSpc>
            </a:pPr>
            <a:r>
              <a:rPr sz="1600">
                <a:solidFill>
                  <a:srgbClr val="0F172A"/>
                </a:solidFill>
              </a:rPr>
              <a:t>市场规模: $120–180M
不确定性: 高
需验证假设: 示范以校准规模</a:t>
            </a:r>
          </a:p>
        </p:txBody>
      </p:sp>
      <p:sp>
        <p:nvSpPr>
          <p:cNvPr id="10" name="Rounded Rectangle 9"/>
          <p:cNvSpPr/>
          <p:nvPr/>
        </p:nvSpPr>
        <p:spPr>
          <a:xfrm>
            <a:off x="2328183" y="855472"/>
            <a:ext cx="1429023" cy="5545327"/>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37911" y="946912"/>
            <a:ext cx="1209567" cy="320040"/>
          </a:xfrm>
          <a:prstGeom prst="rect">
            <a:avLst/>
          </a:prstGeom>
          <a:noFill/>
        </p:spPr>
        <p:txBody>
          <a:bodyPr wrap="none">
            <a:spAutoFit/>
          </a:bodyPr>
          <a:lstStyle/>
          <a:p>
            <a:r>
              <a:rPr sz="1600" b="1">
                <a:solidFill>
                  <a:srgbClr val="0F172A"/>
                </a:solidFill>
                <a:latin typeface="Georgia"/>
              </a:rPr>
              <a:t>SST</a:t>
            </a:r>
          </a:p>
        </p:txBody>
      </p:sp>
      <p:sp>
        <p:nvSpPr>
          <p:cNvPr id="12" name="Rectangle 11"/>
          <p:cNvSpPr/>
          <p:nvPr/>
        </p:nvSpPr>
        <p:spPr>
          <a:xfrm>
            <a:off x="2437911" y="1294384"/>
            <a:ext cx="1209567" cy="18288"/>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37911" y="1358392"/>
            <a:ext cx="1209567" cy="4950967"/>
          </a:xfrm>
          <a:prstGeom prst="rect">
            <a:avLst/>
          </a:prstGeom>
          <a:noFill/>
        </p:spPr>
        <p:txBody>
          <a:bodyPr wrap="square">
            <a:spAutoFit/>
          </a:bodyPr>
          <a:lstStyle/>
          <a:p>
            <a:pPr>
              <a:lnSpc>
                <a:spcPct val="150000"/>
              </a:lnSpc>
            </a:pPr>
            <a:r>
              <a:rPr sz="1600">
                <a:solidFill>
                  <a:srgbClr val="0F172A"/>
                </a:solidFill>
              </a:rPr>
              <a:t>市场规模: $80–120M
不确定性: 中
需验证假设: 系统集成测试</a:t>
            </a:r>
          </a:p>
        </p:txBody>
      </p:sp>
      <p:sp>
        <p:nvSpPr>
          <p:cNvPr id="14" name="Rounded Rectangle 13"/>
          <p:cNvSpPr/>
          <p:nvPr/>
        </p:nvSpPr>
        <p:spPr>
          <a:xfrm>
            <a:off x="3894366" y="855472"/>
            <a:ext cx="1429023" cy="5545327"/>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04094" y="946912"/>
            <a:ext cx="1209567" cy="320040"/>
          </a:xfrm>
          <a:prstGeom prst="rect">
            <a:avLst/>
          </a:prstGeom>
          <a:noFill/>
        </p:spPr>
        <p:txBody>
          <a:bodyPr wrap="none">
            <a:spAutoFit/>
          </a:bodyPr>
          <a:lstStyle/>
          <a:p>
            <a:r>
              <a:rPr sz="1600" b="1">
                <a:solidFill>
                  <a:srgbClr val="0F172A"/>
                </a:solidFill>
                <a:latin typeface="Georgia"/>
              </a:rPr>
              <a:t>数据中心</a:t>
            </a:r>
          </a:p>
        </p:txBody>
      </p:sp>
      <p:sp>
        <p:nvSpPr>
          <p:cNvPr id="16" name="Rectangle 15"/>
          <p:cNvSpPr/>
          <p:nvPr/>
        </p:nvSpPr>
        <p:spPr>
          <a:xfrm>
            <a:off x="4004094" y="1294384"/>
            <a:ext cx="1209567" cy="18288"/>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04094" y="1358392"/>
            <a:ext cx="1209567" cy="4950967"/>
          </a:xfrm>
          <a:prstGeom prst="rect">
            <a:avLst/>
          </a:prstGeom>
          <a:noFill/>
        </p:spPr>
        <p:txBody>
          <a:bodyPr wrap="square">
            <a:spAutoFit/>
          </a:bodyPr>
          <a:lstStyle/>
          <a:p>
            <a:pPr>
              <a:lnSpc>
                <a:spcPct val="150000"/>
              </a:lnSpc>
            </a:pPr>
            <a:r>
              <a:rPr sz="1600">
                <a:solidFill>
                  <a:srgbClr val="0F172A"/>
                </a:solidFill>
              </a:rPr>
              <a:t>市场规模: $60–90M
不确定性: 中-高
需验证假设: 延迟与冷却需求</a:t>
            </a:r>
          </a:p>
        </p:txBody>
      </p:sp>
      <p:sp>
        <p:nvSpPr>
          <p:cNvPr id="18" name="Rounded Rectangle 17"/>
          <p:cNvSpPr/>
          <p:nvPr/>
        </p:nvSpPr>
        <p:spPr>
          <a:xfrm>
            <a:off x="5460549" y="855472"/>
            <a:ext cx="1429023" cy="5545327"/>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70277" y="946912"/>
            <a:ext cx="1209567" cy="320040"/>
          </a:xfrm>
          <a:prstGeom prst="rect">
            <a:avLst/>
          </a:prstGeom>
          <a:noFill/>
        </p:spPr>
        <p:txBody>
          <a:bodyPr wrap="none">
            <a:spAutoFit/>
          </a:bodyPr>
          <a:lstStyle/>
          <a:p>
            <a:r>
              <a:rPr sz="1600" b="1">
                <a:solidFill>
                  <a:srgbClr val="0F172A"/>
                </a:solidFill>
                <a:latin typeface="Georgia"/>
              </a:rPr>
              <a:t>轨道牵引</a:t>
            </a:r>
          </a:p>
        </p:txBody>
      </p:sp>
      <p:sp>
        <p:nvSpPr>
          <p:cNvPr id="20" name="Rectangle 19"/>
          <p:cNvSpPr/>
          <p:nvPr/>
        </p:nvSpPr>
        <p:spPr>
          <a:xfrm>
            <a:off x="5570277" y="1294384"/>
            <a:ext cx="1209567" cy="18288"/>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70277" y="1358392"/>
            <a:ext cx="1209567" cy="4950967"/>
          </a:xfrm>
          <a:prstGeom prst="rect">
            <a:avLst/>
          </a:prstGeom>
          <a:noFill/>
        </p:spPr>
        <p:txBody>
          <a:bodyPr wrap="square">
            <a:spAutoFit/>
          </a:bodyPr>
          <a:lstStyle/>
          <a:p>
            <a:pPr>
              <a:lnSpc>
                <a:spcPct val="150000"/>
              </a:lnSpc>
            </a:pPr>
            <a:r>
              <a:rPr sz="1600">
                <a:solidFill>
                  <a:srgbClr val="0F172A"/>
                </a:solidFill>
              </a:rPr>
              <a:t>市场规模: $40–70M
不确定性: 高
需验证假设: 认证与耐久性</a:t>
            </a:r>
          </a:p>
        </p:txBody>
      </p:sp>
      <p:sp>
        <p:nvSpPr>
          <p:cNvPr id="22" name="TextBox 21"/>
          <p:cNvSpPr txBox="1"/>
          <p:nvPr/>
        </p:nvSpPr>
        <p:spPr>
          <a:xfrm>
            <a:off x="7118172" y="855472"/>
            <a:ext cx="1077880" cy="1097280"/>
          </a:xfrm>
          <a:prstGeom prst="rect">
            <a:avLst/>
          </a:prstGeom>
          <a:noFill/>
        </p:spPr>
        <p:txBody>
          <a:bodyPr wrap="square" anchor="ctr">
            <a:spAutoFit/>
          </a:bodyPr>
          <a:lstStyle/>
          <a:p>
            <a:r>
              <a:rPr sz="1200" b="1">
                <a:solidFill>
                  <a:srgbClr val="0F172A"/>
                </a:solidFill>
              </a:rPr>
              <a:t>EV 快充</a:t>
            </a:r>
          </a:p>
        </p:txBody>
      </p:sp>
      <p:sp>
        <p:nvSpPr>
          <p:cNvPr id="23" name="TextBox 22"/>
          <p:cNvSpPr txBox="1"/>
          <p:nvPr/>
        </p:nvSpPr>
        <p:spPr>
          <a:xfrm>
            <a:off x="8196052" y="855472"/>
            <a:ext cx="1077880" cy="1097280"/>
          </a:xfrm>
          <a:prstGeom prst="rect">
            <a:avLst/>
          </a:prstGeom>
          <a:noFill/>
        </p:spPr>
        <p:txBody>
          <a:bodyPr wrap="square" anchor="ctr">
            <a:spAutoFit/>
          </a:bodyPr>
          <a:lstStyle/>
          <a:p>
            <a:r>
              <a:rPr sz="1200" b="1">
                <a:solidFill>
                  <a:srgbClr val="0F172A"/>
                </a:solidFill>
              </a:rPr>
              <a:t>SST</a:t>
            </a:r>
          </a:p>
        </p:txBody>
      </p:sp>
      <p:sp>
        <p:nvSpPr>
          <p:cNvPr id="24" name="TextBox 23"/>
          <p:cNvSpPr txBox="1"/>
          <p:nvPr/>
        </p:nvSpPr>
        <p:spPr>
          <a:xfrm>
            <a:off x="9273933" y="855472"/>
            <a:ext cx="1077880" cy="1097280"/>
          </a:xfrm>
          <a:prstGeom prst="rect">
            <a:avLst/>
          </a:prstGeom>
          <a:noFill/>
        </p:spPr>
        <p:txBody>
          <a:bodyPr wrap="square" anchor="ctr">
            <a:spAutoFit/>
          </a:bodyPr>
          <a:lstStyle/>
          <a:p>
            <a:r>
              <a:rPr sz="1200" b="1">
                <a:solidFill>
                  <a:srgbClr val="0F172A"/>
                </a:solidFill>
              </a:rPr>
              <a:t>数据中心</a:t>
            </a:r>
          </a:p>
        </p:txBody>
      </p:sp>
      <p:sp>
        <p:nvSpPr>
          <p:cNvPr id="25" name="TextBox 24"/>
          <p:cNvSpPr txBox="1"/>
          <p:nvPr/>
        </p:nvSpPr>
        <p:spPr>
          <a:xfrm>
            <a:off x="10351814" y="855472"/>
            <a:ext cx="1077880" cy="1097280"/>
          </a:xfrm>
          <a:prstGeom prst="rect">
            <a:avLst/>
          </a:prstGeom>
          <a:noFill/>
        </p:spPr>
        <p:txBody>
          <a:bodyPr wrap="square" anchor="ctr">
            <a:spAutoFit/>
          </a:bodyPr>
          <a:lstStyle/>
          <a:p>
            <a:r>
              <a:rPr sz="1200" b="1">
                <a:solidFill>
                  <a:srgbClr val="0F172A"/>
                </a:solidFill>
              </a:rPr>
              <a:t>轨道牵引</a:t>
            </a:r>
          </a:p>
        </p:txBody>
      </p:sp>
      <p:sp>
        <p:nvSpPr>
          <p:cNvPr id="26" name="Rectangle 25"/>
          <p:cNvSpPr/>
          <p:nvPr/>
        </p:nvSpPr>
        <p:spPr>
          <a:xfrm>
            <a:off x="7118172" y="1934463"/>
            <a:ext cx="4311523" cy="25400"/>
          </a:xfrm>
          <a:prstGeom prst="rect">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18172" y="1952752"/>
            <a:ext cx="1077880" cy="1097280"/>
          </a:xfrm>
          <a:prstGeom prst="rect">
            <a:avLst/>
          </a:prstGeom>
          <a:noFill/>
        </p:spPr>
        <p:txBody>
          <a:bodyPr wrap="square" anchor="ctr">
            <a:spAutoFit/>
          </a:bodyPr>
          <a:lstStyle/>
          <a:p>
            <a:pPr algn="r"/>
            <a:r>
              <a:rPr sz="1100">
                <a:solidFill>
                  <a:srgbClr val="0F172A"/>
                </a:solidFill>
              </a:rPr>
              <a:t>120</a:t>
            </a:r>
          </a:p>
        </p:txBody>
      </p:sp>
      <p:sp>
        <p:nvSpPr>
          <p:cNvPr id="28" name="TextBox 27"/>
          <p:cNvSpPr txBox="1"/>
          <p:nvPr/>
        </p:nvSpPr>
        <p:spPr>
          <a:xfrm>
            <a:off x="8196052" y="1952752"/>
            <a:ext cx="1077880" cy="1097280"/>
          </a:xfrm>
          <a:prstGeom prst="rect">
            <a:avLst/>
          </a:prstGeom>
          <a:noFill/>
        </p:spPr>
        <p:txBody>
          <a:bodyPr wrap="square" anchor="ctr">
            <a:spAutoFit/>
          </a:bodyPr>
          <a:lstStyle/>
          <a:p>
            <a:pPr algn="r"/>
            <a:r>
              <a:rPr sz="1100">
                <a:solidFill>
                  <a:srgbClr val="0F172A"/>
                </a:solidFill>
              </a:rPr>
              <a:t>80</a:t>
            </a:r>
          </a:p>
        </p:txBody>
      </p:sp>
      <p:sp>
        <p:nvSpPr>
          <p:cNvPr id="29" name="TextBox 28"/>
          <p:cNvSpPr txBox="1"/>
          <p:nvPr/>
        </p:nvSpPr>
        <p:spPr>
          <a:xfrm>
            <a:off x="9273933" y="1952752"/>
            <a:ext cx="1077880" cy="1097280"/>
          </a:xfrm>
          <a:prstGeom prst="rect">
            <a:avLst/>
          </a:prstGeom>
          <a:noFill/>
        </p:spPr>
        <p:txBody>
          <a:bodyPr wrap="square" anchor="ctr">
            <a:spAutoFit/>
          </a:bodyPr>
          <a:lstStyle/>
          <a:p>
            <a:pPr algn="r"/>
            <a:r>
              <a:rPr sz="1100">
                <a:solidFill>
                  <a:srgbClr val="0F172A"/>
                </a:solidFill>
              </a:rPr>
              <a:t>60</a:t>
            </a:r>
          </a:p>
        </p:txBody>
      </p:sp>
      <p:sp>
        <p:nvSpPr>
          <p:cNvPr id="30" name="TextBox 29"/>
          <p:cNvSpPr txBox="1"/>
          <p:nvPr/>
        </p:nvSpPr>
        <p:spPr>
          <a:xfrm>
            <a:off x="10351814" y="1952752"/>
            <a:ext cx="1077880" cy="1097280"/>
          </a:xfrm>
          <a:prstGeom prst="rect">
            <a:avLst/>
          </a:prstGeom>
          <a:noFill/>
        </p:spPr>
        <p:txBody>
          <a:bodyPr wrap="square" anchor="ctr">
            <a:spAutoFit/>
          </a:bodyPr>
          <a:lstStyle/>
          <a:p>
            <a:pPr algn="r"/>
            <a:r>
              <a:rPr sz="1100">
                <a:solidFill>
                  <a:srgbClr val="0F172A"/>
                </a:solidFill>
              </a:rPr>
              <a:t>40</a:t>
            </a:r>
          </a:p>
        </p:txBody>
      </p:sp>
      <p:sp>
        <p:nvSpPr>
          <p:cNvPr id="31" name="Rectangle 30"/>
          <p:cNvSpPr/>
          <p:nvPr/>
        </p:nvSpPr>
        <p:spPr>
          <a:xfrm>
            <a:off x="7118172" y="3050032"/>
            <a:ext cx="4311523" cy="109728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18172" y="3050032"/>
            <a:ext cx="1077880" cy="1097280"/>
          </a:xfrm>
          <a:prstGeom prst="rect">
            <a:avLst/>
          </a:prstGeom>
          <a:noFill/>
        </p:spPr>
        <p:txBody>
          <a:bodyPr wrap="square" anchor="ctr">
            <a:spAutoFit/>
          </a:bodyPr>
          <a:lstStyle/>
          <a:p>
            <a:pPr algn="r"/>
            <a:r>
              <a:rPr sz="1100">
                <a:solidFill>
                  <a:srgbClr val="0F172A"/>
                </a:solidFill>
              </a:rPr>
              <a:t>180</a:t>
            </a:r>
          </a:p>
        </p:txBody>
      </p:sp>
      <p:sp>
        <p:nvSpPr>
          <p:cNvPr id="33" name="TextBox 32"/>
          <p:cNvSpPr txBox="1"/>
          <p:nvPr/>
        </p:nvSpPr>
        <p:spPr>
          <a:xfrm>
            <a:off x="8196052" y="3050032"/>
            <a:ext cx="1077880" cy="1097280"/>
          </a:xfrm>
          <a:prstGeom prst="rect">
            <a:avLst/>
          </a:prstGeom>
          <a:noFill/>
        </p:spPr>
        <p:txBody>
          <a:bodyPr wrap="square" anchor="ctr">
            <a:spAutoFit/>
          </a:bodyPr>
          <a:lstStyle/>
          <a:p>
            <a:pPr algn="r"/>
            <a:r>
              <a:rPr sz="1100">
                <a:solidFill>
                  <a:srgbClr val="0F172A"/>
                </a:solidFill>
              </a:rPr>
              <a:t>120</a:t>
            </a:r>
          </a:p>
        </p:txBody>
      </p:sp>
      <p:sp>
        <p:nvSpPr>
          <p:cNvPr id="34" name="TextBox 33"/>
          <p:cNvSpPr txBox="1"/>
          <p:nvPr/>
        </p:nvSpPr>
        <p:spPr>
          <a:xfrm>
            <a:off x="9273933" y="3050032"/>
            <a:ext cx="1077880" cy="1097280"/>
          </a:xfrm>
          <a:prstGeom prst="rect">
            <a:avLst/>
          </a:prstGeom>
          <a:noFill/>
        </p:spPr>
        <p:txBody>
          <a:bodyPr wrap="square" anchor="ctr">
            <a:spAutoFit/>
          </a:bodyPr>
          <a:lstStyle/>
          <a:p>
            <a:pPr algn="r"/>
            <a:r>
              <a:rPr sz="1100">
                <a:solidFill>
                  <a:srgbClr val="0F172A"/>
                </a:solidFill>
              </a:rPr>
              <a:t>90</a:t>
            </a:r>
          </a:p>
        </p:txBody>
      </p:sp>
      <p:sp>
        <p:nvSpPr>
          <p:cNvPr id="35" name="TextBox 34"/>
          <p:cNvSpPr txBox="1"/>
          <p:nvPr/>
        </p:nvSpPr>
        <p:spPr>
          <a:xfrm>
            <a:off x="10351814" y="3050032"/>
            <a:ext cx="1077880" cy="1097280"/>
          </a:xfrm>
          <a:prstGeom prst="rect">
            <a:avLst/>
          </a:prstGeom>
          <a:noFill/>
        </p:spPr>
        <p:txBody>
          <a:bodyPr wrap="square" anchor="ctr">
            <a:spAutoFit/>
          </a:bodyPr>
          <a:lstStyle/>
          <a:p>
            <a:pPr algn="r"/>
            <a:r>
              <a:rPr sz="1100">
                <a:solidFill>
                  <a:srgbClr val="0F172A"/>
                </a:solidFill>
              </a:rPr>
              <a:t>70</a:t>
            </a:r>
          </a:p>
        </p:txBody>
      </p:sp>
      <p:sp>
        <p:nvSpPr>
          <p:cNvPr id="36" name="Rectangle 35"/>
          <p:cNvSpPr/>
          <p:nvPr/>
        </p:nvSpPr>
        <p:spPr>
          <a:xfrm>
            <a:off x="0" y="6629400"/>
            <a:ext cx="12191695" cy="2286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2000" y="6656832"/>
            <a:ext cx="2743200" cy="173736"/>
          </a:xfrm>
          <a:prstGeom prst="rect">
            <a:avLst/>
          </a:prstGeom>
          <a:noFill/>
        </p:spPr>
        <p:txBody>
          <a:bodyPr wrap="none" anchor="ctr">
            <a:spAutoFit/>
          </a:bodyPr>
          <a:lstStyle/>
          <a:p>
            <a:r>
              <a:rPr sz="1000" b="1">
                <a:solidFill>
                  <a:srgbClr val="003A70"/>
                </a:solidFill>
              </a:rPr>
              <a:t>市场与战略</a:t>
            </a:r>
          </a:p>
        </p:txBody>
      </p:sp>
      <p:sp>
        <p:nvSpPr>
          <p:cNvPr id="38" name="Rectangle 37"/>
          <p:cNvSpPr/>
          <p:nvPr/>
        </p:nvSpPr>
        <p:spPr>
          <a:xfrm>
            <a:off x="4742535" y="6716268"/>
            <a:ext cx="420624" cy="54864"/>
          </a:xfrm>
          <a:prstGeom prst="rect">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1997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569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141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5713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0285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058095" y="6656832"/>
            <a:ext cx="1371600" cy="173736"/>
          </a:xfrm>
          <a:prstGeom prst="rect">
            <a:avLst/>
          </a:prstGeom>
          <a:noFill/>
        </p:spPr>
        <p:txBody>
          <a:bodyPr wrap="none" anchor="ctr">
            <a:spAutoFit/>
          </a:bodyPr>
          <a:lstStyle/>
          <a:p>
            <a:pPr algn="r"/>
            <a:r>
              <a:rPr sz="1000">
                <a:solidFill>
                  <a:srgbClr val="6B7280"/>
                </a:solidFill>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08584"/>
          </a:xfrm>
          <a:prstGeom prst="rect">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54864"/>
            <a:ext cx="3657600" cy="201168"/>
          </a:xfrm>
          <a:prstGeom prst="rect">
            <a:avLst/>
          </a:prstGeom>
          <a:noFill/>
        </p:spPr>
        <p:txBody>
          <a:bodyPr wrap="none">
            <a:spAutoFit/>
          </a:bodyPr>
          <a:lstStyle/>
          <a:p>
            <a:r>
              <a:rPr sz="1000" b="1">
                <a:solidFill>
                  <a:srgbClr val="FFFFFF"/>
                </a:solidFill>
                <a:latin typeface="Georgia"/>
              </a:rPr>
              <a:t>Section A · 市场与战略</a:t>
            </a:r>
          </a:p>
        </p:txBody>
      </p:sp>
      <p:sp>
        <p:nvSpPr>
          <p:cNvPr id="4" name="TextBox 3"/>
          <p:cNvSpPr txBox="1"/>
          <p:nvPr/>
        </p:nvSpPr>
        <p:spPr>
          <a:xfrm>
            <a:off x="762000" y="201168"/>
            <a:ext cx="9753295" cy="361696"/>
          </a:xfrm>
          <a:prstGeom prst="rect">
            <a:avLst/>
          </a:prstGeom>
          <a:noFill/>
        </p:spPr>
        <p:txBody>
          <a:bodyPr wrap="square">
            <a:spAutoFit/>
          </a:bodyPr>
          <a:lstStyle/>
          <a:p>
            <a:r>
              <a:rPr sz="2200" b="1">
                <a:solidFill>
                  <a:srgbClr val="FFFFFF"/>
                </a:solidFill>
                <a:latin typeface="Georgia"/>
              </a:rPr>
              <a:t>区域与竞争格局</a:t>
            </a:r>
          </a:p>
        </p:txBody>
      </p:sp>
      <p:sp>
        <p:nvSpPr>
          <p:cNvPr id="5" name="TextBox 4"/>
          <p:cNvSpPr txBox="1"/>
          <p:nvPr/>
        </p:nvSpPr>
        <p:spPr>
          <a:xfrm>
            <a:off x="11277295" y="201168"/>
            <a:ext cx="640080" cy="320040"/>
          </a:xfrm>
          <a:prstGeom prst="rect">
            <a:avLst/>
          </a:prstGeom>
          <a:noFill/>
        </p:spPr>
        <p:txBody>
          <a:bodyPr wrap="none">
            <a:spAutoFit/>
          </a:bodyPr>
          <a:lstStyle/>
          <a:p>
            <a:pPr algn="r"/>
            <a:r>
              <a:rPr sz="1000" b="1">
                <a:solidFill>
                  <a:srgbClr val="FFFFFF"/>
                </a:solidFill>
                <a:latin typeface="Georgia"/>
              </a:rPr>
              <a:t>6</a:t>
            </a:r>
          </a:p>
        </p:txBody>
      </p:sp>
      <p:sp>
        <p:nvSpPr>
          <p:cNvPr id="6" name="Rounded Rectangle 5"/>
          <p:cNvSpPr/>
          <p:nvPr/>
        </p:nvSpPr>
        <p:spPr>
          <a:xfrm>
            <a:off x="762000" y="855472"/>
            <a:ext cx="2995206" cy="5545327"/>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1728" y="946912"/>
            <a:ext cx="2775750" cy="320040"/>
          </a:xfrm>
          <a:prstGeom prst="rect">
            <a:avLst/>
          </a:prstGeom>
          <a:noFill/>
        </p:spPr>
        <p:txBody>
          <a:bodyPr wrap="none">
            <a:spAutoFit/>
          </a:bodyPr>
          <a:lstStyle/>
          <a:p>
            <a:r>
              <a:rPr sz="1600" b="1">
                <a:solidFill>
                  <a:srgbClr val="0F172A"/>
                </a:solidFill>
                <a:latin typeface="Georgia"/>
              </a:rPr>
              <a:t>国内厂商</a:t>
            </a:r>
          </a:p>
        </p:txBody>
      </p:sp>
      <p:sp>
        <p:nvSpPr>
          <p:cNvPr id="8" name="Rectangle 7"/>
          <p:cNvSpPr/>
          <p:nvPr/>
        </p:nvSpPr>
        <p:spPr>
          <a:xfrm>
            <a:off x="871728" y="1294384"/>
            <a:ext cx="2775750" cy="18288"/>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1728" y="1358392"/>
            <a:ext cx="2775750" cy="4950967"/>
          </a:xfrm>
          <a:prstGeom prst="rect">
            <a:avLst/>
          </a:prstGeom>
          <a:noFill/>
        </p:spPr>
        <p:txBody>
          <a:bodyPr wrap="square">
            <a:spAutoFit/>
          </a:bodyPr>
          <a:lstStyle/>
          <a:p>
            <a:pPr>
              <a:lnSpc>
                <a:spcPct val="150000"/>
              </a:lnSpc>
            </a:pPr>
            <a:r>
              <a:rPr sz="1600">
                <a:solidFill>
                  <a:srgbClr val="0F172A"/>
                </a:solidFill>
              </a:rPr>
              <a:t>优势: 制造成本/供应链
短板: 系统集成与认证
策略: 质量/服务差异化</a:t>
            </a:r>
          </a:p>
        </p:txBody>
      </p:sp>
      <p:sp>
        <p:nvSpPr>
          <p:cNvPr id="10" name="Rounded Rectangle 9"/>
          <p:cNvSpPr/>
          <p:nvPr/>
        </p:nvSpPr>
        <p:spPr>
          <a:xfrm>
            <a:off x="3894366" y="855472"/>
            <a:ext cx="2995206" cy="5545327"/>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04094" y="946912"/>
            <a:ext cx="2775750" cy="320040"/>
          </a:xfrm>
          <a:prstGeom prst="rect">
            <a:avLst/>
          </a:prstGeom>
          <a:noFill/>
        </p:spPr>
        <p:txBody>
          <a:bodyPr wrap="none">
            <a:spAutoFit/>
          </a:bodyPr>
          <a:lstStyle/>
          <a:p>
            <a:r>
              <a:rPr sz="1600" b="1">
                <a:solidFill>
                  <a:srgbClr val="0F172A"/>
                </a:solidFill>
                <a:latin typeface="Georgia"/>
              </a:rPr>
              <a:t>国际大厂</a:t>
            </a:r>
          </a:p>
        </p:txBody>
      </p:sp>
      <p:sp>
        <p:nvSpPr>
          <p:cNvPr id="12" name="Rectangle 11"/>
          <p:cNvSpPr/>
          <p:nvPr/>
        </p:nvSpPr>
        <p:spPr>
          <a:xfrm>
            <a:off x="4004094" y="1294384"/>
            <a:ext cx="2775750" cy="18288"/>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04094" y="1358392"/>
            <a:ext cx="2775750" cy="4950967"/>
          </a:xfrm>
          <a:prstGeom prst="rect">
            <a:avLst/>
          </a:prstGeom>
          <a:noFill/>
        </p:spPr>
        <p:txBody>
          <a:bodyPr wrap="square">
            <a:spAutoFit/>
          </a:bodyPr>
          <a:lstStyle/>
          <a:p>
            <a:pPr>
              <a:lnSpc>
                <a:spcPct val="150000"/>
              </a:lnSpc>
            </a:pPr>
            <a:r>
              <a:rPr sz="1600">
                <a:solidFill>
                  <a:srgbClr val="0F172A"/>
                </a:solidFill>
              </a:rPr>
              <a:t>优势: 系统集成与认证
短板: 成本/本地化供应链
策略: 合作/认证互认</a:t>
            </a:r>
          </a:p>
        </p:txBody>
      </p:sp>
      <p:sp>
        <p:nvSpPr>
          <p:cNvPr id="14" name="TextBox 13"/>
          <p:cNvSpPr txBox="1"/>
          <p:nvPr/>
        </p:nvSpPr>
        <p:spPr>
          <a:xfrm>
            <a:off x="7118172" y="855472"/>
            <a:ext cx="1437174" cy="1097280"/>
          </a:xfrm>
          <a:prstGeom prst="rect">
            <a:avLst/>
          </a:prstGeom>
          <a:noFill/>
        </p:spPr>
        <p:txBody>
          <a:bodyPr wrap="square" anchor="ctr">
            <a:spAutoFit/>
          </a:bodyPr>
          <a:lstStyle/>
          <a:p>
            <a:r>
              <a:rPr sz="1200" b="1">
                <a:solidFill>
                  <a:srgbClr val="0F172A"/>
                </a:solidFill>
              </a:rPr>
              <a:t>属性</a:t>
            </a:r>
          </a:p>
        </p:txBody>
      </p:sp>
      <p:sp>
        <p:nvSpPr>
          <p:cNvPr id="15" name="TextBox 14"/>
          <p:cNvSpPr txBox="1"/>
          <p:nvPr/>
        </p:nvSpPr>
        <p:spPr>
          <a:xfrm>
            <a:off x="8555346" y="855472"/>
            <a:ext cx="1437174" cy="1097280"/>
          </a:xfrm>
          <a:prstGeom prst="rect">
            <a:avLst/>
          </a:prstGeom>
          <a:noFill/>
        </p:spPr>
        <p:txBody>
          <a:bodyPr wrap="square" anchor="ctr">
            <a:spAutoFit/>
          </a:bodyPr>
          <a:lstStyle/>
          <a:p>
            <a:r>
              <a:rPr sz="1200" b="1">
                <a:solidFill>
                  <a:srgbClr val="0F172A"/>
                </a:solidFill>
              </a:rPr>
              <a:t>国内厂商</a:t>
            </a:r>
          </a:p>
        </p:txBody>
      </p:sp>
      <p:sp>
        <p:nvSpPr>
          <p:cNvPr id="16" name="TextBox 15"/>
          <p:cNvSpPr txBox="1"/>
          <p:nvPr/>
        </p:nvSpPr>
        <p:spPr>
          <a:xfrm>
            <a:off x="9992520" y="855472"/>
            <a:ext cx="1437174" cy="1097280"/>
          </a:xfrm>
          <a:prstGeom prst="rect">
            <a:avLst/>
          </a:prstGeom>
          <a:noFill/>
        </p:spPr>
        <p:txBody>
          <a:bodyPr wrap="square" anchor="ctr">
            <a:spAutoFit/>
          </a:bodyPr>
          <a:lstStyle/>
          <a:p>
            <a:r>
              <a:rPr sz="1200" b="1">
                <a:solidFill>
                  <a:srgbClr val="0F172A"/>
                </a:solidFill>
              </a:rPr>
              <a:t>国际大厂</a:t>
            </a:r>
          </a:p>
        </p:txBody>
      </p:sp>
      <p:sp>
        <p:nvSpPr>
          <p:cNvPr id="17" name="Rectangle 16"/>
          <p:cNvSpPr/>
          <p:nvPr/>
        </p:nvSpPr>
        <p:spPr>
          <a:xfrm>
            <a:off x="7118172" y="1934463"/>
            <a:ext cx="4311523" cy="25400"/>
          </a:xfrm>
          <a:prstGeom prst="rect">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18172" y="1952752"/>
            <a:ext cx="1437174" cy="1097280"/>
          </a:xfrm>
          <a:prstGeom prst="rect">
            <a:avLst/>
          </a:prstGeom>
          <a:noFill/>
        </p:spPr>
        <p:txBody>
          <a:bodyPr wrap="square" anchor="ctr">
            <a:spAutoFit/>
          </a:bodyPr>
          <a:lstStyle/>
          <a:p>
            <a:r>
              <a:rPr sz="1100">
                <a:solidFill>
                  <a:srgbClr val="0F172A"/>
                </a:solidFill>
              </a:rPr>
              <a:t>制造成本优势</a:t>
            </a:r>
          </a:p>
        </p:txBody>
      </p:sp>
      <p:sp>
        <p:nvSpPr>
          <p:cNvPr id="19" name="TextBox 18"/>
          <p:cNvSpPr txBox="1"/>
          <p:nvPr/>
        </p:nvSpPr>
        <p:spPr>
          <a:xfrm>
            <a:off x="8555346" y="1952752"/>
            <a:ext cx="1437174" cy="1097280"/>
          </a:xfrm>
          <a:prstGeom prst="rect">
            <a:avLst/>
          </a:prstGeom>
          <a:noFill/>
        </p:spPr>
        <p:txBody>
          <a:bodyPr wrap="square" anchor="ctr">
            <a:spAutoFit/>
          </a:bodyPr>
          <a:lstStyle/>
          <a:p>
            <a:r>
              <a:rPr sz="1100">
                <a:solidFill>
                  <a:srgbClr val="0F172A"/>
                </a:solidFill>
              </a:rPr>
              <a:t>认证优势</a:t>
            </a:r>
          </a:p>
        </p:txBody>
      </p:sp>
      <p:sp>
        <p:nvSpPr>
          <p:cNvPr id="20" name="Rectangle 19"/>
          <p:cNvSpPr/>
          <p:nvPr/>
        </p:nvSpPr>
        <p:spPr>
          <a:xfrm>
            <a:off x="0" y="6629400"/>
            <a:ext cx="12191695" cy="2286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2000" y="6656832"/>
            <a:ext cx="2743200" cy="173736"/>
          </a:xfrm>
          <a:prstGeom prst="rect">
            <a:avLst/>
          </a:prstGeom>
          <a:noFill/>
        </p:spPr>
        <p:txBody>
          <a:bodyPr wrap="none" anchor="ctr">
            <a:spAutoFit/>
          </a:bodyPr>
          <a:lstStyle/>
          <a:p>
            <a:r>
              <a:rPr sz="1000" b="1">
                <a:solidFill>
                  <a:srgbClr val="003A70"/>
                </a:solidFill>
              </a:rPr>
              <a:t>市场与战略</a:t>
            </a:r>
          </a:p>
        </p:txBody>
      </p:sp>
      <p:sp>
        <p:nvSpPr>
          <p:cNvPr id="22" name="Rectangle 21"/>
          <p:cNvSpPr/>
          <p:nvPr/>
        </p:nvSpPr>
        <p:spPr>
          <a:xfrm>
            <a:off x="4742535" y="6716268"/>
            <a:ext cx="420624" cy="54864"/>
          </a:xfrm>
          <a:prstGeom prst="rect">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997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569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141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713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0285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095" y="6656832"/>
            <a:ext cx="1371600" cy="173736"/>
          </a:xfrm>
          <a:prstGeom prst="rect">
            <a:avLst/>
          </a:prstGeom>
          <a:noFill/>
        </p:spPr>
        <p:txBody>
          <a:bodyPr wrap="none" anchor="ctr">
            <a:spAutoFit/>
          </a:bodyPr>
          <a:lstStyle/>
          <a:p>
            <a:pPr algn="r"/>
            <a:r>
              <a:rPr sz="1000">
                <a:solidFill>
                  <a:srgbClr val="6B7280"/>
                </a:solidFill>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3A70"/>
        </a:solidFill>
        <a:effectLst/>
      </p:bgPr>
    </p:bg>
    <p:spTree>
      <p:nvGrpSpPr>
        <p:cNvPr id="1" name=""/>
        <p:cNvGrpSpPr/>
        <p:nvPr/>
      </p:nvGrpSpPr>
      <p:grpSpPr/>
      <p:sp>
        <p:nvSpPr>
          <p:cNvPr id="2" name="TextBox 1"/>
          <p:cNvSpPr txBox="1"/>
          <p:nvPr/>
        </p:nvSpPr>
        <p:spPr>
          <a:xfrm>
            <a:off x="1676400" y="2194560"/>
            <a:ext cx="8838895" cy="914400"/>
          </a:xfrm>
          <a:prstGeom prst="rect">
            <a:avLst/>
          </a:prstGeom>
          <a:noFill/>
        </p:spPr>
        <p:txBody>
          <a:bodyPr wrap="square">
            <a:spAutoFit/>
          </a:bodyPr>
          <a:lstStyle/>
          <a:p>
            <a:pPr algn="ctr"/>
            <a:r>
              <a:rPr sz="2800" b="1">
                <a:solidFill>
                  <a:srgbClr val="FFFFFF"/>
                </a:solidFill>
                <a:latin typeface="Georgia"/>
              </a:rPr>
              <a:t>技术概览（节）</a:t>
            </a:r>
          </a:p>
        </p:txBody>
      </p:sp>
      <p:sp>
        <p:nvSpPr>
          <p:cNvPr id="3" name="TextBox 2"/>
          <p:cNvSpPr txBox="1"/>
          <p:nvPr/>
        </p:nvSpPr>
        <p:spPr>
          <a:xfrm>
            <a:off x="2133600" y="3429000"/>
            <a:ext cx="7924495" cy="457200"/>
          </a:xfrm>
          <a:prstGeom prst="rect">
            <a:avLst/>
          </a:prstGeom>
          <a:noFill/>
        </p:spPr>
        <p:txBody>
          <a:bodyPr wrap="square">
            <a:spAutoFit/>
          </a:bodyPr>
          <a:lstStyle/>
          <a:p>
            <a:pPr algn="ctr"/>
            <a:r>
              <a:rPr sz="1600">
                <a:solidFill>
                  <a:srgbClr val="FFFFFF"/>
                </a:solidFill>
              </a:rPr>
              <a:t>本节覆盖：器件趋势、频段、材料与损耗优化。</a:t>
            </a:r>
          </a:p>
        </p:txBody>
      </p:sp>
      <p:sp>
        <p:nvSpPr>
          <p:cNvPr id="4" name="Rectangle 3"/>
          <p:cNvSpPr/>
          <p:nvPr/>
        </p:nvSpPr>
        <p:spPr>
          <a:xfrm>
            <a:off x="4751679" y="4937759"/>
            <a:ext cx="402336" cy="731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208879" y="4937759"/>
            <a:ext cx="402336" cy="731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6079" y="4937759"/>
            <a:ext cx="402336" cy="7315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123279" y="4937759"/>
            <a:ext cx="402336" cy="7315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0479" y="4937759"/>
            <a:ext cx="402336" cy="7315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037679" y="4937759"/>
            <a:ext cx="402336" cy="7315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608584"/>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54864"/>
            <a:ext cx="3657600" cy="201168"/>
          </a:xfrm>
          <a:prstGeom prst="rect">
            <a:avLst/>
          </a:prstGeom>
          <a:noFill/>
        </p:spPr>
        <p:txBody>
          <a:bodyPr wrap="none">
            <a:spAutoFit/>
          </a:bodyPr>
          <a:lstStyle/>
          <a:p>
            <a:r>
              <a:rPr sz="1000" b="1">
                <a:solidFill>
                  <a:srgbClr val="FFFFFF"/>
                </a:solidFill>
                <a:latin typeface="Georgia"/>
              </a:rPr>
              <a:t>Section B · 技术概览</a:t>
            </a:r>
          </a:p>
        </p:txBody>
      </p:sp>
      <p:sp>
        <p:nvSpPr>
          <p:cNvPr id="4" name="TextBox 3"/>
          <p:cNvSpPr txBox="1"/>
          <p:nvPr/>
        </p:nvSpPr>
        <p:spPr>
          <a:xfrm>
            <a:off x="762000" y="201168"/>
            <a:ext cx="9753295" cy="361696"/>
          </a:xfrm>
          <a:prstGeom prst="rect">
            <a:avLst/>
          </a:prstGeom>
          <a:noFill/>
        </p:spPr>
        <p:txBody>
          <a:bodyPr wrap="square">
            <a:spAutoFit/>
          </a:bodyPr>
          <a:lstStyle/>
          <a:p>
            <a:r>
              <a:rPr sz="2200" b="1">
                <a:solidFill>
                  <a:srgbClr val="FFFFFF"/>
                </a:solidFill>
                <a:latin typeface="Georgia"/>
              </a:rPr>
              <a:t>SiC/GaN 对系统与 MFT 的影响</a:t>
            </a:r>
          </a:p>
        </p:txBody>
      </p:sp>
      <p:sp>
        <p:nvSpPr>
          <p:cNvPr id="5" name="TextBox 4"/>
          <p:cNvSpPr txBox="1"/>
          <p:nvPr/>
        </p:nvSpPr>
        <p:spPr>
          <a:xfrm>
            <a:off x="11277295" y="201168"/>
            <a:ext cx="640080" cy="320040"/>
          </a:xfrm>
          <a:prstGeom prst="rect">
            <a:avLst/>
          </a:prstGeom>
          <a:noFill/>
        </p:spPr>
        <p:txBody>
          <a:bodyPr wrap="none">
            <a:spAutoFit/>
          </a:bodyPr>
          <a:lstStyle/>
          <a:p>
            <a:pPr algn="r"/>
            <a:r>
              <a:rPr sz="1000" b="1">
                <a:solidFill>
                  <a:srgbClr val="FFFFFF"/>
                </a:solidFill>
                <a:latin typeface="Georgia"/>
              </a:rPr>
              <a:t>8</a:t>
            </a:r>
          </a:p>
        </p:txBody>
      </p:sp>
      <p:sp>
        <p:nvSpPr>
          <p:cNvPr id="6" name="TextBox 5"/>
          <p:cNvSpPr txBox="1"/>
          <p:nvPr/>
        </p:nvSpPr>
        <p:spPr>
          <a:xfrm>
            <a:off x="853440" y="2370836"/>
            <a:ext cx="10484815" cy="347472"/>
          </a:xfrm>
          <a:prstGeom prst="rect">
            <a:avLst/>
          </a:prstGeom>
          <a:noFill/>
        </p:spPr>
        <p:txBody>
          <a:bodyPr wrap="square">
            <a:spAutoFit/>
          </a:bodyPr>
          <a:lstStyle/>
          <a:p>
            <a:r>
              <a:rPr sz="1400">
                <a:solidFill>
                  <a:srgbClr val="0F172A"/>
                </a:solidFill>
              </a:rPr>
              <a:t>• 更高开关频率与 dv/dt，推动 MFT 频率上移</a:t>
            </a:r>
          </a:p>
        </p:txBody>
      </p:sp>
      <p:sp>
        <p:nvSpPr>
          <p:cNvPr id="7" name="TextBox 6"/>
          <p:cNvSpPr txBox="1"/>
          <p:nvPr/>
        </p:nvSpPr>
        <p:spPr>
          <a:xfrm>
            <a:off x="853440" y="2736596"/>
            <a:ext cx="10484815" cy="347472"/>
          </a:xfrm>
          <a:prstGeom prst="rect">
            <a:avLst/>
          </a:prstGeom>
          <a:noFill/>
        </p:spPr>
        <p:txBody>
          <a:bodyPr wrap="square">
            <a:spAutoFit/>
          </a:bodyPr>
          <a:lstStyle/>
          <a:p>
            <a:r>
              <a:rPr sz="1400">
                <a:solidFill>
                  <a:srgbClr val="0F172A"/>
                </a:solidFill>
              </a:rPr>
              <a:t>• 需同步考虑绝缘、局放與 EMC</a:t>
            </a:r>
          </a:p>
        </p:txBody>
      </p:sp>
      <p:sp>
        <p:nvSpPr>
          <p:cNvPr id="8" name="Rounded Rectangle 7"/>
          <p:cNvSpPr/>
          <p:nvPr/>
        </p:nvSpPr>
        <p:spPr>
          <a:xfrm>
            <a:off x="762000" y="3239516"/>
            <a:ext cx="10667695" cy="3200400"/>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4880" y="3696716"/>
            <a:ext cx="10301935" cy="2286000"/>
          </a:xfrm>
          <a:prstGeom prst="rect">
            <a:avLst/>
          </a:prstGeom>
          <a:noFill/>
        </p:spPr>
        <p:txBody>
          <a:bodyPr wrap="square">
            <a:spAutoFit/>
          </a:bodyPr>
          <a:lstStyle/>
          <a:p>
            <a:r>
              <a:rPr sz="1100">
                <a:solidFill>
                  <a:srgbClr val="D1D5DB"/>
                </a:solidFill>
                <a:latin typeface="Georgia"/>
              </a:rPr>
              <a:t>graph LR
  A[SiC/GaN 器件] --&gt;|更高开关频率| B[MFT 频率 ↑]
  A --&gt;|更高 dv/dt| C[绝缘应力 ↑]
  B --&gt; D[磁芯尺寸 ↓]
  B --&gt; E[功率密度 ↑]</a:t>
            </a:r>
          </a:p>
        </p:txBody>
      </p:sp>
      <p:sp>
        <p:nvSpPr>
          <p:cNvPr id="10" name="Rectangle 9"/>
          <p:cNvSpPr/>
          <p:nvPr/>
        </p:nvSpPr>
        <p:spPr>
          <a:xfrm>
            <a:off x="0" y="6629400"/>
            <a:ext cx="12191695" cy="2286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000" y="6656832"/>
            <a:ext cx="2743200" cy="173736"/>
          </a:xfrm>
          <a:prstGeom prst="rect">
            <a:avLst/>
          </a:prstGeom>
          <a:noFill/>
        </p:spPr>
        <p:txBody>
          <a:bodyPr wrap="none" anchor="ctr">
            <a:spAutoFit/>
          </a:bodyPr>
          <a:lstStyle/>
          <a:p>
            <a:r>
              <a:rPr sz="1000" b="1">
                <a:solidFill>
                  <a:srgbClr val="C8A951"/>
                </a:solidFill>
              </a:rPr>
              <a:t>技术概览</a:t>
            </a:r>
          </a:p>
        </p:txBody>
      </p:sp>
      <p:sp>
        <p:nvSpPr>
          <p:cNvPr id="12" name="Rectangle 11"/>
          <p:cNvSpPr/>
          <p:nvPr/>
        </p:nvSpPr>
        <p:spPr>
          <a:xfrm>
            <a:off x="4742535" y="6716268"/>
            <a:ext cx="420624" cy="54864"/>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199735" y="6716268"/>
            <a:ext cx="420624" cy="54864"/>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569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141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713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285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095" y="6656832"/>
            <a:ext cx="1371600" cy="173736"/>
          </a:xfrm>
          <a:prstGeom prst="rect">
            <a:avLst/>
          </a:prstGeom>
          <a:noFill/>
        </p:spPr>
        <p:txBody>
          <a:bodyPr wrap="none" anchor="ctr">
            <a:spAutoFit/>
          </a:bodyPr>
          <a:lstStyle/>
          <a:p>
            <a:pPr algn="r"/>
            <a:r>
              <a:rPr sz="1000">
                <a:solidFill>
                  <a:srgbClr val="6B7280"/>
                </a:solidFill>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4F6"/>
        </a:solidFill>
        <a:effectLst/>
      </p:bgPr>
    </p:bg>
    <p:spTree>
      <p:nvGrpSpPr>
        <p:cNvPr id="1" name=""/>
        <p:cNvGrpSpPr/>
        <p:nvPr/>
      </p:nvGrpSpPr>
      <p:grpSpPr/>
      <p:sp>
        <p:nvSpPr>
          <p:cNvPr id="2" name="Rectangle 1"/>
          <p:cNvSpPr/>
          <p:nvPr/>
        </p:nvSpPr>
        <p:spPr>
          <a:xfrm>
            <a:off x="0" y="0"/>
            <a:ext cx="12191695" cy="608584"/>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54864"/>
            <a:ext cx="3657600" cy="201168"/>
          </a:xfrm>
          <a:prstGeom prst="rect">
            <a:avLst/>
          </a:prstGeom>
          <a:noFill/>
        </p:spPr>
        <p:txBody>
          <a:bodyPr wrap="none">
            <a:spAutoFit/>
          </a:bodyPr>
          <a:lstStyle/>
          <a:p>
            <a:r>
              <a:rPr sz="1000" b="1">
                <a:solidFill>
                  <a:srgbClr val="FFFFFF"/>
                </a:solidFill>
                <a:latin typeface="Georgia"/>
              </a:rPr>
              <a:t>Section B · 技术概览</a:t>
            </a:r>
          </a:p>
        </p:txBody>
      </p:sp>
      <p:sp>
        <p:nvSpPr>
          <p:cNvPr id="4" name="TextBox 3"/>
          <p:cNvSpPr txBox="1"/>
          <p:nvPr/>
        </p:nvSpPr>
        <p:spPr>
          <a:xfrm>
            <a:off x="762000" y="201168"/>
            <a:ext cx="9753295" cy="361696"/>
          </a:xfrm>
          <a:prstGeom prst="rect">
            <a:avLst/>
          </a:prstGeom>
          <a:noFill/>
        </p:spPr>
        <p:txBody>
          <a:bodyPr wrap="square">
            <a:spAutoFit/>
          </a:bodyPr>
          <a:lstStyle/>
          <a:p>
            <a:r>
              <a:rPr sz="2200" b="1">
                <a:solidFill>
                  <a:srgbClr val="FFFFFF"/>
                </a:solidFill>
                <a:latin typeface="Georgia"/>
              </a:rPr>
              <a:t>频段选择（50–200 kHz）与拓扑</a:t>
            </a:r>
          </a:p>
        </p:txBody>
      </p:sp>
      <p:sp>
        <p:nvSpPr>
          <p:cNvPr id="5" name="TextBox 4"/>
          <p:cNvSpPr txBox="1"/>
          <p:nvPr/>
        </p:nvSpPr>
        <p:spPr>
          <a:xfrm>
            <a:off x="11277295" y="201168"/>
            <a:ext cx="640080" cy="320040"/>
          </a:xfrm>
          <a:prstGeom prst="rect">
            <a:avLst/>
          </a:prstGeom>
          <a:noFill/>
        </p:spPr>
        <p:txBody>
          <a:bodyPr wrap="none">
            <a:spAutoFit/>
          </a:bodyPr>
          <a:lstStyle/>
          <a:p>
            <a:pPr algn="r"/>
            <a:r>
              <a:rPr sz="1000" b="1">
                <a:solidFill>
                  <a:srgbClr val="FFFFFF"/>
                </a:solidFill>
                <a:latin typeface="Georgia"/>
              </a:rPr>
              <a:t>9</a:t>
            </a:r>
          </a:p>
        </p:txBody>
      </p:sp>
      <p:sp>
        <p:nvSpPr>
          <p:cNvPr id="6" name="TextBox 5"/>
          <p:cNvSpPr txBox="1"/>
          <p:nvPr/>
        </p:nvSpPr>
        <p:spPr>
          <a:xfrm>
            <a:off x="807720" y="3500119"/>
            <a:ext cx="10576255" cy="411480"/>
          </a:xfrm>
          <a:prstGeom prst="rect">
            <a:avLst/>
          </a:prstGeom>
          <a:noFill/>
        </p:spPr>
        <p:txBody>
          <a:bodyPr wrap="square">
            <a:spAutoFit/>
          </a:bodyPr>
          <a:lstStyle/>
          <a:p>
            <a:pPr>
              <a:lnSpc>
                <a:spcPct val="150000"/>
              </a:lnSpc>
            </a:pPr>
            <a:r>
              <a:rPr sz="1400">
                <a:solidFill>
                  <a:srgbClr val="0F172A"/>
                </a:solidFill>
              </a:rPr>
              <a:t>• 推荐拓扑：DAB、双有源桥、SST 子模块</a:t>
            </a:r>
          </a:p>
        </p:txBody>
      </p:sp>
      <p:sp>
        <p:nvSpPr>
          <p:cNvPr id="7" name="Rectangle 6"/>
          <p:cNvSpPr/>
          <p:nvPr/>
        </p:nvSpPr>
        <p:spPr>
          <a:xfrm>
            <a:off x="0" y="6629400"/>
            <a:ext cx="12191695" cy="2286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656832"/>
            <a:ext cx="2743200" cy="173736"/>
          </a:xfrm>
          <a:prstGeom prst="rect">
            <a:avLst/>
          </a:prstGeom>
          <a:noFill/>
        </p:spPr>
        <p:txBody>
          <a:bodyPr wrap="none" anchor="ctr">
            <a:spAutoFit/>
          </a:bodyPr>
          <a:lstStyle/>
          <a:p>
            <a:r>
              <a:rPr sz="1000" b="1">
                <a:solidFill>
                  <a:srgbClr val="C8A951"/>
                </a:solidFill>
              </a:rPr>
              <a:t>技术概览</a:t>
            </a:r>
          </a:p>
        </p:txBody>
      </p:sp>
      <p:sp>
        <p:nvSpPr>
          <p:cNvPr id="9" name="Rectangle 8"/>
          <p:cNvSpPr/>
          <p:nvPr/>
        </p:nvSpPr>
        <p:spPr>
          <a:xfrm>
            <a:off x="4742535" y="6716268"/>
            <a:ext cx="420624" cy="54864"/>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99735" y="6716268"/>
            <a:ext cx="420624" cy="54864"/>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569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141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13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285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095" y="6656832"/>
            <a:ext cx="1371600" cy="173736"/>
          </a:xfrm>
          <a:prstGeom prst="rect">
            <a:avLst/>
          </a:prstGeom>
          <a:noFill/>
        </p:spPr>
        <p:txBody>
          <a:bodyPr wrap="none" anchor="ctr">
            <a:spAutoFit/>
          </a:bodyPr>
          <a:lstStyle/>
          <a:p>
            <a:pPr algn="r"/>
            <a:r>
              <a:rPr sz="1000">
                <a:solidFill>
                  <a:srgbClr val="6B7280"/>
                </a:solidFill>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08584"/>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54864"/>
            <a:ext cx="3657600" cy="201168"/>
          </a:xfrm>
          <a:prstGeom prst="rect">
            <a:avLst/>
          </a:prstGeom>
          <a:noFill/>
        </p:spPr>
        <p:txBody>
          <a:bodyPr wrap="none">
            <a:spAutoFit/>
          </a:bodyPr>
          <a:lstStyle/>
          <a:p>
            <a:r>
              <a:rPr sz="1000" b="1">
                <a:solidFill>
                  <a:srgbClr val="FFFFFF"/>
                </a:solidFill>
                <a:latin typeface="Georgia"/>
              </a:rPr>
              <a:t>Section B · 技术概览</a:t>
            </a:r>
          </a:p>
        </p:txBody>
      </p:sp>
      <p:sp>
        <p:nvSpPr>
          <p:cNvPr id="4" name="TextBox 3"/>
          <p:cNvSpPr txBox="1"/>
          <p:nvPr/>
        </p:nvSpPr>
        <p:spPr>
          <a:xfrm>
            <a:off x="762000" y="201168"/>
            <a:ext cx="9753295" cy="361696"/>
          </a:xfrm>
          <a:prstGeom prst="rect">
            <a:avLst/>
          </a:prstGeom>
          <a:noFill/>
        </p:spPr>
        <p:txBody>
          <a:bodyPr wrap="square">
            <a:spAutoFit/>
          </a:bodyPr>
          <a:lstStyle/>
          <a:p>
            <a:r>
              <a:rPr sz="2200" b="1">
                <a:solidFill>
                  <a:srgbClr val="FFFFFF"/>
                </a:solidFill>
                <a:latin typeface="Georgia"/>
              </a:rPr>
              <a:t>材料与磁芯选型</a:t>
            </a:r>
          </a:p>
        </p:txBody>
      </p:sp>
      <p:sp>
        <p:nvSpPr>
          <p:cNvPr id="5" name="TextBox 4"/>
          <p:cNvSpPr txBox="1"/>
          <p:nvPr/>
        </p:nvSpPr>
        <p:spPr>
          <a:xfrm>
            <a:off x="11277295" y="201168"/>
            <a:ext cx="640080" cy="320040"/>
          </a:xfrm>
          <a:prstGeom prst="rect">
            <a:avLst/>
          </a:prstGeom>
          <a:noFill/>
        </p:spPr>
        <p:txBody>
          <a:bodyPr wrap="none">
            <a:spAutoFit/>
          </a:bodyPr>
          <a:lstStyle/>
          <a:p>
            <a:pPr algn="r"/>
            <a:r>
              <a:rPr sz="1000" b="1">
                <a:solidFill>
                  <a:srgbClr val="FFFFFF"/>
                </a:solidFill>
                <a:latin typeface="Georgia"/>
              </a:rPr>
              <a:t>10</a:t>
            </a:r>
          </a:p>
        </p:txBody>
      </p:sp>
      <p:sp>
        <p:nvSpPr>
          <p:cNvPr id="6" name="TextBox 5"/>
          <p:cNvSpPr txBox="1"/>
          <p:nvPr/>
        </p:nvSpPr>
        <p:spPr>
          <a:xfrm>
            <a:off x="762000" y="855472"/>
            <a:ext cx="3555898" cy="1097280"/>
          </a:xfrm>
          <a:prstGeom prst="rect">
            <a:avLst/>
          </a:prstGeom>
          <a:noFill/>
        </p:spPr>
        <p:txBody>
          <a:bodyPr wrap="square" anchor="ctr">
            <a:spAutoFit/>
          </a:bodyPr>
          <a:lstStyle/>
          <a:p>
            <a:r>
              <a:rPr sz="1200" b="1">
                <a:solidFill>
                  <a:srgbClr val="0F172A"/>
                </a:solidFill>
              </a:rPr>
              <a:t>纳米晶</a:t>
            </a:r>
          </a:p>
        </p:txBody>
      </p:sp>
      <p:sp>
        <p:nvSpPr>
          <p:cNvPr id="7" name="TextBox 6"/>
          <p:cNvSpPr txBox="1"/>
          <p:nvPr/>
        </p:nvSpPr>
        <p:spPr>
          <a:xfrm>
            <a:off x="4317898" y="855472"/>
            <a:ext cx="3555898" cy="1097280"/>
          </a:xfrm>
          <a:prstGeom prst="rect">
            <a:avLst/>
          </a:prstGeom>
          <a:noFill/>
        </p:spPr>
        <p:txBody>
          <a:bodyPr wrap="square" anchor="ctr">
            <a:spAutoFit/>
          </a:bodyPr>
          <a:lstStyle/>
          <a:p>
            <a:r>
              <a:rPr sz="1200" b="1">
                <a:solidFill>
                  <a:srgbClr val="0F172A"/>
                </a:solidFill>
              </a:rPr>
              <a:t>非晶</a:t>
            </a:r>
          </a:p>
        </p:txBody>
      </p:sp>
      <p:sp>
        <p:nvSpPr>
          <p:cNvPr id="8" name="TextBox 7"/>
          <p:cNvSpPr txBox="1"/>
          <p:nvPr/>
        </p:nvSpPr>
        <p:spPr>
          <a:xfrm>
            <a:off x="7873796" y="855472"/>
            <a:ext cx="3555898" cy="1097280"/>
          </a:xfrm>
          <a:prstGeom prst="rect">
            <a:avLst/>
          </a:prstGeom>
          <a:noFill/>
        </p:spPr>
        <p:txBody>
          <a:bodyPr wrap="square" anchor="ctr">
            <a:spAutoFit/>
          </a:bodyPr>
          <a:lstStyle/>
          <a:p>
            <a:r>
              <a:rPr sz="1200" b="1">
                <a:solidFill>
                  <a:srgbClr val="0F172A"/>
                </a:solidFill>
              </a:rPr>
              <a:t>粉末</a:t>
            </a:r>
          </a:p>
        </p:txBody>
      </p:sp>
      <p:sp>
        <p:nvSpPr>
          <p:cNvPr id="9" name="Rectangle 8"/>
          <p:cNvSpPr/>
          <p:nvPr/>
        </p:nvSpPr>
        <p:spPr>
          <a:xfrm>
            <a:off x="762000" y="1934463"/>
            <a:ext cx="10667695" cy="25400"/>
          </a:xfrm>
          <a:prstGeom prst="rect">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2000" y="1952752"/>
            <a:ext cx="3555898" cy="1097280"/>
          </a:xfrm>
          <a:prstGeom prst="rect">
            <a:avLst/>
          </a:prstGeom>
          <a:noFill/>
        </p:spPr>
        <p:txBody>
          <a:bodyPr wrap="square" anchor="ctr">
            <a:spAutoFit/>
          </a:bodyPr>
          <a:lstStyle/>
          <a:p>
            <a:r>
              <a:rPr sz="1100">
                <a:solidFill>
                  <a:srgbClr val="0F172A"/>
                </a:solidFill>
              </a:rPr>
              <a:t>低</a:t>
            </a:r>
          </a:p>
        </p:txBody>
      </p:sp>
      <p:sp>
        <p:nvSpPr>
          <p:cNvPr id="11" name="TextBox 10"/>
          <p:cNvSpPr txBox="1"/>
          <p:nvPr/>
        </p:nvSpPr>
        <p:spPr>
          <a:xfrm>
            <a:off x="4317898" y="1952752"/>
            <a:ext cx="3555898" cy="1097280"/>
          </a:xfrm>
          <a:prstGeom prst="rect">
            <a:avLst/>
          </a:prstGeom>
          <a:noFill/>
        </p:spPr>
        <p:txBody>
          <a:bodyPr wrap="square" anchor="ctr">
            <a:spAutoFit/>
          </a:bodyPr>
          <a:lstStyle/>
          <a:p>
            <a:r>
              <a:rPr sz="1100">
                <a:solidFill>
                  <a:srgbClr val="0F172A"/>
                </a:solidFill>
              </a:rPr>
              <a:t>中</a:t>
            </a:r>
          </a:p>
        </p:txBody>
      </p:sp>
      <p:sp>
        <p:nvSpPr>
          <p:cNvPr id="12" name="TextBox 11"/>
          <p:cNvSpPr txBox="1"/>
          <p:nvPr/>
        </p:nvSpPr>
        <p:spPr>
          <a:xfrm>
            <a:off x="7873796" y="1952752"/>
            <a:ext cx="3555898" cy="1097280"/>
          </a:xfrm>
          <a:prstGeom prst="rect">
            <a:avLst/>
          </a:prstGeom>
          <a:noFill/>
        </p:spPr>
        <p:txBody>
          <a:bodyPr wrap="square" anchor="ctr">
            <a:spAutoFit/>
          </a:bodyPr>
          <a:lstStyle/>
          <a:p>
            <a:r>
              <a:rPr sz="1100">
                <a:solidFill>
                  <a:srgbClr val="0F172A"/>
                </a:solidFill>
              </a:rPr>
              <a:t>高</a:t>
            </a:r>
          </a:p>
        </p:txBody>
      </p:sp>
      <p:sp>
        <p:nvSpPr>
          <p:cNvPr id="13" name="Rectangle 12"/>
          <p:cNvSpPr/>
          <p:nvPr/>
        </p:nvSpPr>
        <p:spPr>
          <a:xfrm>
            <a:off x="0" y="6629400"/>
            <a:ext cx="12191695" cy="2286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000" y="6656832"/>
            <a:ext cx="2743200" cy="173736"/>
          </a:xfrm>
          <a:prstGeom prst="rect">
            <a:avLst/>
          </a:prstGeom>
          <a:noFill/>
        </p:spPr>
        <p:txBody>
          <a:bodyPr wrap="none" anchor="ctr">
            <a:spAutoFit/>
          </a:bodyPr>
          <a:lstStyle/>
          <a:p>
            <a:r>
              <a:rPr sz="1000" b="1">
                <a:solidFill>
                  <a:srgbClr val="C8A951"/>
                </a:solidFill>
              </a:rPr>
              <a:t>技术概览</a:t>
            </a:r>
          </a:p>
        </p:txBody>
      </p:sp>
      <p:sp>
        <p:nvSpPr>
          <p:cNvPr id="15" name="Rectangle 14"/>
          <p:cNvSpPr/>
          <p:nvPr/>
        </p:nvSpPr>
        <p:spPr>
          <a:xfrm>
            <a:off x="4742535" y="6716268"/>
            <a:ext cx="420624" cy="54864"/>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99735" y="6716268"/>
            <a:ext cx="420624" cy="54864"/>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569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141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713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285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095" y="6656832"/>
            <a:ext cx="1371600" cy="173736"/>
          </a:xfrm>
          <a:prstGeom prst="rect">
            <a:avLst/>
          </a:prstGeom>
          <a:noFill/>
        </p:spPr>
        <p:txBody>
          <a:bodyPr wrap="none" anchor="ctr">
            <a:spAutoFit/>
          </a:bodyPr>
          <a:lstStyle/>
          <a:p>
            <a:pPr algn="r"/>
            <a:r>
              <a:rPr sz="1000">
                <a:solidFill>
                  <a:srgbClr val="6B7280"/>
                </a:solidFill>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08584"/>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54864"/>
            <a:ext cx="3657600" cy="201168"/>
          </a:xfrm>
          <a:prstGeom prst="rect">
            <a:avLst/>
          </a:prstGeom>
          <a:noFill/>
        </p:spPr>
        <p:txBody>
          <a:bodyPr wrap="none">
            <a:spAutoFit/>
          </a:bodyPr>
          <a:lstStyle/>
          <a:p>
            <a:r>
              <a:rPr sz="1000" b="1">
                <a:solidFill>
                  <a:srgbClr val="FFFFFF"/>
                </a:solidFill>
                <a:latin typeface="Georgia"/>
              </a:rPr>
              <a:t>Section B · 技术概览</a:t>
            </a:r>
          </a:p>
        </p:txBody>
      </p:sp>
      <p:sp>
        <p:nvSpPr>
          <p:cNvPr id="4" name="TextBox 3"/>
          <p:cNvSpPr txBox="1"/>
          <p:nvPr/>
        </p:nvSpPr>
        <p:spPr>
          <a:xfrm>
            <a:off x="762000" y="201168"/>
            <a:ext cx="9753295" cy="361696"/>
          </a:xfrm>
          <a:prstGeom prst="rect">
            <a:avLst/>
          </a:prstGeom>
          <a:noFill/>
        </p:spPr>
        <p:txBody>
          <a:bodyPr wrap="square">
            <a:spAutoFit/>
          </a:bodyPr>
          <a:lstStyle/>
          <a:p>
            <a:r>
              <a:rPr sz="2200" b="1">
                <a:solidFill>
                  <a:srgbClr val="FFFFFF"/>
                </a:solidFill>
                <a:latin typeface="Georgia"/>
              </a:rPr>
              <a:t>绕组与结构设计要点</a:t>
            </a:r>
          </a:p>
        </p:txBody>
      </p:sp>
      <p:sp>
        <p:nvSpPr>
          <p:cNvPr id="5" name="TextBox 4"/>
          <p:cNvSpPr txBox="1"/>
          <p:nvPr/>
        </p:nvSpPr>
        <p:spPr>
          <a:xfrm>
            <a:off x="11277295" y="201168"/>
            <a:ext cx="640080" cy="320040"/>
          </a:xfrm>
          <a:prstGeom prst="rect">
            <a:avLst/>
          </a:prstGeom>
          <a:noFill/>
        </p:spPr>
        <p:txBody>
          <a:bodyPr wrap="none">
            <a:spAutoFit/>
          </a:bodyPr>
          <a:lstStyle/>
          <a:p>
            <a:pPr algn="r"/>
            <a:r>
              <a:rPr sz="1000" b="1">
                <a:solidFill>
                  <a:srgbClr val="FFFFFF"/>
                </a:solidFill>
                <a:latin typeface="Georgia"/>
              </a:rPr>
              <a:t>11</a:t>
            </a:r>
          </a:p>
        </p:txBody>
      </p:sp>
      <p:sp>
        <p:nvSpPr>
          <p:cNvPr id="6" name="Rounded Rectangle 5"/>
          <p:cNvSpPr/>
          <p:nvPr/>
        </p:nvSpPr>
        <p:spPr>
          <a:xfrm>
            <a:off x="762000" y="855472"/>
            <a:ext cx="2995206" cy="5545327"/>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1728" y="946912"/>
            <a:ext cx="2775750" cy="320040"/>
          </a:xfrm>
          <a:prstGeom prst="rect">
            <a:avLst/>
          </a:prstGeom>
          <a:noFill/>
        </p:spPr>
        <p:txBody>
          <a:bodyPr wrap="none">
            <a:spAutoFit/>
          </a:bodyPr>
          <a:lstStyle/>
          <a:p>
            <a:r>
              <a:rPr sz="1600" b="1">
                <a:solidFill>
                  <a:srgbClr val="0F172A"/>
                </a:solidFill>
                <a:latin typeface="Georgia"/>
              </a:rPr>
              <a:t>平面绕组</a:t>
            </a:r>
          </a:p>
        </p:txBody>
      </p:sp>
      <p:sp>
        <p:nvSpPr>
          <p:cNvPr id="8" name="Rectangle 7"/>
          <p:cNvSpPr/>
          <p:nvPr/>
        </p:nvSpPr>
        <p:spPr>
          <a:xfrm>
            <a:off x="871728" y="1294384"/>
            <a:ext cx="2775750" cy="18288"/>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1728" y="1358392"/>
            <a:ext cx="2775750" cy="4950967"/>
          </a:xfrm>
          <a:prstGeom prst="rect">
            <a:avLst/>
          </a:prstGeom>
          <a:noFill/>
        </p:spPr>
        <p:txBody>
          <a:bodyPr wrap="square">
            <a:spAutoFit/>
          </a:bodyPr>
          <a:lstStyle/>
          <a:p>
            <a:pPr>
              <a:lnSpc>
                <a:spcPct val="150000"/>
              </a:lnSpc>
            </a:pPr>
            <a:r>
              <a:rPr sz="1600">
                <a:solidFill>
                  <a:srgbClr val="0F172A"/>
                </a:solidFill>
              </a:rPr>
              <a:t>适用: 高频/薄型方案
优点: 降低体积/互电感可控
缺点: 制造复杂度高</a:t>
            </a:r>
          </a:p>
        </p:txBody>
      </p:sp>
      <p:sp>
        <p:nvSpPr>
          <p:cNvPr id="10" name="Rounded Rectangle 9"/>
          <p:cNvSpPr/>
          <p:nvPr/>
        </p:nvSpPr>
        <p:spPr>
          <a:xfrm>
            <a:off x="3894366" y="855472"/>
            <a:ext cx="2995206" cy="5545327"/>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04094" y="946912"/>
            <a:ext cx="2775750" cy="320040"/>
          </a:xfrm>
          <a:prstGeom prst="rect">
            <a:avLst/>
          </a:prstGeom>
          <a:noFill/>
        </p:spPr>
        <p:txBody>
          <a:bodyPr wrap="none">
            <a:spAutoFit/>
          </a:bodyPr>
          <a:lstStyle/>
          <a:p>
            <a:r>
              <a:rPr sz="1600" b="1">
                <a:solidFill>
                  <a:srgbClr val="0F172A"/>
                </a:solidFill>
                <a:latin typeface="Georgia"/>
              </a:rPr>
              <a:t>分层绕组</a:t>
            </a:r>
          </a:p>
        </p:txBody>
      </p:sp>
      <p:sp>
        <p:nvSpPr>
          <p:cNvPr id="12" name="Rectangle 11"/>
          <p:cNvSpPr/>
          <p:nvPr/>
        </p:nvSpPr>
        <p:spPr>
          <a:xfrm>
            <a:off x="4004094" y="1294384"/>
            <a:ext cx="2775750" cy="18288"/>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04094" y="1358392"/>
            <a:ext cx="2775750" cy="4950967"/>
          </a:xfrm>
          <a:prstGeom prst="rect">
            <a:avLst/>
          </a:prstGeom>
          <a:noFill/>
        </p:spPr>
        <p:txBody>
          <a:bodyPr wrap="square">
            <a:spAutoFit/>
          </a:bodyPr>
          <a:lstStyle/>
          <a:p>
            <a:pPr>
              <a:lnSpc>
                <a:spcPct val="150000"/>
              </a:lnSpc>
            </a:pPr>
            <a:r>
              <a:rPr sz="1600">
                <a:solidFill>
                  <a:srgbClr val="0F172A"/>
                </a:solidFill>
              </a:rPr>
              <a:t>适用: 更传统功率段
优点: 制造成熟
缺点: 体积较大</a:t>
            </a:r>
          </a:p>
        </p:txBody>
      </p:sp>
      <p:sp>
        <p:nvSpPr>
          <p:cNvPr id="14" name="TextBox 13"/>
          <p:cNvSpPr txBox="1"/>
          <p:nvPr/>
        </p:nvSpPr>
        <p:spPr>
          <a:xfrm>
            <a:off x="7118172" y="855472"/>
            <a:ext cx="1437174" cy="1097280"/>
          </a:xfrm>
          <a:prstGeom prst="rect">
            <a:avLst/>
          </a:prstGeom>
          <a:noFill/>
        </p:spPr>
        <p:txBody>
          <a:bodyPr wrap="square" anchor="ctr">
            <a:spAutoFit/>
          </a:bodyPr>
          <a:lstStyle/>
          <a:p>
            <a:r>
              <a:rPr sz="1200" b="1">
                <a:solidFill>
                  <a:srgbClr val="0F172A"/>
                </a:solidFill>
              </a:rPr>
              <a:t>属性</a:t>
            </a:r>
          </a:p>
        </p:txBody>
      </p:sp>
      <p:sp>
        <p:nvSpPr>
          <p:cNvPr id="15" name="TextBox 14"/>
          <p:cNvSpPr txBox="1"/>
          <p:nvPr/>
        </p:nvSpPr>
        <p:spPr>
          <a:xfrm>
            <a:off x="8555346" y="855472"/>
            <a:ext cx="1437174" cy="1097280"/>
          </a:xfrm>
          <a:prstGeom prst="rect">
            <a:avLst/>
          </a:prstGeom>
          <a:noFill/>
        </p:spPr>
        <p:txBody>
          <a:bodyPr wrap="square" anchor="ctr">
            <a:spAutoFit/>
          </a:bodyPr>
          <a:lstStyle/>
          <a:p>
            <a:r>
              <a:rPr sz="1200" b="1">
                <a:solidFill>
                  <a:srgbClr val="0F172A"/>
                </a:solidFill>
              </a:rPr>
              <a:t>平面绕组</a:t>
            </a:r>
          </a:p>
        </p:txBody>
      </p:sp>
      <p:sp>
        <p:nvSpPr>
          <p:cNvPr id="16" name="TextBox 15"/>
          <p:cNvSpPr txBox="1"/>
          <p:nvPr/>
        </p:nvSpPr>
        <p:spPr>
          <a:xfrm>
            <a:off x="9992520" y="855472"/>
            <a:ext cx="1437174" cy="1097280"/>
          </a:xfrm>
          <a:prstGeom prst="rect">
            <a:avLst/>
          </a:prstGeom>
          <a:noFill/>
        </p:spPr>
        <p:txBody>
          <a:bodyPr wrap="square" anchor="ctr">
            <a:spAutoFit/>
          </a:bodyPr>
          <a:lstStyle/>
          <a:p>
            <a:r>
              <a:rPr sz="1200" b="1">
                <a:solidFill>
                  <a:srgbClr val="0F172A"/>
                </a:solidFill>
              </a:rPr>
              <a:t>分层绕组</a:t>
            </a:r>
          </a:p>
        </p:txBody>
      </p:sp>
      <p:sp>
        <p:nvSpPr>
          <p:cNvPr id="17" name="Rectangle 16"/>
          <p:cNvSpPr/>
          <p:nvPr/>
        </p:nvSpPr>
        <p:spPr>
          <a:xfrm>
            <a:off x="7118172" y="1934463"/>
            <a:ext cx="4311523" cy="25400"/>
          </a:xfrm>
          <a:prstGeom prst="rect">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18172" y="1952752"/>
            <a:ext cx="1437174" cy="1097280"/>
          </a:xfrm>
          <a:prstGeom prst="rect">
            <a:avLst/>
          </a:prstGeom>
          <a:noFill/>
        </p:spPr>
        <p:txBody>
          <a:bodyPr wrap="square" anchor="ctr">
            <a:spAutoFit/>
          </a:bodyPr>
          <a:lstStyle/>
          <a:p>
            <a:r>
              <a:rPr sz="1100">
                <a:solidFill>
                  <a:srgbClr val="0F172A"/>
                </a:solidFill>
              </a:rPr>
              <a:t>低</a:t>
            </a:r>
          </a:p>
        </p:txBody>
      </p:sp>
      <p:sp>
        <p:nvSpPr>
          <p:cNvPr id="19" name="TextBox 18"/>
          <p:cNvSpPr txBox="1"/>
          <p:nvPr/>
        </p:nvSpPr>
        <p:spPr>
          <a:xfrm>
            <a:off x="8555346" y="1952752"/>
            <a:ext cx="1437174" cy="1097280"/>
          </a:xfrm>
          <a:prstGeom prst="rect">
            <a:avLst/>
          </a:prstGeom>
          <a:noFill/>
        </p:spPr>
        <p:txBody>
          <a:bodyPr wrap="square" anchor="ctr">
            <a:spAutoFit/>
          </a:bodyPr>
          <a:lstStyle/>
          <a:p>
            <a:r>
              <a:rPr sz="1100">
                <a:solidFill>
                  <a:srgbClr val="0F172A"/>
                </a:solidFill>
              </a:rPr>
              <a:t>中</a:t>
            </a:r>
          </a:p>
        </p:txBody>
      </p:sp>
      <p:sp>
        <p:nvSpPr>
          <p:cNvPr id="20" name="Rectangle 19"/>
          <p:cNvSpPr/>
          <p:nvPr/>
        </p:nvSpPr>
        <p:spPr>
          <a:xfrm>
            <a:off x="7118172" y="3050032"/>
            <a:ext cx="4311523" cy="109728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18172" y="3050032"/>
            <a:ext cx="1437174" cy="1097280"/>
          </a:xfrm>
          <a:prstGeom prst="rect">
            <a:avLst/>
          </a:prstGeom>
          <a:noFill/>
        </p:spPr>
        <p:txBody>
          <a:bodyPr wrap="square" anchor="ctr">
            <a:spAutoFit/>
          </a:bodyPr>
          <a:lstStyle/>
          <a:p>
            <a:r>
              <a:rPr sz="1100">
                <a:solidFill>
                  <a:srgbClr val="0F172A"/>
                </a:solidFill>
              </a:rPr>
              <a:t>高</a:t>
            </a:r>
          </a:p>
        </p:txBody>
      </p:sp>
      <p:sp>
        <p:nvSpPr>
          <p:cNvPr id="22" name="TextBox 21"/>
          <p:cNvSpPr txBox="1"/>
          <p:nvPr/>
        </p:nvSpPr>
        <p:spPr>
          <a:xfrm>
            <a:off x="8555346" y="3050032"/>
            <a:ext cx="1437174" cy="1097280"/>
          </a:xfrm>
          <a:prstGeom prst="rect">
            <a:avLst/>
          </a:prstGeom>
          <a:noFill/>
        </p:spPr>
        <p:txBody>
          <a:bodyPr wrap="square" anchor="ctr">
            <a:spAutoFit/>
          </a:bodyPr>
          <a:lstStyle/>
          <a:p>
            <a:r>
              <a:rPr sz="1100">
                <a:solidFill>
                  <a:srgbClr val="0F172A"/>
                </a:solidFill>
              </a:rPr>
              <a:t>低</a:t>
            </a:r>
          </a:p>
        </p:txBody>
      </p:sp>
      <p:sp>
        <p:nvSpPr>
          <p:cNvPr id="23" name="Rectangle 22"/>
          <p:cNvSpPr/>
          <p:nvPr/>
        </p:nvSpPr>
        <p:spPr>
          <a:xfrm>
            <a:off x="0" y="6629400"/>
            <a:ext cx="12191695" cy="2286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2000" y="6656832"/>
            <a:ext cx="2743200" cy="173736"/>
          </a:xfrm>
          <a:prstGeom prst="rect">
            <a:avLst/>
          </a:prstGeom>
          <a:noFill/>
        </p:spPr>
        <p:txBody>
          <a:bodyPr wrap="none" anchor="ctr">
            <a:spAutoFit/>
          </a:bodyPr>
          <a:lstStyle/>
          <a:p>
            <a:r>
              <a:rPr sz="1000" b="1">
                <a:solidFill>
                  <a:srgbClr val="C8A951"/>
                </a:solidFill>
              </a:rPr>
              <a:t>技术概览</a:t>
            </a:r>
          </a:p>
        </p:txBody>
      </p:sp>
      <p:sp>
        <p:nvSpPr>
          <p:cNvPr id="25" name="Rectangle 24"/>
          <p:cNvSpPr/>
          <p:nvPr/>
        </p:nvSpPr>
        <p:spPr>
          <a:xfrm>
            <a:off x="4742535" y="6716268"/>
            <a:ext cx="420624" cy="54864"/>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199735" y="6716268"/>
            <a:ext cx="420624" cy="54864"/>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569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141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5713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0285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095" y="6656832"/>
            <a:ext cx="1371600" cy="173736"/>
          </a:xfrm>
          <a:prstGeom prst="rect">
            <a:avLst/>
          </a:prstGeom>
          <a:noFill/>
        </p:spPr>
        <p:txBody>
          <a:bodyPr wrap="none" anchor="ctr">
            <a:spAutoFit/>
          </a:bodyPr>
          <a:lstStyle/>
          <a:p>
            <a:pPr algn="r"/>
            <a:r>
              <a:rPr sz="1000">
                <a:solidFill>
                  <a:srgbClr val="6B7280"/>
                </a:solidFill>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3A70"/>
        </a:solidFill>
        <a:effectLst/>
      </p:bgPr>
    </p:bg>
    <p:spTree>
      <p:nvGrpSpPr>
        <p:cNvPr id="1" name=""/>
        <p:cNvGrpSpPr/>
        <p:nvPr/>
      </p:nvGrpSpPr>
      <p:grpSpPr/>
      <p:sp>
        <p:nvSpPr>
          <p:cNvPr id="2" name="TextBox 1"/>
          <p:cNvSpPr txBox="1"/>
          <p:nvPr/>
        </p:nvSpPr>
        <p:spPr>
          <a:xfrm>
            <a:off x="1676400" y="2194560"/>
            <a:ext cx="8838895" cy="914400"/>
          </a:xfrm>
          <a:prstGeom prst="rect">
            <a:avLst/>
          </a:prstGeom>
          <a:noFill/>
        </p:spPr>
        <p:txBody>
          <a:bodyPr wrap="square">
            <a:spAutoFit/>
          </a:bodyPr>
          <a:lstStyle/>
          <a:p>
            <a:pPr algn="ctr"/>
            <a:r>
              <a:rPr sz="2800" b="1">
                <a:solidFill>
                  <a:srgbClr val="FFFFFF"/>
                </a:solidFill>
                <a:latin typeface="Georgia"/>
              </a:rPr>
              <a:t>工程挑战（节）</a:t>
            </a:r>
          </a:p>
        </p:txBody>
      </p:sp>
      <p:sp>
        <p:nvSpPr>
          <p:cNvPr id="3" name="TextBox 2"/>
          <p:cNvSpPr txBox="1"/>
          <p:nvPr/>
        </p:nvSpPr>
        <p:spPr>
          <a:xfrm>
            <a:off x="2133600" y="3429000"/>
            <a:ext cx="7924495" cy="457200"/>
          </a:xfrm>
          <a:prstGeom prst="rect">
            <a:avLst/>
          </a:prstGeom>
          <a:noFill/>
        </p:spPr>
        <p:txBody>
          <a:bodyPr wrap="square">
            <a:spAutoFit/>
          </a:bodyPr>
          <a:lstStyle/>
          <a:p>
            <a:pPr algn="ctr"/>
            <a:r>
              <a:rPr sz="1600">
                <a:solidFill>
                  <a:srgbClr val="FFFFFF"/>
                </a:solidFill>
              </a:rPr>
              <a:t>本节覆盖：热管理、绝缘、EMC、制造与质量控制。</a:t>
            </a:r>
          </a:p>
        </p:txBody>
      </p:sp>
      <p:sp>
        <p:nvSpPr>
          <p:cNvPr id="4" name="Rectangle 3"/>
          <p:cNvSpPr/>
          <p:nvPr/>
        </p:nvSpPr>
        <p:spPr>
          <a:xfrm>
            <a:off x="4751679" y="4937759"/>
            <a:ext cx="402336" cy="731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208879" y="4937759"/>
            <a:ext cx="402336" cy="731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6079" y="4937759"/>
            <a:ext cx="402336" cy="731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123279" y="4937759"/>
            <a:ext cx="402336" cy="7315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0479" y="4937759"/>
            <a:ext cx="402336" cy="7315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037679" y="4937759"/>
            <a:ext cx="402336" cy="7315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0858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54864"/>
            <a:ext cx="3657600" cy="201168"/>
          </a:xfrm>
          <a:prstGeom prst="rect">
            <a:avLst/>
          </a:prstGeom>
          <a:noFill/>
        </p:spPr>
        <p:txBody>
          <a:bodyPr wrap="none">
            <a:spAutoFit/>
          </a:bodyPr>
          <a:lstStyle/>
          <a:p>
            <a:r>
              <a:rPr sz="1000" b="1">
                <a:solidFill>
                  <a:srgbClr val="FFFFFF"/>
                </a:solidFill>
                <a:latin typeface="Georgia"/>
              </a:rPr>
              <a:t>Section C · 工程挑战与解决方案</a:t>
            </a:r>
          </a:p>
        </p:txBody>
      </p:sp>
      <p:sp>
        <p:nvSpPr>
          <p:cNvPr id="4" name="TextBox 3"/>
          <p:cNvSpPr txBox="1"/>
          <p:nvPr/>
        </p:nvSpPr>
        <p:spPr>
          <a:xfrm>
            <a:off x="762000" y="201168"/>
            <a:ext cx="9753295" cy="361696"/>
          </a:xfrm>
          <a:prstGeom prst="rect">
            <a:avLst/>
          </a:prstGeom>
          <a:noFill/>
        </p:spPr>
        <p:txBody>
          <a:bodyPr wrap="square">
            <a:spAutoFit/>
          </a:bodyPr>
          <a:lstStyle/>
          <a:p>
            <a:r>
              <a:rPr sz="2200" b="1">
                <a:solidFill>
                  <a:srgbClr val="FFFFFF"/>
                </a:solidFill>
                <a:latin typeface="Georgia"/>
              </a:rPr>
              <a:t>热管理策略</a:t>
            </a:r>
          </a:p>
        </p:txBody>
      </p:sp>
      <p:sp>
        <p:nvSpPr>
          <p:cNvPr id="5" name="TextBox 4"/>
          <p:cNvSpPr txBox="1"/>
          <p:nvPr/>
        </p:nvSpPr>
        <p:spPr>
          <a:xfrm>
            <a:off x="11277295" y="201168"/>
            <a:ext cx="640080" cy="320040"/>
          </a:xfrm>
          <a:prstGeom prst="rect">
            <a:avLst/>
          </a:prstGeom>
          <a:noFill/>
        </p:spPr>
        <p:txBody>
          <a:bodyPr wrap="none">
            <a:spAutoFit/>
          </a:bodyPr>
          <a:lstStyle/>
          <a:p>
            <a:pPr algn="r"/>
            <a:r>
              <a:rPr sz="1000" b="1">
                <a:solidFill>
                  <a:srgbClr val="FFFFFF"/>
                </a:solidFill>
                <a:latin typeface="Georgia"/>
              </a:rPr>
              <a:t>13</a:t>
            </a:r>
          </a:p>
        </p:txBody>
      </p:sp>
      <p:sp>
        <p:nvSpPr>
          <p:cNvPr id="6" name="Rounded Rectangle 5"/>
          <p:cNvSpPr/>
          <p:nvPr/>
        </p:nvSpPr>
        <p:spPr>
          <a:xfrm>
            <a:off x="762000" y="855472"/>
            <a:ext cx="1951084" cy="5545327"/>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1728" y="946912"/>
            <a:ext cx="1731628" cy="320040"/>
          </a:xfrm>
          <a:prstGeom prst="rect">
            <a:avLst/>
          </a:prstGeom>
          <a:noFill/>
        </p:spPr>
        <p:txBody>
          <a:bodyPr wrap="none">
            <a:spAutoFit/>
          </a:bodyPr>
          <a:lstStyle/>
          <a:p>
            <a:r>
              <a:rPr sz="1600" b="1">
                <a:solidFill>
                  <a:srgbClr val="0F172A"/>
                </a:solidFill>
                <a:latin typeface="Georgia"/>
              </a:rPr>
              <a:t>被动冷却</a:t>
            </a:r>
          </a:p>
        </p:txBody>
      </p:sp>
      <p:sp>
        <p:nvSpPr>
          <p:cNvPr id="8" name="Rectangle 7"/>
          <p:cNvSpPr/>
          <p:nvPr/>
        </p:nvSpPr>
        <p:spPr>
          <a:xfrm>
            <a:off x="871728" y="1294384"/>
            <a:ext cx="1731628" cy="18288"/>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1728" y="1358392"/>
            <a:ext cx="1731628" cy="4950967"/>
          </a:xfrm>
          <a:prstGeom prst="rect">
            <a:avLst/>
          </a:prstGeom>
          <a:noFill/>
        </p:spPr>
        <p:txBody>
          <a:bodyPr wrap="square">
            <a:spAutoFit/>
          </a:bodyPr>
          <a:lstStyle/>
          <a:p>
            <a:pPr>
              <a:lnSpc>
                <a:spcPct val="150000"/>
              </a:lnSpc>
            </a:pPr>
            <a:r>
              <a:rPr sz="1600">
                <a:solidFill>
                  <a:srgbClr val="0F172A"/>
                </a:solidFill>
              </a:rPr>
              <a:t>适用功率: 低功率
优点: 简洁、低成本
缺点: 散热能力有限</a:t>
            </a:r>
          </a:p>
        </p:txBody>
      </p:sp>
      <p:sp>
        <p:nvSpPr>
          <p:cNvPr id="10" name="Rounded Rectangle 9"/>
          <p:cNvSpPr/>
          <p:nvPr/>
        </p:nvSpPr>
        <p:spPr>
          <a:xfrm>
            <a:off x="2850244" y="855472"/>
            <a:ext cx="1951084" cy="5545327"/>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59972" y="946912"/>
            <a:ext cx="1731628" cy="320040"/>
          </a:xfrm>
          <a:prstGeom prst="rect">
            <a:avLst/>
          </a:prstGeom>
          <a:noFill/>
        </p:spPr>
        <p:txBody>
          <a:bodyPr wrap="none">
            <a:spAutoFit/>
          </a:bodyPr>
          <a:lstStyle/>
          <a:p>
            <a:r>
              <a:rPr sz="1600" b="1">
                <a:solidFill>
                  <a:srgbClr val="0F172A"/>
                </a:solidFill>
                <a:latin typeface="Georgia"/>
              </a:rPr>
              <a:t>风冷</a:t>
            </a:r>
          </a:p>
        </p:txBody>
      </p:sp>
      <p:sp>
        <p:nvSpPr>
          <p:cNvPr id="12" name="Rectangle 11"/>
          <p:cNvSpPr/>
          <p:nvPr/>
        </p:nvSpPr>
        <p:spPr>
          <a:xfrm>
            <a:off x="2959972" y="1294384"/>
            <a:ext cx="1731628" cy="18288"/>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59972" y="1358392"/>
            <a:ext cx="1731628" cy="4950967"/>
          </a:xfrm>
          <a:prstGeom prst="rect">
            <a:avLst/>
          </a:prstGeom>
          <a:noFill/>
        </p:spPr>
        <p:txBody>
          <a:bodyPr wrap="square">
            <a:spAutoFit/>
          </a:bodyPr>
          <a:lstStyle/>
          <a:p>
            <a:pPr>
              <a:lnSpc>
                <a:spcPct val="150000"/>
              </a:lnSpc>
            </a:pPr>
            <a:r>
              <a:rPr sz="1600">
                <a:solidFill>
                  <a:srgbClr val="0F172A"/>
                </a:solidFill>
              </a:rPr>
              <a:t>适用功率: 中功率
优点: 成本/复杂度中等
缺点: 噪声/维护</a:t>
            </a:r>
          </a:p>
        </p:txBody>
      </p:sp>
      <p:sp>
        <p:nvSpPr>
          <p:cNvPr id="14" name="Rounded Rectangle 13"/>
          <p:cNvSpPr/>
          <p:nvPr/>
        </p:nvSpPr>
        <p:spPr>
          <a:xfrm>
            <a:off x="4938488" y="855472"/>
            <a:ext cx="1951084" cy="5545327"/>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48216" y="946912"/>
            <a:ext cx="1731628" cy="320040"/>
          </a:xfrm>
          <a:prstGeom prst="rect">
            <a:avLst/>
          </a:prstGeom>
          <a:noFill/>
        </p:spPr>
        <p:txBody>
          <a:bodyPr wrap="none">
            <a:spAutoFit/>
          </a:bodyPr>
          <a:lstStyle/>
          <a:p>
            <a:r>
              <a:rPr sz="1600" b="1">
                <a:solidFill>
                  <a:srgbClr val="0F172A"/>
                </a:solidFill>
                <a:latin typeface="Georgia"/>
              </a:rPr>
              <a:t>液冷</a:t>
            </a:r>
          </a:p>
        </p:txBody>
      </p:sp>
      <p:sp>
        <p:nvSpPr>
          <p:cNvPr id="16" name="Rectangle 15"/>
          <p:cNvSpPr/>
          <p:nvPr/>
        </p:nvSpPr>
        <p:spPr>
          <a:xfrm>
            <a:off x="5048216" y="1294384"/>
            <a:ext cx="1731628" cy="18288"/>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48216" y="1358392"/>
            <a:ext cx="1731628" cy="4950967"/>
          </a:xfrm>
          <a:prstGeom prst="rect">
            <a:avLst/>
          </a:prstGeom>
          <a:noFill/>
        </p:spPr>
        <p:txBody>
          <a:bodyPr wrap="square">
            <a:spAutoFit/>
          </a:bodyPr>
          <a:lstStyle/>
          <a:p>
            <a:pPr>
              <a:lnSpc>
                <a:spcPct val="150000"/>
              </a:lnSpc>
            </a:pPr>
            <a:r>
              <a:rPr sz="1600">
                <a:solidFill>
                  <a:srgbClr val="0F172A"/>
                </a:solidFill>
              </a:rPr>
              <a:t>适用功率: 高功率
优点: 高效散热
缺点: 泄漏风险与维护复杂度</a:t>
            </a:r>
          </a:p>
        </p:txBody>
      </p:sp>
      <p:sp>
        <p:nvSpPr>
          <p:cNvPr id="18" name="TextBox 17"/>
          <p:cNvSpPr txBox="1"/>
          <p:nvPr/>
        </p:nvSpPr>
        <p:spPr>
          <a:xfrm>
            <a:off x="7118172" y="855472"/>
            <a:ext cx="1437174" cy="1097280"/>
          </a:xfrm>
          <a:prstGeom prst="rect">
            <a:avLst/>
          </a:prstGeom>
          <a:noFill/>
        </p:spPr>
        <p:txBody>
          <a:bodyPr wrap="square" anchor="ctr">
            <a:spAutoFit/>
          </a:bodyPr>
          <a:lstStyle/>
          <a:p>
            <a:r>
              <a:rPr sz="1200" b="1">
                <a:solidFill>
                  <a:srgbClr val="0F172A"/>
                </a:solidFill>
              </a:rPr>
              <a:t>被动冷却</a:t>
            </a:r>
          </a:p>
        </p:txBody>
      </p:sp>
      <p:sp>
        <p:nvSpPr>
          <p:cNvPr id="19" name="TextBox 18"/>
          <p:cNvSpPr txBox="1"/>
          <p:nvPr/>
        </p:nvSpPr>
        <p:spPr>
          <a:xfrm>
            <a:off x="8555346" y="855472"/>
            <a:ext cx="1437174" cy="1097280"/>
          </a:xfrm>
          <a:prstGeom prst="rect">
            <a:avLst/>
          </a:prstGeom>
          <a:noFill/>
        </p:spPr>
        <p:txBody>
          <a:bodyPr wrap="square" anchor="ctr">
            <a:spAutoFit/>
          </a:bodyPr>
          <a:lstStyle/>
          <a:p>
            <a:r>
              <a:rPr sz="1200" b="1">
                <a:solidFill>
                  <a:srgbClr val="0F172A"/>
                </a:solidFill>
              </a:rPr>
              <a:t>风冷</a:t>
            </a:r>
          </a:p>
        </p:txBody>
      </p:sp>
      <p:sp>
        <p:nvSpPr>
          <p:cNvPr id="20" name="TextBox 19"/>
          <p:cNvSpPr txBox="1"/>
          <p:nvPr/>
        </p:nvSpPr>
        <p:spPr>
          <a:xfrm>
            <a:off x="9992520" y="855472"/>
            <a:ext cx="1437174" cy="1097280"/>
          </a:xfrm>
          <a:prstGeom prst="rect">
            <a:avLst/>
          </a:prstGeom>
          <a:noFill/>
        </p:spPr>
        <p:txBody>
          <a:bodyPr wrap="square" anchor="ctr">
            <a:spAutoFit/>
          </a:bodyPr>
          <a:lstStyle/>
          <a:p>
            <a:r>
              <a:rPr sz="1200" b="1">
                <a:solidFill>
                  <a:srgbClr val="0F172A"/>
                </a:solidFill>
              </a:rPr>
              <a:t>液冷</a:t>
            </a:r>
          </a:p>
        </p:txBody>
      </p:sp>
      <p:sp>
        <p:nvSpPr>
          <p:cNvPr id="21" name="Rectangle 20"/>
          <p:cNvSpPr/>
          <p:nvPr/>
        </p:nvSpPr>
        <p:spPr>
          <a:xfrm>
            <a:off x="7118172" y="1934463"/>
            <a:ext cx="4311523" cy="25400"/>
          </a:xfrm>
          <a:prstGeom prst="rect">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18172" y="1952752"/>
            <a:ext cx="1437174" cy="1097280"/>
          </a:xfrm>
          <a:prstGeom prst="rect">
            <a:avLst/>
          </a:prstGeom>
          <a:noFill/>
        </p:spPr>
        <p:txBody>
          <a:bodyPr wrap="square" anchor="ctr">
            <a:spAutoFit/>
          </a:bodyPr>
          <a:lstStyle/>
          <a:p>
            <a:pPr algn="r"/>
            <a:r>
              <a:rPr sz="1100">
                <a:solidFill>
                  <a:srgbClr val="0F172A"/>
                </a:solidFill>
              </a:rPr>
              <a:t>10</a:t>
            </a:r>
          </a:p>
        </p:txBody>
      </p:sp>
      <p:sp>
        <p:nvSpPr>
          <p:cNvPr id="23" name="TextBox 22"/>
          <p:cNvSpPr txBox="1"/>
          <p:nvPr/>
        </p:nvSpPr>
        <p:spPr>
          <a:xfrm>
            <a:off x="8555346" y="1952752"/>
            <a:ext cx="1437174" cy="1097280"/>
          </a:xfrm>
          <a:prstGeom prst="rect">
            <a:avLst/>
          </a:prstGeom>
          <a:noFill/>
        </p:spPr>
        <p:txBody>
          <a:bodyPr wrap="square" anchor="ctr">
            <a:spAutoFit/>
          </a:bodyPr>
          <a:lstStyle/>
          <a:p>
            <a:pPr algn="r"/>
            <a:r>
              <a:rPr sz="1100">
                <a:solidFill>
                  <a:srgbClr val="0F172A"/>
                </a:solidFill>
              </a:rPr>
              <a:t>50</a:t>
            </a:r>
          </a:p>
        </p:txBody>
      </p:sp>
      <p:sp>
        <p:nvSpPr>
          <p:cNvPr id="24" name="TextBox 23"/>
          <p:cNvSpPr txBox="1"/>
          <p:nvPr/>
        </p:nvSpPr>
        <p:spPr>
          <a:xfrm>
            <a:off x="9992520" y="1952752"/>
            <a:ext cx="1437174" cy="1097280"/>
          </a:xfrm>
          <a:prstGeom prst="rect">
            <a:avLst/>
          </a:prstGeom>
          <a:noFill/>
        </p:spPr>
        <p:txBody>
          <a:bodyPr wrap="square" anchor="ctr">
            <a:spAutoFit/>
          </a:bodyPr>
          <a:lstStyle/>
          <a:p>
            <a:pPr algn="r"/>
            <a:r>
              <a:rPr sz="1100">
                <a:solidFill>
                  <a:srgbClr val="0F172A"/>
                </a:solidFill>
              </a:rPr>
              <a:t>150</a:t>
            </a:r>
          </a:p>
        </p:txBody>
      </p:sp>
      <p:sp>
        <p:nvSpPr>
          <p:cNvPr id="25" name="Rectangle 24"/>
          <p:cNvSpPr/>
          <p:nvPr/>
        </p:nvSpPr>
        <p:spPr>
          <a:xfrm>
            <a:off x="7118172" y="3050032"/>
            <a:ext cx="4311523" cy="109728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18172" y="3050032"/>
            <a:ext cx="1437174" cy="1097280"/>
          </a:xfrm>
          <a:prstGeom prst="rect">
            <a:avLst/>
          </a:prstGeom>
          <a:noFill/>
        </p:spPr>
        <p:txBody>
          <a:bodyPr wrap="square" anchor="ctr">
            <a:spAutoFit/>
          </a:bodyPr>
          <a:lstStyle/>
          <a:p>
            <a:pPr algn="r"/>
            <a:r>
              <a:rPr sz="1100">
                <a:solidFill>
                  <a:srgbClr val="0F172A"/>
                </a:solidFill>
              </a:rPr>
              <a:t>1.0</a:t>
            </a:r>
          </a:p>
        </p:txBody>
      </p:sp>
      <p:sp>
        <p:nvSpPr>
          <p:cNvPr id="27" name="TextBox 26"/>
          <p:cNvSpPr txBox="1"/>
          <p:nvPr/>
        </p:nvSpPr>
        <p:spPr>
          <a:xfrm>
            <a:off x="8555346" y="3050032"/>
            <a:ext cx="1437174" cy="1097280"/>
          </a:xfrm>
          <a:prstGeom prst="rect">
            <a:avLst/>
          </a:prstGeom>
          <a:noFill/>
        </p:spPr>
        <p:txBody>
          <a:bodyPr wrap="square" anchor="ctr">
            <a:spAutoFit/>
          </a:bodyPr>
          <a:lstStyle/>
          <a:p>
            <a:pPr algn="r"/>
            <a:r>
              <a:rPr sz="1100">
                <a:solidFill>
                  <a:srgbClr val="0F172A"/>
                </a:solidFill>
              </a:rPr>
              <a:t>1.5</a:t>
            </a:r>
          </a:p>
        </p:txBody>
      </p:sp>
      <p:sp>
        <p:nvSpPr>
          <p:cNvPr id="28" name="TextBox 27"/>
          <p:cNvSpPr txBox="1"/>
          <p:nvPr/>
        </p:nvSpPr>
        <p:spPr>
          <a:xfrm>
            <a:off x="9992520" y="3050032"/>
            <a:ext cx="1437174" cy="1097280"/>
          </a:xfrm>
          <a:prstGeom prst="rect">
            <a:avLst/>
          </a:prstGeom>
          <a:noFill/>
        </p:spPr>
        <p:txBody>
          <a:bodyPr wrap="square" anchor="ctr">
            <a:spAutoFit/>
          </a:bodyPr>
          <a:lstStyle/>
          <a:p>
            <a:pPr algn="r"/>
            <a:r>
              <a:rPr sz="1100">
                <a:solidFill>
                  <a:srgbClr val="0F172A"/>
                </a:solidFill>
              </a:rPr>
              <a:t>2.5</a:t>
            </a:r>
          </a:p>
        </p:txBody>
      </p:sp>
      <p:sp>
        <p:nvSpPr>
          <p:cNvPr id="29" name="Rectangle 28"/>
          <p:cNvSpPr/>
          <p:nvPr/>
        </p:nvSpPr>
        <p:spPr>
          <a:xfrm>
            <a:off x="0" y="6629400"/>
            <a:ext cx="12191695" cy="2286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2000" y="6656832"/>
            <a:ext cx="2743200" cy="173736"/>
          </a:xfrm>
          <a:prstGeom prst="rect">
            <a:avLst/>
          </a:prstGeom>
          <a:noFill/>
        </p:spPr>
        <p:txBody>
          <a:bodyPr wrap="none" anchor="ctr">
            <a:spAutoFit/>
          </a:bodyPr>
          <a:lstStyle/>
          <a:p>
            <a:r>
              <a:rPr sz="1000" b="1">
                <a:solidFill>
                  <a:srgbClr val="A78BFA"/>
                </a:solidFill>
              </a:rPr>
              <a:t>工程挑战与解决方案</a:t>
            </a:r>
          </a:p>
        </p:txBody>
      </p:sp>
      <p:sp>
        <p:nvSpPr>
          <p:cNvPr id="31" name="Rectangle 30"/>
          <p:cNvSpPr/>
          <p:nvPr/>
        </p:nvSpPr>
        <p:spPr>
          <a:xfrm>
            <a:off x="47425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1997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6569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141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713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285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58095" y="6656832"/>
            <a:ext cx="1371600" cy="173736"/>
          </a:xfrm>
          <a:prstGeom prst="rect">
            <a:avLst/>
          </a:prstGeom>
          <a:noFill/>
        </p:spPr>
        <p:txBody>
          <a:bodyPr wrap="none" anchor="ctr">
            <a:spAutoFit/>
          </a:bodyPr>
          <a:lstStyle/>
          <a:p>
            <a:pPr algn="r"/>
            <a:r>
              <a:rPr sz="1000">
                <a:solidFill>
                  <a:srgbClr val="6B7280"/>
                </a:solidFill>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0858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54864"/>
            <a:ext cx="3657600" cy="201168"/>
          </a:xfrm>
          <a:prstGeom prst="rect">
            <a:avLst/>
          </a:prstGeom>
          <a:noFill/>
        </p:spPr>
        <p:txBody>
          <a:bodyPr wrap="none">
            <a:spAutoFit/>
          </a:bodyPr>
          <a:lstStyle/>
          <a:p>
            <a:r>
              <a:rPr sz="1000" b="1">
                <a:solidFill>
                  <a:srgbClr val="FFFFFF"/>
                </a:solidFill>
                <a:latin typeface="Georgia"/>
              </a:rPr>
              <a:t>Section C · 工程挑战与解决方案</a:t>
            </a:r>
          </a:p>
        </p:txBody>
      </p:sp>
      <p:sp>
        <p:nvSpPr>
          <p:cNvPr id="4" name="TextBox 3"/>
          <p:cNvSpPr txBox="1"/>
          <p:nvPr/>
        </p:nvSpPr>
        <p:spPr>
          <a:xfrm>
            <a:off x="762000" y="201168"/>
            <a:ext cx="9753295" cy="361696"/>
          </a:xfrm>
          <a:prstGeom prst="rect">
            <a:avLst/>
          </a:prstGeom>
          <a:noFill/>
        </p:spPr>
        <p:txBody>
          <a:bodyPr wrap="square">
            <a:spAutoFit/>
          </a:bodyPr>
          <a:lstStyle/>
          <a:p>
            <a:r>
              <a:rPr sz="2200" b="1">
                <a:solidFill>
                  <a:srgbClr val="FFFFFF"/>
                </a:solidFill>
                <a:latin typeface="Georgia"/>
              </a:rPr>
              <a:t>绝缘与局放控制</a:t>
            </a:r>
          </a:p>
        </p:txBody>
      </p:sp>
      <p:sp>
        <p:nvSpPr>
          <p:cNvPr id="5" name="TextBox 4"/>
          <p:cNvSpPr txBox="1"/>
          <p:nvPr/>
        </p:nvSpPr>
        <p:spPr>
          <a:xfrm>
            <a:off x="11277295" y="201168"/>
            <a:ext cx="640080" cy="320040"/>
          </a:xfrm>
          <a:prstGeom prst="rect">
            <a:avLst/>
          </a:prstGeom>
          <a:noFill/>
        </p:spPr>
        <p:txBody>
          <a:bodyPr wrap="none">
            <a:spAutoFit/>
          </a:bodyPr>
          <a:lstStyle/>
          <a:p>
            <a:pPr algn="r"/>
            <a:r>
              <a:rPr sz="1000" b="1">
                <a:solidFill>
                  <a:srgbClr val="FFFFFF"/>
                </a:solidFill>
                <a:latin typeface="Georgia"/>
              </a:rPr>
              <a:t>14</a:t>
            </a:r>
          </a:p>
        </p:txBody>
      </p:sp>
      <p:sp>
        <p:nvSpPr>
          <p:cNvPr id="6" name="TextBox 5"/>
          <p:cNvSpPr txBox="1"/>
          <p:nvPr/>
        </p:nvSpPr>
        <p:spPr>
          <a:xfrm>
            <a:off x="853440" y="3326384"/>
            <a:ext cx="10484815" cy="411480"/>
          </a:xfrm>
          <a:prstGeom prst="rect">
            <a:avLst/>
          </a:prstGeom>
          <a:noFill/>
        </p:spPr>
        <p:txBody>
          <a:bodyPr wrap="square">
            <a:spAutoFit/>
          </a:bodyPr>
          <a:lstStyle/>
          <a:p>
            <a:pPr>
              <a:lnSpc>
                <a:spcPct val="150000"/>
              </a:lnSpc>
            </a:pPr>
            <a:r>
              <a:rPr sz="1400">
                <a:solidFill>
                  <a:srgbClr val="0F172A"/>
                </a:solidFill>
              </a:rPr>
              <a:t>• 局放检测、老化試驗與制造工艺控制</a:t>
            </a:r>
          </a:p>
        </p:txBody>
      </p:sp>
      <p:sp>
        <p:nvSpPr>
          <p:cNvPr id="7" name="TextBox 6"/>
          <p:cNvSpPr txBox="1"/>
          <p:nvPr/>
        </p:nvSpPr>
        <p:spPr>
          <a:xfrm>
            <a:off x="853440" y="3765296"/>
            <a:ext cx="10484815" cy="411480"/>
          </a:xfrm>
          <a:prstGeom prst="rect">
            <a:avLst/>
          </a:prstGeom>
          <a:noFill/>
        </p:spPr>
        <p:txBody>
          <a:bodyPr wrap="square">
            <a:spAutoFit/>
          </a:bodyPr>
          <a:lstStyle/>
          <a:p>
            <a:pPr>
              <a:lnSpc>
                <a:spcPct val="150000"/>
              </a:lnSpc>
            </a:pPr>
            <a:r>
              <a:rPr sz="1400">
                <a:solidFill>
                  <a:srgbClr val="0F172A"/>
                </a:solidFill>
              </a:rPr>
              <a:t>• 将 PD/老化试验列为样机放行条件并指定互比实验室</a:t>
            </a:r>
          </a:p>
        </p:txBody>
      </p:sp>
      <p:sp>
        <p:nvSpPr>
          <p:cNvPr id="8" name="Rectangle 7"/>
          <p:cNvSpPr/>
          <p:nvPr/>
        </p:nvSpPr>
        <p:spPr>
          <a:xfrm>
            <a:off x="0" y="6629400"/>
            <a:ext cx="12191695" cy="2286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000" y="6656832"/>
            <a:ext cx="2743200" cy="173736"/>
          </a:xfrm>
          <a:prstGeom prst="rect">
            <a:avLst/>
          </a:prstGeom>
          <a:noFill/>
        </p:spPr>
        <p:txBody>
          <a:bodyPr wrap="none" anchor="ctr">
            <a:spAutoFit/>
          </a:bodyPr>
          <a:lstStyle/>
          <a:p>
            <a:r>
              <a:rPr sz="1000" b="1">
                <a:solidFill>
                  <a:srgbClr val="A78BFA"/>
                </a:solidFill>
              </a:rPr>
              <a:t>工程挑战与解决方案</a:t>
            </a:r>
          </a:p>
        </p:txBody>
      </p:sp>
      <p:sp>
        <p:nvSpPr>
          <p:cNvPr id="10" name="Rectangle 9"/>
          <p:cNvSpPr/>
          <p:nvPr/>
        </p:nvSpPr>
        <p:spPr>
          <a:xfrm>
            <a:off x="47425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1997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569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141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713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0285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095" y="6656832"/>
            <a:ext cx="1371600" cy="173736"/>
          </a:xfrm>
          <a:prstGeom prst="rect">
            <a:avLst/>
          </a:prstGeom>
          <a:noFill/>
        </p:spPr>
        <p:txBody>
          <a:bodyPr wrap="none" anchor="ctr">
            <a:spAutoFit/>
          </a:bodyPr>
          <a:lstStyle/>
          <a:p>
            <a:pPr algn="r"/>
            <a:r>
              <a:rPr sz="1000">
                <a:solidFill>
                  <a:srgbClr val="6B7280"/>
                </a:solidFill>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0858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54864"/>
            <a:ext cx="3657600" cy="201168"/>
          </a:xfrm>
          <a:prstGeom prst="rect">
            <a:avLst/>
          </a:prstGeom>
          <a:noFill/>
        </p:spPr>
        <p:txBody>
          <a:bodyPr wrap="none">
            <a:spAutoFit/>
          </a:bodyPr>
          <a:lstStyle/>
          <a:p>
            <a:r>
              <a:rPr sz="1000" b="1">
                <a:solidFill>
                  <a:srgbClr val="FFFFFF"/>
                </a:solidFill>
                <a:latin typeface="Georgia"/>
              </a:rPr>
              <a:t>Section C · 工程挑战与解决方案</a:t>
            </a:r>
          </a:p>
        </p:txBody>
      </p:sp>
      <p:sp>
        <p:nvSpPr>
          <p:cNvPr id="4" name="TextBox 3"/>
          <p:cNvSpPr txBox="1"/>
          <p:nvPr/>
        </p:nvSpPr>
        <p:spPr>
          <a:xfrm>
            <a:off x="762000" y="201168"/>
            <a:ext cx="9753295" cy="361696"/>
          </a:xfrm>
          <a:prstGeom prst="rect">
            <a:avLst/>
          </a:prstGeom>
          <a:noFill/>
        </p:spPr>
        <p:txBody>
          <a:bodyPr wrap="square">
            <a:spAutoFit/>
          </a:bodyPr>
          <a:lstStyle/>
          <a:p>
            <a:r>
              <a:rPr sz="2200" b="1">
                <a:solidFill>
                  <a:srgbClr val="FFFFFF"/>
                </a:solidFill>
                <a:latin typeface="Georgia"/>
              </a:rPr>
              <a:t>EMC 与杂散电容控制</a:t>
            </a:r>
          </a:p>
        </p:txBody>
      </p:sp>
      <p:sp>
        <p:nvSpPr>
          <p:cNvPr id="5" name="TextBox 4"/>
          <p:cNvSpPr txBox="1"/>
          <p:nvPr/>
        </p:nvSpPr>
        <p:spPr>
          <a:xfrm>
            <a:off x="11277295" y="201168"/>
            <a:ext cx="640080" cy="320040"/>
          </a:xfrm>
          <a:prstGeom prst="rect">
            <a:avLst/>
          </a:prstGeom>
          <a:noFill/>
        </p:spPr>
        <p:txBody>
          <a:bodyPr wrap="none">
            <a:spAutoFit/>
          </a:bodyPr>
          <a:lstStyle/>
          <a:p>
            <a:pPr algn="r"/>
            <a:r>
              <a:rPr sz="1000" b="1">
                <a:solidFill>
                  <a:srgbClr val="FFFFFF"/>
                </a:solidFill>
                <a:latin typeface="Georgia"/>
              </a:rPr>
              <a:t>15</a:t>
            </a:r>
          </a:p>
        </p:txBody>
      </p:sp>
      <p:sp>
        <p:nvSpPr>
          <p:cNvPr id="6" name="TextBox 5"/>
          <p:cNvSpPr txBox="1"/>
          <p:nvPr/>
        </p:nvSpPr>
        <p:spPr>
          <a:xfrm>
            <a:off x="853440" y="3326384"/>
            <a:ext cx="10484815" cy="411480"/>
          </a:xfrm>
          <a:prstGeom prst="rect">
            <a:avLst/>
          </a:prstGeom>
          <a:noFill/>
        </p:spPr>
        <p:txBody>
          <a:bodyPr wrap="square">
            <a:spAutoFit/>
          </a:bodyPr>
          <a:lstStyle/>
          <a:p>
            <a:pPr>
              <a:lnSpc>
                <a:spcPct val="150000"/>
              </a:lnSpc>
            </a:pPr>
            <a:r>
              <a:rPr sz="1400">
                <a:solidFill>
                  <a:srgbClr val="0F172A"/>
                </a:solidFill>
              </a:rPr>
              <a:t>• 设计措施：布线、屏蔽、接地与输出滤波</a:t>
            </a:r>
          </a:p>
        </p:txBody>
      </p:sp>
      <p:sp>
        <p:nvSpPr>
          <p:cNvPr id="7" name="TextBox 6"/>
          <p:cNvSpPr txBox="1"/>
          <p:nvPr/>
        </p:nvSpPr>
        <p:spPr>
          <a:xfrm>
            <a:off x="853440" y="3765296"/>
            <a:ext cx="10484815" cy="411480"/>
          </a:xfrm>
          <a:prstGeom prst="rect">
            <a:avLst/>
          </a:prstGeom>
          <a:noFill/>
        </p:spPr>
        <p:txBody>
          <a:bodyPr wrap="square">
            <a:spAutoFit/>
          </a:bodyPr>
          <a:lstStyle/>
          <a:p>
            <a:pPr>
              <a:lnSpc>
                <a:spcPct val="150000"/>
              </a:lnSpc>
            </a:pPr>
            <a:r>
              <a:rPr sz="1400">
                <a:solidFill>
                  <a:srgbClr val="0F172A"/>
                </a:solidFill>
              </a:rPr>
              <a:t>• 合规路径：早期预检测与整改循环</a:t>
            </a:r>
          </a:p>
        </p:txBody>
      </p:sp>
      <p:sp>
        <p:nvSpPr>
          <p:cNvPr id="8" name="Rectangle 7"/>
          <p:cNvSpPr/>
          <p:nvPr/>
        </p:nvSpPr>
        <p:spPr>
          <a:xfrm>
            <a:off x="0" y="6629400"/>
            <a:ext cx="12191695" cy="2286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000" y="6656832"/>
            <a:ext cx="2743200" cy="173736"/>
          </a:xfrm>
          <a:prstGeom prst="rect">
            <a:avLst/>
          </a:prstGeom>
          <a:noFill/>
        </p:spPr>
        <p:txBody>
          <a:bodyPr wrap="none" anchor="ctr">
            <a:spAutoFit/>
          </a:bodyPr>
          <a:lstStyle/>
          <a:p>
            <a:r>
              <a:rPr sz="1000" b="1">
                <a:solidFill>
                  <a:srgbClr val="A78BFA"/>
                </a:solidFill>
              </a:rPr>
              <a:t>工程挑战与解决方案</a:t>
            </a:r>
          </a:p>
        </p:txBody>
      </p:sp>
      <p:sp>
        <p:nvSpPr>
          <p:cNvPr id="10" name="Rectangle 9"/>
          <p:cNvSpPr/>
          <p:nvPr/>
        </p:nvSpPr>
        <p:spPr>
          <a:xfrm>
            <a:off x="47425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1997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569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141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713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0285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095" y="6656832"/>
            <a:ext cx="1371600" cy="173736"/>
          </a:xfrm>
          <a:prstGeom prst="rect">
            <a:avLst/>
          </a:prstGeom>
          <a:noFill/>
        </p:spPr>
        <p:txBody>
          <a:bodyPr wrap="none" anchor="ctr">
            <a:spAutoFit/>
          </a:bodyPr>
          <a:lstStyle/>
          <a:p>
            <a:pPr algn="r"/>
            <a:r>
              <a:rPr sz="1000">
                <a:solidFill>
                  <a:srgbClr val="6B7280"/>
                </a:solidFill>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0858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54864"/>
            <a:ext cx="3657600" cy="201168"/>
          </a:xfrm>
          <a:prstGeom prst="rect">
            <a:avLst/>
          </a:prstGeom>
          <a:noFill/>
        </p:spPr>
        <p:txBody>
          <a:bodyPr wrap="none">
            <a:spAutoFit/>
          </a:bodyPr>
          <a:lstStyle/>
          <a:p>
            <a:r>
              <a:rPr sz="1000" b="1">
                <a:solidFill>
                  <a:srgbClr val="FFFFFF"/>
                </a:solidFill>
                <a:latin typeface="Georgia"/>
              </a:rPr>
              <a:t>Section C · 工程挑战与解决方案</a:t>
            </a:r>
          </a:p>
        </p:txBody>
      </p:sp>
      <p:sp>
        <p:nvSpPr>
          <p:cNvPr id="4" name="TextBox 3"/>
          <p:cNvSpPr txBox="1"/>
          <p:nvPr/>
        </p:nvSpPr>
        <p:spPr>
          <a:xfrm>
            <a:off x="762000" y="201168"/>
            <a:ext cx="9753295" cy="361696"/>
          </a:xfrm>
          <a:prstGeom prst="rect">
            <a:avLst/>
          </a:prstGeom>
          <a:noFill/>
        </p:spPr>
        <p:txBody>
          <a:bodyPr wrap="square">
            <a:spAutoFit/>
          </a:bodyPr>
          <a:lstStyle/>
          <a:p>
            <a:r>
              <a:rPr sz="2200" b="1">
                <a:solidFill>
                  <a:srgbClr val="FFFFFF"/>
                </a:solidFill>
                <a:latin typeface="Georgia"/>
              </a:rPr>
              <a:t>制造及质量一致性</a:t>
            </a:r>
          </a:p>
        </p:txBody>
      </p:sp>
      <p:sp>
        <p:nvSpPr>
          <p:cNvPr id="5" name="TextBox 4"/>
          <p:cNvSpPr txBox="1"/>
          <p:nvPr/>
        </p:nvSpPr>
        <p:spPr>
          <a:xfrm>
            <a:off x="11277295" y="201168"/>
            <a:ext cx="640080" cy="320040"/>
          </a:xfrm>
          <a:prstGeom prst="rect">
            <a:avLst/>
          </a:prstGeom>
          <a:noFill/>
        </p:spPr>
        <p:txBody>
          <a:bodyPr wrap="none">
            <a:spAutoFit/>
          </a:bodyPr>
          <a:lstStyle/>
          <a:p>
            <a:pPr algn="r"/>
            <a:r>
              <a:rPr sz="1000" b="1">
                <a:solidFill>
                  <a:srgbClr val="FFFFFF"/>
                </a:solidFill>
                <a:latin typeface="Georgia"/>
              </a:rPr>
              <a:t>16</a:t>
            </a:r>
          </a:p>
        </p:txBody>
      </p:sp>
      <p:sp>
        <p:nvSpPr>
          <p:cNvPr id="6" name="Rounded Rectangle 5"/>
          <p:cNvSpPr/>
          <p:nvPr/>
        </p:nvSpPr>
        <p:spPr>
          <a:xfrm>
            <a:off x="762000" y="3042919"/>
            <a:ext cx="2541193" cy="777240"/>
          </a:xfrm>
          <a:prstGeom prst="round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1728" y="3134360"/>
            <a:ext cx="2321737" cy="365760"/>
          </a:xfrm>
          <a:prstGeom prst="rect">
            <a:avLst/>
          </a:prstGeom>
          <a:noFill/>
        </p:spPr>
        <p:txBody>
          <a:bodyPr wrap="none">
            <a:spAutoFit/>
          </a:bodyPr>
          <a:lstStyle/>
          <a:p>
            <a:r>
              <a:rPr sz="2000" b="1">
                <a:solidFill>
                  <a:srgbClr val="0F172A"/>
                </a:solidFill>
                <a:latin typeface="Georgia"/>
              </a:rPr>
              <a:t>&gt;= 90%</a:t>
            </a:r>
          </a:p>
        </p:txBody>
      </p:sp>
      <p:sp>
        <p:nvSpPr>
          <p:cNvPr id="8" name="TextBox 7"/>
          <p:cNvSpPr txBox="1"/>
          <p:nvPr/>
        </p:nvSpPr>
        <p:spPr>
          <a:xfrm>
            <a:off x="871728" y="3518407"/>
            <a:ext cx="2321737" cy="228600"/>
          </a:xfrm>
          <a:prstGeom prst="rect">
            <a:avLst/>
          </a:prstGeom>
          <a:noFill/>
        </p:spPr>
        <p:txBody>
          <a:bodyPr wrap="none">
            <a:spAutoFit/>
          </a:bodyPr>
          <a:lstStyle/>
          <a:p>
            <a:r>
              <a:rPr sz="1100">
                <a:solidFill>
                  <a:srgbClr val="0F172A"/>
                </a:solidFill>
              </a:rPr>
              <a:t>首批试产一次放行率 (FPY)</a:t>
            </a:r>
          </a:p>
        </p:txBody>
      </p:sp>
      <p:sp>
        <p:nvSpPr>
          <p:cNvPr id="9" name="Rounded Rectangle 8"/>
          <p:cNvSpPr/>
          <p:nvPr/>
        </p:nvSpPr>
        <p:spPr>
          <a:xfrm>
            <a:off x="3440353" y="3042919"/>
            <a:ext cx="2541193" cy="777240"/>
          </a:xfrm>
          <a:prstGeom prst="round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50081" y="3134360"/>
            <a:ext cx="2321737" cy="365760"/>
          </a:xfrm>
          <a:prstGeom prst="rect">
            <a:avLst/>
          </a:prstGeom>
          <a:noFill/>
        </p:spPr>
        <p:txBody>
          <a:bodyPr wrap="none">
            <a:spAutoFit/>
          </a:bodyPr>
          <a:lstStyle/>
          <a:p>
            <a:r>
              <a:rPr sz="2000" b="1">
                <a:solidFill>
                  <a:srgbClr val="0F172A"/>
                </a:solidFill>
                <a:latin typeface="Georgia"/>
              </a:rPr>
              <a:t>&gt;= 1.33</a:t>
            </a:r>
          </a:p>
        </p:txBody>
      </p:sp>
      <p:sp>
        <p:nvSpPr>
          <p:cNvPr id="11" name="TextBox 10"/>
          <p:cNvSpPr txBox="1"/>
          <p:nvPr/>
        </p:nvSpPr>
        <p:spPr>
          <a:xfrm>
            <a:off x="3550081" y="3518407"/>
            <a:ext cx="2321737" cy="228600"/>
          </a:xfrm>
          <a:prstGeom prst="rect">
            <a:avLst/>
          </a:prstGeom>
          <a:noFill/>
        </p:spPr>
        <p:txBody>
          <a:bodyPr wrap="none">
            <a:spAutoFit/>
          </a:bodyPr>
          <a:lstStyle/>
          <a:p>
            <a:r>
              <a:rPr sz="1100">
                <a:solidFill>
                  <a:srgbClr val="0F172A"/>
                </a:solidFill>
              </a:rPr>
              <a:t>关键制造参数 Cpk</a:t>
            </a:r>
          </a:p>
        </p:txBody>
      </p:sp>
      <p:sp>
        <p:nvSpPr>
          <p:cNvPr id="12" name="TextBox 11"/>
          <p:cNvSpPr txBox="1"/>
          <p:nvPr/>
        </p:nvSpPr>
        <p:spPr>
          <a:xfrm>
            <a:off x="807720" y="3957319"/>
            <a:ext cx="5128107" cy="411480"/>
          </a:xfrm>
          <a:prstGeom prst="rect">
            <a:avLst/>
          </a:prstGeom>
          <a:noFill/>
        </p:spPr>
        <p:txBody>
          <a:bodyPr wrap="square">
            <a:spAutoFit/>
          </a:bodyPr>
          <a:lstStyle/>
          <a:p>
            <a:pPr>
              <a:lnSpc>
                <a:spcPct val="150000"/>
              </a:lnSpc>
            </a:pPr>
            <a:r>
              <a:rPr sz="1400">
                <a:solidFill>
                  <a:srgbClr val="0F172A"/>
                </a:solidFill>
              </a:rPr>
              <a:t>• 关键 SPC 点：绕组、浸漆、固化、装配</a:t>
            </a:r>
          </a:p>
        </p:txBody>
      </p:sp>
      <p:sp>
        <p:nvSpPr>
          <p:cNvPr id="13" name="Rounded Rectangle 12"/>
          <p:cNvSpPr/>
          <p:nvPr/>
        </p:nvSpPr>
        <p:spPr>
          <a:xfrm>
            <a:off x="6210147" y="809752"/>
            <a:ext cx="5219547" cy="3200400"/>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3027" y="1266952"/>
            <a:ext cx="4853787" cy="2286000"/>
          </a:xfrm>
          <a:prstGeom prst="rect">
            <a:avLst/>
          </a:prstGeom>
          <a:noFill/>
        </p:spPr>
        <p:txBody>
          <a:bodyPr wrap="square">
            <a:spAutoFit/>
          </a:bodyPr>
          <a:lstStyle/>
          <a:p>
            <a:r>
              <a:rPr sz="1100">
                <a:solidFill>
                  <a:srgbClr val="D1D5DB"/>
                </a:solidFill>
                <a:latin typeface="Georgia"/>
              </a:rPr>
              <a:t>flowchart TD
  Start[开始] --&gt; Wind[绕组制造]
  Wind --&gt; Check1{SPC 检查&lt;br/&gt;尺寸公差}
  Check1 --&gt;|Pass| Varnish[浸漆处理]
  Check1 --&gt;|Fail| Rework1[返工]</a:t>
            </a:r>
          </a:p>
        </p:txBody>
      </p:sp>
      <p:sp>
        <p:nvSpPr>
          <p:cNvPr id="15" name="Rectangle 14"/>
          <p:cNvSpPr/>
          <p:nvPr/>
        </p:nvSpPr>
        <p:spPr>
          <a:xfrm>
            <a:off x="0" y="6629400"/>
            <a:ext cx="12191695" cy="2286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2000" y="6656832"/>
            <a:ext cx="2743200" cy="173736"/>
          </a:xfrm>
          <a:prstGeom prst="rect">
            <a:avLst/>
          </a:prstGeom>
          <a:noFill/>
        </p:spPr>
        <p:txBody>
          <a:bodyPr wrap="none" anchor="ctr">
            <a:spAutoFit/>
          </a:bodyPr>
          <a:lstStyle/>
          <a:p>
            <a:r>
              <a:rPr sz="1000" b="1">
                <a:solidFill>
                  <a:srgbClr val="A78BFA"/>
                </a:solidFill>
              </a:rPr>
              <a:t>工程挑战与解决方案</a:t>
            </a:r>
          </a:p>
        </p:txBody>
      </p:sp>
      <p:sp>
        <p:nvSpPr>
          <p:cNvPr id="17" name="Rectangle 16"/>
          <p:cNvSpPr/>
          <p:nvPr/>
        </p:nvSpPr>
        <p:spPr>
          <a:xfrm>
            <a:off x="47425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997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569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141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713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0285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095" y="6656832"/>
            <a:ext cx="1371600" cy="173736"/>
          </a:xfrm>
          <a:prstGeom prst="rect">
            <a:avLst/>
          </a:prstGeom>
          <a:noFill/>
        </p:spPr>
        <p:txBody>
          <a:bodyPr wrap="none" anchor="ctr">
            <a:spAutoFit/>
          </a:bodyPr>
          <a:lstStyle/>
          <a:p>
            <a:pPr algn="r"/>
            <a:r>
              <a:rPr sz="1000">
                <a:solidFill>
                  <a:srgbClr val="6B7280"/>
                </a:solidFill>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3A70"/>
        </a:solidFill>
        <a:effectLst/>
      </p:bgPr>
    </p:bg>
    <p:spTree>
      <p:nvGrpSpPr>
        <p:cNvPr id="1" name=""/>
        <p:cNvGrpSpPr/>
        <p:nvPr/>
      </p:nvGrpSpPr>
      <p:grpSpPr/>
      <p:sp>
        <p:nvSpPr>
          <p:cNvPr id="2" name="TextBox 1"/>
          <p:cNvSpPr txBox="1"/>
          <p:nvPr/>
        </p:nvSpPr>
        <p:spPr>
          <a:xfrm>
            <a:off x="1676400" y="2194560"/>
            <a:ext cx="8838895" cy="914400"/>
          </a:xfrm>
          <a:prstGeom prst="rect">
            <a:avLst/>
          </a:prstGeom>
          <a:noFill/>
        </p:spPr>
        <p:txBody>
          <a:bodyPr wrap="square">
            <a:spAutoFit/>
          </a:bodyPr>
          <a:lstStyle/>
          <a:p>
            <a:pPr algn="ctr"/>
            <a:r>
              <a:rPr sz="2800" b="1">
                <a:solidFill>
                  <a:srgbClr val="FFFFFF"/>
                </a:solidFill>
                <a:latin typeface="Georgia"/>
              </a:rPr>
              <a:t>示范与证据（节）</a:t>
            </a:r>
          </a:p>
        </p:txBody>
      </p:sp>
      <p:sp>
        <p:nvSpPr>
          <p:cNvPr id="3" name="TextBox 2"/>
          <p:cNvSpPr txBox="1"/>
          <p:nvPr/>
        </p:nvSpPr>
        <p:spPr>
          <a:xfrm>
            <a:off x="2133600" y="3429000"/>
            <a:ext cx="7924495" cy="457200"/>
          </a:xfrm>
          <a:prstGeom prst="rect">
            <a:avLst/>
          </a:prstGeom>
          <a:noFill/>
        </p:spPr>
        <p:txBody>
          <a:bodyPr wrap="square">
            <a:spAutoFit/>
          </a:bodyPr>
          <a:lstStyle/>
          <a:p>
            <a:pPr algn="ctr"/>
            <a:r>
              <a:rPr sz="1600">
                <a:solidFill>
                  <a:srgbClr val="FFFFFF"/>
                </a:solidFill>
              </a:rPr>
              <a:t>本节覆盖：示范案例、仿真—样机—现场闭环与 KPI 数据策略。</a:t>
            </a:r>
          </a:p>
        </p:txBody>
      </p:sp>
      <p:sp>
        <p:nvSpPr>
          <p:cNvPr id="4" name="Rectangle 3"/>
          <p:cNvSpPr/>
          <p:nvPr/>
        </p:nvSpPr>
        <p:spPr>
          <a:xfrm>
            <a:off x="4751679" y="4937759"/>
            <a:ext cx="402336" cy="731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208879" y="4937759"/>
            <a:ext cx="402336" cy="731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6079" y="4937759"/>
            <a:ext cx="402336" cy="731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123279" y="4937759"/>
            <a:ext cx="402336" cy="731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0479" y="4937759"/>
            <a:ext cx="402336" cy="7315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037679" y="4937759"/>
            <a:ext cx="402336" cy="7315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08584"/>
          </a:xfrm>
          <a:prstGeom prst="rect">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54864"/>
            <a:ext cx="3657600" cy="201168"/>
          </a:xfrm>
          <a:prstGeom prst="rect">
            <a:avLst/>
          </a:prstGeom>
          <a:noFill/>
        </p:spPr>
        <p:txBody>
          <a:bodyPr wrap="none">
            <a:spAutoFit/>
          </a:bodyPr>
          <a:lstStyle/>
          <a:p>
            <a:r>
              <a:rPr sz="1000" b="1">
                <a:solidFill>
                  <a:srgbClr val="FFFFFF"/>
                </a:solidFill>
                <a:latin typeface="Georgia"/>
              </a:rPr>
              <a:t>Section D · 示范与证据</a:t>
            </a:r>
          </a:p>
        </p:txBody>
      </p:sp>
      <p:sp>
        <p:nvSpPr>
          <p:cNvPr id="4" name="TextBox 3"/>
          <p:cNvSpPr txBox="1"/>
          <p:nvPr/>
        </p:nvSpPr>
        <p:spPr>
          <a:xfrm>
            <a:off x="762000" y="201168"/>
            <a:ext cx="9753295" cy="361696"/>
          </a:xfrm>
          <a:prstGeom prst="rect">
            <a:avLst/>
          </a:prstGeom>
          <a:noFill/>
        </p:spPr>
        <p:txBody>
          <a:bodyPr wrap="square">
            <a:spAutoFit/>
          </a:bodyPr>
          <a:lstStyle/>
          <a:p>
            <a:r>
              <a:rPr sz="2200" b="1">
                <a:solidFill>
                  <a:srgbClr val="FFFFFF"/>
                </a:solidFill>
                <a:latin typeface="Georgia"/>
              </a:rPr>
              <a:t>典型示范案例速览</a:t>
            </a:r>
          </a:p>
        </p:txBody>
      </p:sp>
      <p:sp>
        <p:nvSpPr>
          <p:cNvPr id="5" name="TextBox 4"/>
          <p:cNvSpPr txBox="1"/>
          <p:nvPr/>
        </p:nvSpPr>
        <p:spPr>
          <a:xfrm>
            <a:off x="11277295" y="201168"/>
            <a:ext cx="640080" cy="320040"/>
          </a:xfrm>
          <a:prstGeom prst="rect">
            <a:avLst/>
          </a:prstGeom>
          <a:noFill/>
        </p:spPr>
        <p:txBody>
          <a:bodyPr wrap="none">
            <a:spAutoFit/>
          </a:bodyPr>
          <a:lstStyle/>
          <a:p>
            <a:pPr algn="r"/>
            <a:r>
              <a:rPr sz="1000" b="1">
                <a:solidFill>
                  <a:srgbClr val="FFFFFF"/>
                </a:solidFill>
                <a:latin typeface="Georgia"/>
              </a:rPr>
              <a:t>18</a:t>
            </a:r>
          </a:p>
        </p:txBody>
      </p:sp>
      <p:sp>
        <p:nvSpPr>
          <p:cNvPr id="6" name="TextBox 5"/>
          <p:cNvSpPr txBox="1"/>
          <p:nvPr/>
        </p:nvSpPr>
        <p:spPr>
          <a:xfrm>
            <a:off x="853440" y="2800604"/>
            <a:ext cx="5944692" cy="411480"/>
          </a:xfrm>
          <a:prstGeom prst="rect">
            <a:avLst/>
          </a:prstGeom>
          <a:noFill/>
        </p:spPr>
        <p:txBody>
          <a:bodyPr wrap="square">
            <a:spAutoFit/>
          </a:bodyPr>
          <a:lstStyle/>
          <a:p>
            <a:pPr>
              <a:lnSpc>
                <a:spcPct val="150000"/>
              </a:lnSpc>
            </a:pPr>
            <a:r>
              <a:rPr sz="1400">
                <a:solidFill>
                  <a:srgbClr val="0F172A"/>
                </a:solidFill>
              </a:rPr>
              <a:t>• 示范目标：效率、温升、可靠性、延迟</a:t>
            </a:r>
          </a:p>
        </p:txBody>
      </p:sp>
      <p:sp>
        <p:nvSpPr>
          <p:cNvPr id="7" name="TextBox 6"/>
          <p:cNvSpPr txBox="1"/>
          <p:nvPr/>
        </p:nvSpPr>
        <p:spPr>
          <a:xfrm>
            <a:off x="853440" y="3239516"/>
            <a:ext cx="5944692" cy="411480"/>
          </a:xfrm>
          <a:prstGeom prst="rect">
            <a:avLst/>
          </a:prstGeom>
          <a:noFill/>
        </p:spPr>
        <p:txBody>
          <a:bodyPr wrap="square">
            <a:spAutoFit/>
          </a:bodyPr>
          <a:lstStyle/>
          <a:p>
            <a:pPr>
              <a:lnSpc>
                <a:spcPct val="150000"/>
              </a:lnSpc>
            </a:pPr>
            <a:r>
              <a:rPr sz="1400">
                <a:solidFill>
                  <a:srgbClr val="0F172A"/>
                </a:solidFill>
              </a:rPr>
              <a:t>• 成功要素：测试计划、数据采集與回路优化</a:t>
            </a:r>
          </a:p>
        </p:txBody>
      </p:sp>
      <p:sp>
        <p:nvSpPr>
          <p:cNvPr id="8" name="Rounded Rectangle 7"/>
          <p:cNvSpPr/>
          <p:nvPr/>
        </p:nvSpPr>
        <p:spPr>
          <a:xfrm>
            <a:off x="853440" y="3815588"/>
            <a:ext cx="2903766" cy="777240"/>
          </a:xfrm>
          <a:prstGeom prst="round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3167" y="3907028"/>
            <a:ext cx="2684310" cy="365760"/>
          </a:xfrm>
          <a:prstGeom prst="rect">
            <a:avLst/>
          </a:prstGeom>
          <a:noFill/>
        </p:spPr>
        <p:txBody>
          <a:bodyPr wrap="none">
            <a:spAutoFit/>
          </a:bodyPr>
          <a:lstStyle/>
          <a:p>
            <a:r>
              <a:rPr sz="2000" b="1">
                <a:solidFill>
                  <a:srgbClr val="0F172A"/>
                </a:solidFill>
                <a:latin typeface="Georgia"/>
              </a:rPr>
              <a:t>&gt;= 2</a:t>
            </a:r>
          </a:p>
        </p:txBody>
      </p:sp>
      <p:sp>
        <p:nvSpPr>
          <p:cNvPr id="10" name="TextBox 9"/>
          <p:cNvSpPr txBox="1"/>
          <p:nvPr/>
        </p:nvSpPr>
        <p:spPr>
          <a:xfrm>
            <a:off x="963167" y="4291076"/>
            <a:ext cx="2684310" cy="228600"/>
          </a:xfrm>
          <a:prstGeom prst="rect">
            <a:avLst/>
          </a:prstGeom>
          <a:noFill/>
        </p:spPr>
        <p:txBody>
          <a:bodyPr wrap="none">
            <a:spAutoFit/>
          </a:bodyPr>
          <a:lstStyle/>
          <a:p>
            <a:r>
              <a:rPr sz="1100">
                <a:solidFill>
                  <a:srgbClr val="0F172A"/>
                </a:solidFill>
              </a:rPr>
              <a:t>示范站点数量</a:t>
            </a:r>
          </a:p>
        </p:txBody>
      </p:sp>
      <p:sp>
        <p:nvSpPr>
          <p:cNvPr id="11" name="Rounded Rectangle 10"/>
          <p:cNvSpPr/>
          <p:nvPr/>
        </p:nvSpPr>
        <p:spPr>
          <a:xfrm>
            <a:off x="3894366" y="3815588"/>
            <a:ext cx="2903766" cy="777240"/>
          </a:xfrm>
          <a:prstGeom prst="round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04094" y="3907028"/>
            <a:ext cx="2684310" cy="365760"/>
          </a:xfrm>
          <a:prstGeom prst="rect">
            <a:avLst/>
          </a:prstGeom>
          <a:noFill/>
        </p:spPr>
        <p:txBody>
          <a:bodyPr wrap="none">
            <a:spAutoFit/>
          </a:bodyPr>
          <a:lstStyle/>
          <a:p>
            <a:r>
              <a:rPr sz="2000" b="1">
                <a:solidFill>
                  <a:srgbClr val="0F172A"/>
                </a:solidFill>
                <a:latin typeface="Georgia"/>
              </a:rPr>
              <a:t>&gt;= 6 个月</a:t>
            </a:r>
          </a:p>
        </p:txBody>
      </p:sp>
      <p:sp>
        <p:nvSpPr>
          <p:cNvPr id="13" name="TextBox 12"/>
          <p:cNvSpPr txBox="1"/>
          <p:nvPr/>
        </p:nvSpPr>
        <p:spPr>
          <a:xfrm>
            <a:off x="4004094" y="4291076"/>
            <a:ext cx="2684310" cy="228600"/>
          </a:xfrm>
          <a:prstGeom prst="rect">
            <a:avLst/>
          </a:prstGeom>
          <a:noFill/>
        </p:spPr>
        <p:txBody>
          <a:bodyPr wrap="none">
            <a:spAutoFit/>
          </a:bodyPr>
          <a:lstStyle/>
          <a:p>
            <a:r>
              <a:rPr sz="1100">
                <a:solidFill>
                  <a:srgbClr val="0F172A"/>
                </a:solidFill>
              </a:rPr>
              <a:t>示范运行时长</a:t>
            </a:r>
          </a:p>
        </p:txBody>
      </p:sp>
      <p:sp>
        <p:nvSpPr>
          <p:cNvPr id="14" name="Rounded Rectangle 13"/>
          <p:cNvSpPr/>
          <p:nvPr/>
        </p:nvSpPr>
        <p:spPr>
          <a:xfrm>
            <a:off x="7118172" y="2800604"/>
            <a:ext cx="4311523" cy="3200400"/>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01052" y="3257804"/>
            <a:ext cx="3945763" cy="2286000"/>
          </a:xfrm>
          <a:prstGeom prst="rect">
            <a:avLst/>
          </a:prstGeom>
          <a:noFill/>
        </p:spPr>
        <p:txBody>
          <a:bodyPr wrap="square">
            <a:spAutoFit/>
          </a:bodyPr>
          <a:lstStyle/>
          <a:p>
            <a:r>
              <a:rPr sz="1100">
                <a:solidFill>
                  <a:srgbClr val="D1D5DB"/>
                </a:solidFill>
                <a:latin typeface="Georgia"/>
              </a:rPr>
              <a:t>sequenceDiagram
  participant Design as 设计仿真
  participant Proto as 样机验证
  participant Field as 现场示范
  participant Data as 数据平台
  participant Standard as 标准委员会</a:t>
            </a:r>
          </a:p>
        </p:txBody>
      </p:sp>
      <p:sp>
        <p:nvSpPr>
          <p:cNvPr id="16" name="Rectangle 15"/>
          <p:cNvSpPr/>
          <p:nvPr/>
        </p:nvSpPr>
        <p:spPr>
          <a:xfrm>
            <a:off x="0" y="6629400"/>
            <a:ext cx="12191695" cy="2286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000" y="6656832"/>
            <a:ext cx="2743200" cy="173736"/>
          </a:xfrm>
          <a:prstGeom prst="rect">
            <a:avLst/>
          </a:prstGeom>
          <a:noFill/>
        </p:spPr>
        <p:txBody>
          <a:bodyPr wrap="none" anchor="ctr">
            <a:spAutoFit/>
          </a:bodyPr>
          <a:lstStyle/>
          <a:p>
            <a:r>
              <a:rPr sz="1000" b="1">
                <a:solidFill>
                  <a:srgbClr val="003A70"/>
                </a:solidFill>
              </a:rPr>
              <a:t>示范与证据</a:t>
            </a:r>
          </a:p>
        </p:txBody>
      </p:sp>
      <p:sp>
        <p:nvSpPr>
          <p:cNvPr id="18" name="Rectangle 17"/>
          <p:cNvSpPr/>
          <p:nvPr/>
        </p:nvSpPr>
        <p:spPr>
          <a:xfrm>
            <a:off x="4742535" y="6716268"/>
            <a:ext cx="420624" cy="54864"/>
          </a:xfrm>
          <a:prstGeom prst="rect">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99735" y="6716268"/>
            <a:ext cx="420624" cy="54864"/>
          </a:xfrm>
          <a:prstGeom prst="rect">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56935" y="6716268"/>
            <a:ext cx="420624" cy="54864"/>
          </a:xfrm>
          <a:prstGeom prst="rect">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14135" y="6716268"/>
            <a:ext cx="420624" cy="54864"/>
          </a:xfrm>
          <a:prstGeom prst="rect">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713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0285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095" y="6656832"/>
            <a:ext cx="1371600" cy="173736"/>
          </a:xfrm>
          <a:prstGeom prst="rect">
            <a:avLst/>
          </a:prstGeom>
          <a:noFill/>
        </p:spPr>
        <p:txBody>
          <a:bodyPr wrap="none" anchor="ctr">
            <a:spAutoFit/>
          </a:bodyPr>
          <a:lstStyle/>
          <a:p>
            <a:pPr algn="r"/>
            <a:r>
              <a:rPr sz="1000">
                <a:solidFill>
                  <a:srgbClr val="6B7280"/>
                </a:solidFill>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08584"/>
          </a:xfrm>
          <a:prstGeom prst="rect">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54864"/>
            <a:ext cx="3657600" cy="201168"/>
          </a:xfrm>
          <a:prstGeom prst="rect">
            <a:avLst/>
          </a:prstGeom>
          <a:noFill/>
        </p:spPr>
        <p:txBody>
          <a:bodyPr wrap="none">
            <a:spAutoFit/>
          </a:bodyPr>
          <a:lstStyle/>
          <a:p>
            <a:r>
              <a:rPr sz="1000" b="1">
                <a:solidFill>
                  <a:srgbClr val="FFFFFF"/>
                </a:solidFill>
                <a:latin typeface="Georgia"/>
              </a:rPr>
              <a:t>Section D · 示范与证据</a:t>
            </a:r>
          </a:p>
        </p:txBody>
      </p:sp>
      <p:sp>
        <p:nvSpPr>
          <p:cNvPr id="4" name="TextBox 3"/>
          <p:cNvSpPr txBox="1"/>
          <p:nvPr/>
        </p:nvSpPr>
        <p:spPr>
          <a:xfrm>
            <a:off x="762000" y="201168"/>
            <a:ext cx="9753295" cy="361696"/>
          </a:xfrm>
          <a:prstGeom prst="rect">
            <a:avLst/>
          </a:prstGeom>
          <a:noFill/>
        </p:spPr>
        <p:txBody>
          <a:bodyPr wrap="square">
            <a:spAutoFit/>
          </a:bodyPr>
          <a:lstStyle/>
          <a:p>
            <a:r>
              <a:rPr sz="2200" b="1">
                <a:solidFill>
                  <a:srgbClr val="FFFFFF"/>
                </a:solidFill>
                <a:latin typeface="Georgia"/>
              </a:rPr>
              <a:t>仿真与样机验证流程</a:t>
            </a:r>
          </a:p>
        </p:txBody>
      </p:sp>
      <p:sp>
        <p:nvSpPr>
          <p:cNvPr id="5" name="TextBox 4"/>
          <p:cNvSpPr txBox="1"/>
          <p:nvPr/>
        </p:nvSpPr>
        <p:spPr>
          <a:xfrm>
            <a:off x="11277295" y="201168"/>
            <a:ext cx="640080" cy="320040"/>
          </a:xfrm>
          <a:prstGeom prst="rect">
            <a:avLst/>
          </a:prstGeom>
          <a:noFill/>
        </p:spPr>
        <p:txBody>
          <a:bodyPr wrap="none">
            <a:spAutoFit/>
          </a:bodyPr>
          <a:lstStyle/>
          <a:p>
            <a:pPr algn="r"/>
            <a:r>
              <a:rPr sz="1000" b="1">
                <a:solidFill>
                  <a:srgbClr val="FFFFFF"/>
                </a:solidFill>
                <a:latin typeface="Georgia"/>
              </a:rPr>
              <a:t>19</a:t>
            </a:r>
          </a:p>
        </p:txBody>
      </p:sp>
      <p:sp>
        <p:nvSpPr>
          <p:cNvPr id="6" name="TextBox 5"/>
          <p:cNvSpPr txBox="1"/>
          <p:nvPr/>
        </p:nvSpPr>
        <p:spPr>
          <a:xfrm>
            <a:off x="853440" y="809752"/>
            <a:ext cx="10484815" cy="347472"/>
          </a:xfrm>
          <a:prstGeom prst="rect">
            <a:avLst/>
          </a:prstGeom>
          <a:noFill/>
        </p:spPr>
        <p:txBody>
          <a:bodyPr wrap="square">
            <a:spAutoFit/>
          </a:bodyPr>
          <a:lstStyle/>
          <a:p>
            <a:r>
              <a:rPr sz="1400">
                <a:solidFill>
                  <a:srgbClr val="0F172A"/>
                </a:solidFill>
              </a:rPr>
              <a:t>• 仿真先行→样机迭代→现场示范验证</a:t>
            </a:r>
          </a:p>
        </p:txBody>
      </p:sp>
      <p:sp>
        <p:nvSpPr>
          <p:cNvPr id="7" name="TextBox 6"/>
          <p:cNvSpPr txBox="1"/>
          <p:nvPr/>
        </p:nvSpPr>
        <p:spPr>
          <a:xfrm>
            <a:off x="853440" y="1175512"/>
            <a:ext cx="10484815" cy="347472"/>
          </a:xfrm>
          <a:prstGeom prst="rect">
            <a:avLst/>
          </a:prstGeom>
          <a:noFill/>
        </p:spPr>
        <p:txBody>
          <a:bodyPr wrap="square">
            <a:spAutoFit/>
          </a:bodyPr>
          <a:lstStyle/>
          <a:p>
            <a:r>
              <a:rPr sz="1400">
                <a:solidFill>
                  <a:srgbClr val="0F172A"/>
                </a:solidFill>
              </a:rPr>
              <a:t>• 建立标准化仿真模板与样机基准测试</a:t>
            </a:r>
          </a:p>
        </p:txBody>
      </p:sp>
      <p:sp>
        <p:nvSpPr>
          <p:cNvPr id="8" name="Rounded Rectangle 7"/>
          <p:cNvSpPr/>
          <p:nvPr/>
        </p:nvSpPr>
        <p:spPr>
          <a:xfrm>
            <a:off x="762000" y="1678432"/>
            <a:ext cx="10667695" cy="3200400"/>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4880" y="2135632"/>
            <a:ext cx="10301935" cy="2286000"/>
          </a:xfrm>
          <a:prstGeom prst="rect">
            <a:avLst/>
          </a:prstGeom>
          <a:noFill/>
        </p:spPr>
        <p:txBody>
          <a:bodyPr wrap="square">
            <a:spAutoFit/>
          </a:bodyPr>
          <a:lstStyle/>
          <a:p>
            <a:r>
              <a:rPr sz="1100">
                <a:solidFill>
                  <a:srgbClr val="D1D5DB"/>
                </a:solidFill>
                <a:latin typeface="Georgia"/>
              </a:rPr>
              <a:t>graph LR
  Sim[仿真] --&gt; Proto[样机] --&gt; Field[现场] --&gt; Data[数据分析]</a:t>
            </a:r>
          </a:p>
        </p:txBody>
      </p:sp>
      <p:sp>
        <p:nvSpPr>
          <p:cNvPr id="10" name="Rectangle 9"/>
          <p:cNvSpPr/>
          <p:nvPr/>
        </p:nvSpPr>
        <p:spPr>
          <a:xfrm>
            <a:off x="0" y="6629400"/>
            <a:ext cx="12191695" cy="2286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000" y="6656832"/>
            <a:ext cx="2743200" cy="173736"/>
          </a:xfrm>
          <a:prstGeom prst="rect">
            <a:avLst/>
          </a:prstGeom>
          <a:noFill/>
        </p:spPr>
        <p:txBody>
          <a:bodyPr wrap="none" anchor="ctr">
            <a:spAutoFit/>
          </a:bodyPr>
          <a:lstStyle/>
          <a:p>
            <a:r>
              <a:rPr sz="1000" b="1">
                <a:solidFill>
                  <a:srgbClr val="003A70"/>
                </a:solidFill>
              </a:rPr>
              <a:t>示范与证据</a:t>
            </a:r>
          </a:p>
        </p:txBody>
      </p:sp>
      <p:sp>
        <p:nvSpPr>
          <p:cNvPr id="12" name="Rectangle 11"/>
          <p:cNvSpPr/>
          <p:nvPr/>
        </p:nvSpPr>
        <p:spPr>
          <a:xfrm>
            <a:off x="4742535" y="6716268"/>
            <a:ext cx="420624" cy="54864"/>
          </a:xfrm>
          <a:prstGeom prst="rect">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199735" y="6716268"/>
            <a:ext cx="420624" cy="54864"/>
          </a:xfrm>
          <a:prstGeom prst="rect">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56935" y="6716268"/>
            <a:ext cx="420624" cy="54864"/>
          </a:xfrm>
          <a:prstGeom prst="rect">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14135" y="6716268"/>
            <a:ext cx="420624" cy="54864"/>
          </a:xfrm>
          <a:prstGeom prst="rect">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713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285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095" y="6656832"/>
            <a:ext cx="1371600" cy="173736"/>
          </a:xfrm>
          <a:prstGeom prst="rect">
            <a:avLst/>
          </a:prstGeom>
          <a:noFill/>
        </p:spPr>
        <p:txBody>
          <a:bodyPr wrap="none" anchor="ctr">
            <a:spAutoFit/>
          </a:bodyPr>
          <a:lstStyle/>
          <a:p>
            <a:pPr algn="r"/>
            <a:r>
              <a:rPr sz="1000">
                <a:solidFill>
                  <a:srgbClr val="6B7280"/>
                </a:solidFill>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3A70"/>
        </a:solidFill>
        <a:effectLst/>
      </p:bgPr>
    </p:bg>
    <p:spTree>
      <p:nvGrpSpPr>
        <p:cNvPr id="1" name=""/>
        <p:cNvGrpSpPr/>
        <p:nvPr/>
      </p:nvGrpSpPr>
      <p:grpSpPr/>
      <p:sp>
        <p:nvSpPr>
          <p:cNvPr id="2" name="TextBox 1"/>
          <p:cNvSpPr txBox="1"/>
          <p:nvPr/>
        </p:nvSpPr>
        <p:spPr>
          <a:xfrm>
            <a:off x="1676400" y="2194560"/>
            <a:ext cx="8838895" cy="914400"/>
          </a:xfrm>
          <a:prstGeom prst="rect">
            <a:avLst/>
          </a:prstGeom>
          <a:noFill/>
        </p:spPr>
        <p:txBody>
          <a:bodyPr wrap="square">
            <a:spAutoFit/>
          </a:bodyPr>
          <a:lstStyle/>
          <a:p>
            <a:pPr algn="ctr"/>
            <a:r>
              <a:rPr sz="2800" b="1">
                <a:solidFill>
                  <a:srgbClr val="FFFFFF"/>
                </a:solidFill>
                <a:latin typeface="Georgia"/>
              </a:rPr>
              <a:t>商业化与运维（节）</a:t>
            </a:r>
          </a:p>
        </p:txBody>
      </p:sp>
      <p:sp>
        <p:nvSpPr>
          <p:cNvPr id="3" name="TextBox 2"/>
          <p:cNvSpPr txBox="1"/>
          <p:nvPr/>
        </p:nvSpPr>
        <p:spPr>
          <a:xfrm>
            <a:off x="2133600" y="3429000"/>
            <a:ext cx="7924495" cy="457200"/>
          </a:xfrm>
          <a:prstGeom prst="rect">
            <a:avLst/>
          </a:prstGeom>
          <a:noFill/>
        </p:spPr>
        <p:txBody>
          <a:bodyPr wrap="square">
            <a:spAutoFit/>
          </a:bodyPr>
          <a:lstStyle/>
          <a:p>
            <a:pPr algn="ctr"/>
            <a:r>
              <a:rPr sz="1600">
                <a:solidFill>
                  <a:srgbClr val="FFFFFF"/>
                </a:solidFill>
              </a:rPr>
              <a:t>本节覆盖：商业模式、成本与运维策略，准备商业化路径。</a:t>
            </a:r>
          </a:p>
        </p:txBody>
      </p:sp>
      <p:sp>
        <p:nvSpPr>
          <p:cNvPr id="4" name="Rectangle 3"/>
          <p:cNvSpPr/>
          <p:nvPr/>
        </p:nvSpPr>
        <p:spPr>
          <a:xfrm>
            <a:off x="4751679" y="4937759"/>
            <a:ext cx="402336" cy="731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208879" y="4937759"/>
            <a:ext cx="402336" cy="731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6079" y="4937759"/>
            <a:ext cx="402336" cy="731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123279" y="4937759"/>
            <a:ext cx="402336" cy="731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0479" y="4937759"/>
            <a:ext cx="402336" cy="731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037679" y="4937759"/>
            <a:ext cx="402336" cy="7315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08584"/>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54864"/>
            <a:ext cx="3657600" cy="201168"/>
          </a:xfrm>
          <a:prstGeom prst="rect">
            <a:avLst/>
          </a:prstGeom>
          <a:noFill/>
        </p:spPr>
        <p:txBody>
          <a:bodyPr wrap="none">
            <a:spAutoFit/>
          </a:bodyPr>
          <a:lstStyle/>
          <a:p>
            <a:r>
              <a:rPr sz="1000" b="1">
                <a:solidFill>
                  <a:srgbClr val="FFFFFF"/>
                </a:solidFill>
                <a:latin typeface="Georgia"/>
              </a:rPr>
              <a:t>Section E · 商业化与运维</a:t>
            </a:r>
          </a:p>
        </p:txBody>
      </p:sp>
      <p:sp>
        <p:nvSpPr>
          <p:cNvPr id="4" name="TextBox 3"/>
          <p:cNvSpPr txBox="1"/>
          <p:nvPr/>
        </p:nvSpPr>
        <p:spPr>
          <a:xfrm>
            <a:off x="762000" y="201168"/>
            <a:ext cx="9753295" cy="361696"/>
          </a:xfrm>
          <a:prstGeom prst="rect">
            <a:avLst/>
          </a:prstGeom>
          <a:noFill/>
        </p:spPr>
        <p:txBody>
          <a:bodyPr wrap="square">
            <a:spAutoFit/>
          </a:bodyPr>
          <a:lstStyle/>
          <a:p>
            <a:r>
              <a:rPr sz="2200" b="1">
                <a:solidFill>
                  <a:srgbClr val="FFFFFF"/>
                </a:solidFill>
                <a:latin typeface="Georgia"/>
              </a:rPr>
              <a:t>商业模式与服务化路径</a:t>
            </a:r>
          </a:p>
        </p:txBody>
      </p:sp>
      <p:sp>
        <p:nvSpPr>
          <p:cNvPr id="5" name="TextBox 4"/>
          <p:cNvSpPr txBox="1"/>
          <p:nvPr/>
        </p:nvSpPr>
        <p:spPr>
          <a:xfrm>
            <a:off x="11277295" y="201168"/>
            <a:ext cx="640080" cy="320040"/>
          </a:xfrm>
          <a:prstGeom prst="rect">
            <a:avLst/>
          </a:prstGeom>
          <a:noFill/>
        </p:spPr>
        <p:txBody>
          <a:bodyPr wrap="none">
            <a:spAutoFit/>
          </a:bodyPr>
          <a:lstStyle/>
          <a:p>
            <a:pPr algn="r"/>
            <a:r>
              <a:rPr sz="1000" b="1">
                <a:solidFill>
                  <a:srgbClr val="FFFFFF"/>
                </a:solidFill>
                <a:latin typeface="Georgia"/>
              </a:rPr>
              <a:t>21</a:t>
            </a:r>
          </a:p>
        </p:txBody>
      </p:sp>
      <p:sp>
        <p:nvSpPr>
          <p:cNvPr id="6" name="TextBox 5"/>
          <p:cNvSpPr txBox="1"/>
          <p:nvPr/>
        </p:nvSpPr>
        <p:spPr>
          <a:xfrm>
            <a:off x="762000" y="855472"/>
            <a:ext cx="3555898" cy="1097280"/>
          </a:xfrm>
          <a:prstGeom prst="rect">
            <a:avLst/>
          </a:prstGeom>
          <a:noFill/>
        </p:spPr>
        <p:txBody>
          <a:bodyPr wrap="square" anchor="ctr">
            <a:spAutoFit/>
          </a:bodyPr>
          <a:lstStyle/>
          <a:p>
            <a:r>
              <a:rPr sz="1200" b="1">
                <a:solidFill>
                  <a:srgbClr val="0F172A"/>
                </a:solidFill>
              </a:rPr>
              <a:t>初始收入</a:t>
            </a:r>
          </a:p>
        </p:txBody>
      </p:sp>
      <p:sp>
        <p:nvSpPr>
          <p:cNvPr id="7" name="TextBox 6"/>
          <p:cNvSpPr txBox="1"/>
          <p:nvPr/>
        </p:nvSpPr>
        <p:spPr>
          <a:xfrm>
            <a:off x="4317898" y="855472"/>
            <a:ext cx="3555898" cy="1097280"/>
          </a:xfrm>
          <a:prstGeom prst="rect">
            <a:avLst/>
          </a:prstGeom>
          <a:noFill/>
        </p:spPr>
        <p:txBody>
          <a:bodyPr wrap="square" anchor="ctr">
            <a:spAutoFit/>
          </a:bodyPr>
          <a:lstStyle/>
          <a:p>
            <a:r>
              <a:rPr sz="1200" b="1">
                <a:solidFill>
                  <a:srgbClr val="0F172A"/>
                </a:solidFill>
              </a:rPr>
              <a:t>周期收入</a:t>
            </a:r>
          </a:p>
        </p:txBody>
      </p:sp>
      <p:sp>
        <p:nvSpPr>
          <p:cNvPr id="8" name="TextBox 7"/>
          <p:cNvSpPr txBox="1"/>
          <p:nvPr/>
        </p:nvSpPr>
        <p:spPr>
          <a:xfrm>
            <a:off x="7873796" y="855472"/>
            <a:ext cx="3555898" cy="1097280"/>
          </a:xfrm>
          <a:prstGeom prst="rect">
            <a:avLst/>
          </a:prstGeom>
          <a:noFill/>
        </p:spPr>
        <p:txBody>
          <a:bodyPr wrap="square" anchor="ctr">
            <a:spAutoFit/>
          </a:bodyPr>
          <a:lstStyle/>
          <a:p>
            <a:r>
              <a:rPr sz="1200" b="1">
                <a:solidFill>
                  <a:srgbClr val="0F172A"/>
                </a:solidFill>
              </a:rPr>
              <a:t>增值服务</a:t>
            </a:r>
          </a:p>
        </p:txBody>
      </p:sp>
      <p:sp>
        <p:nvSpPr>
          <p:cNvPr id="9" name="Rectangle 8"/>
          <p:cNvSpPr/>
          <p:nvPr/>
        </p:nvSpPr>
        <p:spPr>
          <a:xfrm>
            <a:off x="762000" y="1934463"/>
            <a:ext cx="10667695" cy="25400"/>
          </a:xfrm>
          <a:prstGeom prst="rect">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2000" y="1952752"/>
            <a:ext cx="3555898" cy="1097280"/>
          </a:xfrm>
          <a:prstGeom prst="rect">
            <a:avLst/>
          </a:prstGeom>
          <a:noFill/>
        </p:spPr>
        <p:txBody>
          <a:bodyPr wrap="square" anchor="ctr">
            <a:spAutoFit/>
          </a:bodyPr>
          <a:lstStyle/>
          <a:p>
            <a:pPr algn="r"/>
            <a:r>
              <a:rPr sz="1100">
                <a:solidFill>
                  <a:srgbClr val="0F172A"/>
                </a:solidFill>
              </a:rPr>
              <a:t>100</a:t>
            </a:r>
          </a:p>
        </p:txBody>
      </p:sp>
      <p:sp>
        <p:nvSpPr>
          <p:cNvPr id="11" name="TextBox 10"/>
          <p:cNvSpPr txBox="1"/>
          <p:nvPr/>
        </p:nvSpPr>
        <p:spPr>
          <a:xfrm>
            <a:off x="4317898" y="1952752"/>
            <a:ext cx="3555898" cy="1097280"/>
          </a:xfrm>
          <a:prstGeom prst="rect">
            <a:avLst/>
          </a:prstGeom>
          <a:noFill/>
        </p:spPr>
        <p:txBody>
          <a:bodyPr wrap="square" anchor="ctr">
            <a:spAutoFit/>
          </a:bodyPr>
          <a:lstStyle/>
          <a:p>
            <a:pPr algn="r"/>
            <a:r>
              <a:rPr sz="1100">
                <a:solidFill>
                  <a:srgbClr val="0F172A"/>
                </a:solidFill>
              </a:rPr>
              <a:t>0</a:t>
            </a:r>
          </a:p>
        </p:txBody>
      </p:sp>
      <p:sp>
        <p:nvSpPr>
          <p:cNvPr id="12" name="TextBox 11"/>
          <p:cNvSpPr txBox="1"/>
          <p:nvPr/>
        </p:nvSpPr>
        <p:spPr>
          <a:xfrm>
            <a:off x="7873796" y="1952752"/>
            <a:ext cx="3555898" cy="1097280"/>
          </a:xfrm>
          <a:prstGeom prst="rect">
            <a:avLst/>
          </a:prstGeom>
          <a:noFill/>
        </p:spPr>
        <p:txBody>
          <a:bodyPr wrap="square" anchor="ctr">
            <a:spAutoFit/>
          </a:bodyPr>
          <a:lstStyle/>
          <a:p>
            <a:pPr algn="r"/>
            <a:r>
              <a:rPr sz="1100">
                <a:solidFill>
                  <a:srgbClr val="0F172A"/>
                </a:solidFill>
              </a:rPr>
              <a:t>0</a:t>
            </a:r>
          </a:p>
        </p:txBody>
      </p:sp>
      <p:sp>
        <p:nvSpPr>
          <p:cNvPr id="13" name="Rectangle 12"/>
          <p:cNvSpPr/>
          <p:nvPr/>
        </p:nvSpPr>
        <p:spPr>
          <a:xfrm>
            <a:off x="762000" y="3050032"/>
            <a:ext cx="10667695" cy="109728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000" y="3050032"/>
            <a:ext cx="3555898" cy="1097280"/>
          </a:xfrm>
          <a:prstGeom prst="rect">
            <a:avLst/>
          </a:prstGeom>
          <a:noFill/>
        </p:spPr>
        <p:txBody>
          <a:bodyPr wrap="square" anchor="ctr">
            <a:spAutoFit/>
          </a:bodyPr>
          <a:lstStyle/>
          <a:p>
            <a:pPr algn="r"/>
            <a:r>
              <a:rPr sz="1100">
                <a:solidFill>
                  <a:srgbClr val="0F172A"/>
                </a:solidFill>
              </a:rPr>
              <a:t>20</a:t>
            </a:r>
          </a:p>
        </p:txBody>
      </p:sp>
      <p:sp>
        <p:nvSpPr>
          <p:cNvPr id="15" name="TextBox 14"/>
          <p:cNvSpPr txBox="1"/>
          <p:nvPr/>
        </p:nvSpPr>
        <p:spPr>
          <a:xfrm>
            <a:off x="4317898" y="3050032"/>
            <a:ext cx="3555898" cy="1097280"/>
          </a:xfrm>
          <a:prstGeom prst="rect">
            <a:avLst/>
          </a:prstGeom>
          <a:noFill/>
        </p:spPr>
        <p:txBody>
          <a:bodyPr wrap="square" anchor="ctr">
            <a:spAutoFit/>
          </a:bodyPr>
          <a:lstStyle/>
          <a:p>
            <a:pPr algn="r"/>
            <a:r>
              <a:rPr sz="1100">
                <a:solidFill>
                  <a:srgbClr val="0F172A"/>
                </a:solidFill>
              </a:rPr>
              <a:t>0</a:t>
            </a:r>
          </a:p>
        </p:txBody>
      </p:sp>
      <p:sp>
        <p:nvSpPr>
          <p:cNvPr id="16" name="TextBox 15"/>
          <p:cNvSpPr txBox="1"/>
          <p:nvPr/>
        </p:nvSpPr>
        <p:spPr>
          <a:xfrm>
            <a:off x="7873796" y="3050032"/>
            <a:ext cx="3555898" cy="1097280"/>
          </a:xfrm>
          <a:prstGeom prst="rect">
            <a:avLst/>
          </a:prstGeom>
          <a:noFill/>
        </p:spPr>
        <p:txBody>
          <a:bodyPr wrap="square" anchor="ctr">
            <a:spAutoFit/>
          </a:bodyPr>
          <a:lstStyle/>
          <a:p>
            <a:pPr algn="r"/>
            <a:r>
              <a:rPr sz="1100">
                <a:solidFill>
                  <a:srgbClr val="0F172A"/>
                </a:solidFill>
              </a:rPr>
              <a:t>0</a:t>
            </a:r>
          </a:p>
        </p:txBody>
      </p:sp>
      <p:sp>
        <p:nvSpPr>
          <p:cNvPr id="17" name="TextBox 16"/>
          <p:cNvSpPr txBox="1"/>
          <p:nvPr/>
        </p:nvSpPr>
        <p:spPr>
          <a:xfrm>
            <a:off x="762000" y="4147312"/>
            <a:ext cx="3555898" cy="1097280"/>
          </a:xfrm>
          <a:prstGeom prst="rect">
            <a:avLst/>
          </a:prstGeom>
          <a:noFill/>
        </p:spPr>
        <p:txBody>
          <a:bodyPr wrap="square" anchor="ctr">
            <a:spAutoFit/>
          </a:bodyPr>
          <a:lstStyle/>
          <a:p>
            <a:pPr algn="r"/>
            <a:r>
              <a:rPr sz="1100">
                <a:solidFill>
                  <a:srgbClr val="0F172A"/>
                </a:solidFill>
              </a:rPr>
              <a:t>0</a:t>
            </a:r>
          </a:p>
        </p:txBody>
      </p:sp>
      <p:sp>
        <p:nvSpPr>
          <p:cNvPr id="18" name="TextBox 17"/>
          <p:cNvSpPr txBox="1"/>
          <p:nvPr/>
        </p:nvSpPr>
        <p:spPr>
          <a:xfrm>
            <a:off x="4317898" y="4147312"/>
            <a:ext cx="3555898" cy="1097280"/>
          </a:xfrm>
          <a:prstGeom prst="rect">
            <a:avLst/>
          </a:prstGeom>
          <a:noFill/>
        </p:spPr>
        <p:txBody>
          <a:bodyPr wrap="square" anchor="ctr">
            <a:spAutoFit/>
          </a:bodyPr>
          <a:lstStyle/>
          <a:p>
            <a:pPr algn="r"/>
            <a:r>
              <a:rPr sz="1100">
                <a:solidFill>
                  <a:srgbClr val="0F172A"/>
                </a:solidFill>
              </a:rPr>
              <a:t>15</a:t>
            </a:r>
          </a:p>
        </p:txBody>
      </p:sp>
      <p:sp>
        <p:nvSpPr>
          <p:cNvPr id="19" name="TextBox 18"/>
          <p:cNvSpPr txBox="1"/>
          <p:nvPr/>
        </p:nvSpPr>
        <p:spPr>
          <a:xfrm>
            <a:off x="7873796" y="4147312"/>
            <a:ext cx="3555898" cy="1097280"/>
          </a:xfrm>
          <a:prstGeom prst="rect">
            <a:avLst/>
          </a:prstGeom>
          <a:noFill/>
        </p:spPr>
        <p:txBody>
          <a:bodyPr wrap="square" anchor="ctr">
            <a:spAutoFit/>
          </a:bodyPr>
          <a:lstStyle/>
          <a:p>
            <a:pPr algn="r"/>
            <a:r>
              <a:rPr sz="1100">
                <a:solidFill>
                  <a:srgbClr val="0F172A"/>
                </a:solidFill>
              </a:rPr>
              <a:t>30</a:t>
            </a:r>
          </a:p>
        </p:txBody>
      </p:sp>
      <p:sp>
        <p:nvSpPr>
          <p:cNvPr id="20" name="Rectangle 19"/>
          <p:cNvSpPr/>
          <p:nvPr/>
        </p:nvSpPr>
        <p:spPr>
          <a:xfrm>
            <a:off x="0" y="6629400"/>
            <a:ext cx="12191695" cy="2286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2000" y="6656832"/>
            <a:ext cx="2743200" cy="173736"/>
          </a:xfrm>
          <a:prstGeom prst="rect">
            <a:avLst/>
          </a:prstGeom>
          <a:noFill/>
        </p:spPr>
        <p:txBody>
          <a:bodyPr wrap="none" anchor="ctr">
            <a:spAutoFit/>
          </a:bodyPr>
          <a:lstStyle/>
          <a:p>
            <a:r>
              <a:rPr sz="1000" b="1">
                <a:solidFill>
                  <a:srgbClr val="C8A951"/>
                </a:solidFill>
              </a:rPr>
              <a:t>商业化与运维</a:t>
            </a:r>
          </a:p>
        </p:txBody>
      </p:sp>
      <p:sp>
        <p:nvSpPr>
          <p:cNvPr id="22" name="Rectangle 21"/>
          <p:cNvSpPr/>
          <p:nvPr/>
        </p:nvSpPr>
        <p:spPr>
          <a:xfrm>
            <a:off x="4742535" y="6716268"/>
            <a:ext cx="420624" cy="54864"/>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99735" y="6716268"/>
            <a:ext cx="420624" cy="54864"/>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56935" y="6716268"/>
            <a:ext cx="420624" cy="54864"/>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14135" y="6716268"/>
            <a:ext cx="420624" cy="54864"/>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71335" y="6716268"/>
            <a:ext cx="420624" cy="54864"/>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0285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095" y="6656832"/>
            <a:ext cx="1371600" cy="173736"/>
          </a:xfrm>
          <a:prstGeom prst="rect">
            <a:avLst/>
          </a:prstGeom>
          <a:noFill/>
        </p:spPr>
        <p:txBody>
          <a:bodyPr wrap="none" anchor="ctr">
            <a:spAutoFit/>
          </a:bodyPr>
          <a:lstStyle/>
          <a:p>
            <a:pPr algn="r"/>
            <a:r>
              <a:rPr sz="1000">
                <a:solidFill>
                  <a:srgbClr val="6B7280"/>
                </a:solidFill>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08584"/>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54864"/>
            <a:ext cx="3657600" cy="201168"/>
          </a:xfrm>
          <a:prstGeom prst="rect">
            <a:avLst/>
          </a:prstGeom>
          <a:noFill/>
        </p:spPr>
        <p:txBody>
          <a:bodyPr wrap="none">
            <a:spAutoFit/>
          </a:bodyPr>
          <a:lstStyle/>
          <a:p>
            <a:r>
              <a:rPr sz="1000" b="1">
                <a:solidFill>
                  <a:srgbClr val="FFFFFF"/>
                </a:solidFill>
                <a:latin typeface="Georgia"/>
              </a:rPr>
              <a:t>Section E · 商业化与运维</a:t>
            </a:r>
          </a:p>
        </p:txBody>
      </p:sp>
      <p:sp>
        <p:nvSpPr>
          <p:cNvPr id="4" name="TextBox 3"/>
          <p:cNvSpPr txBox="1"/>
          <p:nvPr/>
        </p:nvSpPr>
        <p:spPr>
          <a:xfrm>
            <a:off x="762000" y="201168"/>
            <a:ext cx="9753295" cy="361696"/>
          </a:xfrm>
          <a:prstGeom prst="rect">
            <a:avLst/>
          </a:prstGeom>
          <a:noFill/>
        </p:spPr>
        <p:txBody>
          <a:bodyPr wrap="square">
            <a:spAutoFit/>
          </a:bodyPr>
          <a:lstStyle/>
          <a:p>
            <a:r>
              <a:rPr sz="2200" b="1">
                <a:solidFill>
                  <a:srgbClr val="FFFFFF"/>
                </a:solidFill>
                <a:latin typeface="Georgia"/>
              </a:rPr>
              <a:t>成本构成與 ROI 敏感性</a:t>
            </a:r>
          </a:p>
        </p:txBody>
      </p:sp>
      <p:sp>
        <p:nvSpPr>
          <p:cNvPr id="5" name="TextBox 4"/>
          <p:cNvSpPr txBox="1"/>
          <p:nvPr/>
        </p:nvSpPr>
        <p:spPr>
          <a:xfrm>
            <a:off x="11277295" y="201168"/>
            <a:ext cx="640080" cy="320040"/>
          </a:xfrm>
          <a:prstGeom prst="rect">
            <a:avLst/>
          </a:prstGeom>
          <a:noFill/>
        </p:spPr>
        <p:txBody>
          <a:bodyPr wrap="none">
            <a:spAutoFit/>
          </a:bodyPr>
          <a:lstStyle/>
          <a:p>
            <a:pPr algn="r"/>
            <a:r>
              <a:rPr sz="1000" b="1">
                <a:solidFill>
                  <a:srgbClr val="FFFFFF"/>
                </a:solidFill>
                <a:latin typeface="Georgia"/>
              </a:rPr>
              <a:t>22</a:t>
            </a:r>
          </a:p>
        </p:txBody>
      </p:sp>
      <p:sp>
        <p:nvSpPr>
          <p:cNvPr id="6" name="Rounded Rectangle 5"/>
          <p:cNvSpPr/>
          <p:nvPr/>
        </p:nvSpPr>
        <p:spPr>
          <a:xfrm>
            <a:off x="762000" y="855472"/>
            <a:ext cx="10667695" cy="2286000"/>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4880" y="1129792"/>
            <a:ext cx="10301935" cy="1828800"/>
          </a:xfrm>
          <a:prstGeom prst="rect">
            <a:avLst/>
          </a:prstGeom>
          <a:noFill/>
        </p:spPr>
        <p:txBody>
          <a:bodyPr wrap="square">
            <a:spAutoFit/>
          </a:bodyPr>
          <a:lstStyle/>
          <a:p>
            <a:pPr algn="ctr"/>
            <a:r>
              <a:rPr sz="1200">
                <a:solidFill>
                  <a:srgbClr val="D1D5DB"/>
                </a:solidFill>
                <a:latin typeface="Georgia"/>
              </a:rPr>
              <a:t>[comparison]</a:t>
            </a:r>
          </a:p>
        </p:txBody>
      </p:sp>
      <p:sp>
        <p:nvSpPr>
          <p:cNvPr id="8" name="Rectangle 7"/>
          <p:cNvSpPr/>
          <p:nvPr/>
        </p:nvSpPr>
        <p:spPr>
          <a:xfrm>
            <a:off x="0" y="6629400"/>
            <a:ext cx="12191695" cy="2286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000" y="6656832"/>
            <a:ext cx="2743200" cy="173736"/>
          </a:xfrm>
          <a:prstGeom prst="rect">
            <a:avLst/>
          </a:prstGeom>
          <a:noFill/>
        </p:spPr>
        <p:txBody>
          <a:bodyPr wrap="none" anchor="ctr">
            <a:spAutoFit/>
          </a:bodyPr>
          <a:lstStyle/>
          <a:p>
            <a:r>
              <a:rPr sz="1000" b="1">
                <a:solidFill>
                  <a:srgbClr val="C8A951"/>
                </a:solidFill>
              </a:rPr>
              <a:t>商业化与运维</a:t>
            </a:r>
          </a:p>
        </p:txBody>
      </p:sp>
      <p:sp>
        <p:nvSpPr>
          <p:cNvPr id="10" name="Rectangle 9"/>
          <p:cNvSpPr/>
          <p:nvPr/>
        </p:nvSpPr>
        <p:spPr>
          <a:xfrm>
            <a:off x="4742535" y="6716268"/>
            <a:ext cx="420624" cy="54864"/>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199735" y="6716268"/>
            <a:ext cx="420624" cy="54864"/>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56935" y="6716268"/>
            <a:ext cx="420624" cy="54864"/>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14135" y="6716268"/>
            <a:ext cx="420624" cy="54864"/>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71335" y="6716268"/>
            <a:ext cx="420624" cy="54864"/>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0285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095" y="6656832"/>
            <a:ext cx="1371600" cy="173736"/>
          </a:xfrm>
          <a:prstGeom prst="rect">
            <a:avLst/>
          </a:prstGeom>
          <a:noFill/>
        </p:spPr>
        <p:txBody>
          <a:bodyPr wrap="none" anchor="ctr">
            <a:spAutoFit/>
          </a:bodyPr>
          <a:lstStyle/>
          <a:p>
            <a:pPr algn="r"/>
            <a:r>
              <a:rPr sz="1000">
                <a:solidFill>
                  <a:srgbClr val="6B7280"/>
                </a:solidFill>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08584"/>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54864"/>
            <a:ext cx="3657600" cy="201168"/>
          </a:xfrm>
          <a:prstGeom prst="rect">
            <a:avLst/>
          </a:prstGeom>
          <a:noFill/>
        </p:spPr>
        <p:txBody>
          <a:bodyPr wrap="none">
            <a:spAutoFit/>
          </a:bodyPr>
          <a:lstStyle/>
          <a:p>
            <a:r>
              <a:rPr sz="1000" b="1">
                <a:solidFill>
                  <a:srgbClr val="FFFFFF"/>
                </a:solidFill>
                <a:latin typeface="Georgia"/>
              </a:rPr>
              <a:t>Section E · 商业化与运维</a:t>
            </a:r>
          </a:p>
        </p:txBody>
      </p:sp>
      <p:sp>
        <p:nvSpPr>
          <p:cNvPr id="4" name="TextBox 3"/>
          <p:cNvSpPr txBox="1"/>
          <p:nvPr/>
        </p:nvSpPr>
        <p:spPr>
          <a:xfrm>
            <a:off x="762000" y="201168"/>
            <a:ext cx="9753295" cy="361696"/>
          </a:xfrm>
          <a:prstGeom prst="rect">
            <a:avLst/>
          </a:prstGeom>
          <a:noFill/>
        </p:spPr>
        <p:txBody>
          <a:bodyPr wrap="square">
            <a:spAutoFit/>
          </a:bodyPr>
          <a:lstStyle/>
          <a:p>
            <a:r>
              <a:rPr sz="2200" b="1">
                <a:solidFill>
                  <a:srgbClr val="FFFFFF"/>
                </a:solidFill>
                <a:latin typeface="Georgia"/>
              </a:rPr>
              <a:t>运维与生命周期经济</a:t>
            </a:r>
          </a:p>
        </p:txBody>
      </p:sp>
      <p:sp>
        <p:nvSpPr>
          <p:cNvPr id="5" name="TextBox 4"/>
          <p:cNvSpPr txBox="1"/>
          <p:nvPr/>
        </p:nvSpPr>
        <p:spPr>
          <a:xfrm>
            <a:off x="11277295" y="201168"/>
            <a:ext cx="640080" cy="320040"/>
          </a:xfrm>
          <a:prstGeom prst="rect">
            <a:avLst/>
          </a:prstGeom>
          <a:noFill/>
        </p:spPr>
        <p:txBody>
          <a:bodyPr wrap="none">
            <a:spAutoFit/>
          </a:bodyPr>
          <a:lstStyle/>
          <a:p>
            <a:pPr algn="r"/>
            <a:r>
              <a:rPr sz="1000" b="1">
                <a:solidFill>
                  <a:srgbClr val="FFFFFF"/>
                </a:solidFill>
                <a:latin typeface="Georgia"/>
              </a:rPr>
              <a:t>23</a:t>
            </a:r>
          </a:p>
        </p:txBody>
      </p:sp>
      <p:sp>
        <p:nvSpPr>
          <p:cNvPr id="6" name="Rounded Rectangle 5"/>
          <p:cNvSpPr/>
          <p:nvPr/>
        </p:nvSpPr>
        <p:spPr>
          <a:xfrm>
            <a:off x="762000" y="855472"/>
            <a:ext cx="5265267" cy="1645920"/>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1728" y="946912"/>
            <a:ext cx="5045811" cy="320040"/>
          </a:xfrm>
          <a:prstGeom prst="rect">
            <a:avLst/>
          </a:prstGeom>
          <a:noFill/>
        </p:spPr>
        <p:txBody>
          <a:bodyPr wrap="none">
            <a:spAutoFit/>
          </a:bodyPr>
          <a:lstStyle/>
          <a:p>
            <a:r>
              <a:rPr sz="1600" b="1">
                <a:solidFill>
                  <a:srgbClr val="0F172A"/>
                </a:solidFill>
                <a:latin typeface="Georgia"/>
              </a:rPr>
              <a:t>在线监测</a:t>
            </a:r>
          </a:p>
        </p:txBody>
      </p:sp>
      <p:sp>
        <p:nvSpPr>
          <p:cNvPr id="8" name="Rectangle 7"/>
          <p:cNvSpPr/>
          <p:nvPr/>
        </p:nvSpPr>
        <p:spPr>
          <a:xfrm>
            <a:off x="871728" y="1294384"/>
            <a:ext cx="5045811" cy="18288"/>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1728" y="1358392"/>
            <a:ext cx="5045811" cy="1051560"/>
          </a:xfrm>
          <a:prstGeom prst="rect">
            <a:avLst/>
          </a:prstGeom>
          <a:noFill/>
        </p:spPr>
        <p:txBody>
          <a:bodyPr wrap="square">
            <a:spAutoFit/>
          </a:bodyPr>
          <a:lstStyle/>
          <a:p>
            <a:pPr>
              <a:lnSpc>
                <a:spcPct val="150000"/>
              </a:lnSpc>
            </a:pPr>
            <a:r>
              <a:rPr sz="1600">
                <a:solidFill>
                  <a:srgbClr val="0F172A"/>
                </a:solidFill>
              </a:rPr>
              <a:t>功能: 实时告警/健康监测
商业化: SaaS 订阅
收益点: 预测性维护降低停机</a:t>
            </a:r>
          </a:p>
        </p:txBody>
      </p:sp>
      <p:sp>
        <p:nvSpPr>
          <p:cNvPr id="10" name="Rounded Rectangle 9"/>
          <p:cNvSpPr/>
          <p:nvPr/>
        </p:nvSpPr>
        <p:spPr>
          <a:xfrm>
            <a:off x="6164427" y="855472"/>
            <a:ext cx="5265267" cy="1645920"/>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74155" y="946912"/>
            <a:ext cx="5045811" cy="320040"/>
          </a:xfrm>
          <a:prstGeom prst="rect">
            <a:avLst/>
          </a:prstGeom>
          <a:noFill/>
        </p:spPr>
        <p:txBody>
          <a:bodyPr wrap="none">
            <a:spAutoFit/>
          </a:bodyPr>
          <a:lstStyle/>
          <a:p>
            <a:r>
              <a:rPr sz="1600" b="1">
                <a:solidFill>
                  <a:srgbClr val="0F172A"/>
                </a:solidFill>
                <a:latin typeface="Georgia"/>
              </a:rPr>
              <a:t>备件与 SLA</a:t>
            </a:r>
          </a:p>
        </p:txBody>
      </p:sp>
      <p:sp>
        <p:nvSpPr>
          <p:cNvPr id="12" name="Rectangle 11"/>
          <p:cNvSpPr/>
          <p:nvPr/>
        </p:nvSpPr>
        <p:spPr>
          <a:xfrm>
            <a:off x="6274155" y="1294384"/>
            <a:ext cx="5045811" cy="18288"/>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74155" y="1358392"/>
            <a:ext cx="5045811" cy="1051560"/>
          </a:xfrm>
          <a:prstGeom prst="rect">
            <a:avLst/>
          </a:prstGeom>
          <a:noFill/>
        </p:spPr>
        <p:txBody>
          <a:bodyPr wrap="square">
            <a:spAutoFit/>
          </a:bodyPr>
          <a:lstStyle/>
          <a:p>
            <a:pPr>
              <a:lnSpc>
                <a:spcPct val="150000"/>
              </a:lnSpc>
            </a:pPr>
            <a:r>
              <a:rPr sz="1600">
                <a:solidFill>
                  <a:srgbClr val="0F172A"/>
                </a:solidFill>
              </a:rPr>
              <a:t>功能: 快速替换/维修
商业化: SLA 收费
收益点: 提高可用率</a:t>
            </a:r>
          </a:p>
        </p:txBody>
      </p:sp>
      <p:sp>
        <p:nvSpPr>
          <p:cNvPr id="14" name="Rectangle 13"/>
          <p:cNvSpPr/>
          <p:nvPr/>
        </p:nvSpPr>
        <p:spPr>
          <a:xfrm>
            <a:off x="0" y="6629400"/>
            <a:ext cx="12191695" cy="2286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000" y="6656832"/>
            <a:ext cx="2743200" cy="173736"/>
          </a:xfrm>
          <a:prstGeom prst="rect">
            <a:avLst/>
          </a:prstGeom>
          <a:noFill/>
        </p:spPr>
        <p:txBody>
          <a:bodyPr wrap="none" anchor="ctr">
            <a:spAutoFit/>
          </a:bodyPr>
          <a:lstStyle/>
          <a:p>
            <a:r>
              <a:rPr sz="1000" b="1">
                <a:solidFill>
                  <a:srgbClr val="C8A951"/>
                </a:solidFill>
              </a:rPr>
              <a:t>商业化与运维</a:t>
            </a:r>
          </a:p>
        </p:txBody>
      </p:sp>
      <p:sp>
        <p:nvSpPr>
          <p:cNvPr id="16" name="Rectangle 15"/>
          <p:cNvSpPr/>
          <p:nvPr/>
        </p:nvSpPr>
        <p:spPr>
          <a:xfrm>
            <a:off x="4742535" y="6716268"/>
            <a:ext cx="420624" cy="54864"/>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199735" y="6716268"/>
            <a:ext cx="420624" cy="54864"/>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56935" y="6716268"/>
            <a:ext cx="420624" cy="54864"/>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14135" y="6716268"/>
            <a:ext cx="420624" cy="54864"/>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71335" y="6716268"/>
            <a:ext cx="420624" cy="54864"/>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028535" y="6716268"/>
            <a:ext cx="420624" cy="5486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095" y="6656832"/>
            <a:ext cx="1371600" cy="173736"/>
          </a:xfrm>
          <a:prstGeom prst="rect">
            <a:avLst/>
          </a:prstGeom>
          <a:noFill/>
        </p:spPr>
        <p:txBody>
          <a:bodyPr wrap="none" anchor="ctr">
            <a:spAutoFit/>
          </a:bodyPr>
          <a:lstStyle/>
          <a:p>
            <a:pPr algn="r"/>
            <a:r>
              <a:rPr sz="1000">
                <a:solidFill>
                  <a:srgbClr val="6B7280"/>
                </a:solidFill>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3A70"/>
        </a:solidFill>
        <a:effectLst/>
      </p:bgPr>
    </p:bg>
    <p:spTree>
      <p:nvGrpSpPr>
        <p:cNvPr id="1" name=""/>
        <p:cNvGrpSpPr/>
        <p:nvPr/>
      </p:nvGrpSpPr>
      <p:grpSpPr/>
      <p:sp>
        <p:nvSpPr>
          <p:cNvPr id="2" name="TextBox 1"/>
          <p:cNvSpPr txBox="1"/>
          <p:nvPr/>
        </p:nvSpPr>
        <p:spPr>
          <a:xfrm>
            <a:off x="1676400" y="2194560"/>
            <a:ext cx="8838895" cy="914400"/>
          </a:xfrm>
          <a:prstGeom prst="rect">
            <a:avLst/>
          </a:prstGeom>
          <a:noFill/>
        </p:spPr>
        <p:txBody>
          <a:bodyPr wrap="square">
            <a:spAutoFit/>
          </a:bodyPr>
          <a:lstStyle/>
          <a:p>
            <a:pPr algn="ctr"/>
            <a:r>
              <a:rPr sz="2800" b="1">
                <a:solidFill>
                  <a:srgbClr val="FFFFFF"/>
                </a:solidFill>
                <a:latin typeface="Georgia"/>
              </a:rPr>
              <a:t>风险、治理與实施（节）</a:t>
            </a:r>
          </a:p>
        </p:txBody>
      </p:sp>
      <p:sp>
        <p:nvSpPr>
          <p:cNvPr id="3" name="TextBox 2"/>
          <p:cNvSpPr txBox="1"/>
          <p:nvPr/>
        </p:nvSpPr>
        <p:spPr>
          <a:xfrm>
            <a:off x="2133600" y="3429000"/>
            <a:ext cx="7924495" cy="457200"/>
          </a:xfrm>
          <a:prstGeom prst="rect">
            <a:avLst/>
          </a:prstGeom>
          <a:noFill/>
        </p:spPr>
        <p:txBody>
          <a:bodyPr wrap="square">
            <a:spAutoFit/>
          </a:bodyPr>
          <a:lstStyle/>
          <a:p>
            <a:pPr algn="ctr"/>
            <a:r>
              <a:rPr sz="1600">
                <a:solidFill>
                  <a:srgbClr val="FFFFFF"/>
                </a:solidFill>
              </a:rPr>
              <a:t>本节覆盖：风险评估、治理模型與验收标准。</a:t>
            </a:r>
          </a:p>
        </p:txBody>
      </p:sp>
      <p:sp>
        <p:nvSpPr>
          <p:cNvPr id="4" name="Rectangle 3"/>
          <p:cNvSpPr/>
          <p:nvPr/>
        </p:nvSpPr>
        <p:spPr>
          <a:xfrm>
            <a:off x="4751679" y="4937759"/>
            <a:ext cx="402336" cy="731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208879" y="4937759"/>
            <a:ext cx="402336" cy="731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6079" y="4937759"/>
            <a:ext cx="402336" cy="731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123279" y="4937759"/>
            <a:ext cx="402336" cy="731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0479" y="4937759"/>
            <a:ext cx="402336" cy="731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037679" y="4937759"/>
            <a:ext cx="402336" cy="731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0858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54864"/>
            <a:ext cx="3657600" cy="201168"/>
          </a:xfrm>
          <a:prstGeom prst="rect">
            <a:avLst/>
          </a:prstGeom>
          <a:noFill/>
        </p:spPr>
        <p:txBody>
          <a:bodyPr wrap="none">
            <a:spAutoFit/>
          </a:bodyPr>
          <a:lstStyle/>
          <a:p>
            <a:r>
              <a:rPr sz="1000" b="1">
                <a:solidFill>
                  <a:srgbClr val="FFFFFF"/>
                </a:solidFill>
                <a:latin typeface="Georgia"/>
              </a:rPr>
              <a:t>Section F · 风险、治理与实施</a:t>
            </a:r>
          </a:p>
        </p:txBody>
      </p:sp>
      <p:sp>
        <p:nvSpPr>
          <p:cNvPr id="4" name="TextBox 3"/>
          <p:cNvSpPr txBox="1"/>
          <p:nvPr/>
        </p:nvSpPr>
        <p:spPr>
          <a:xfrm>
            <a:off x="762000" y="201168"/>
            <a:ext cx="9753295" cy="361696"/>
          </a:xfrm>
          <a:prstGeom prst="rect">
            <a:avLst/>
          </a:prstGeom>
          <a:noFill/>
        </p:spPr>
        <p:txBody>
          <a:bodyPr wrap="square">
            <a:spAutoFit/>
          </a:bodyPr>
          <a:lstStyle/>
          <a:p>
            <a:r>
              <a:rPr sz="2200" b="1">
                <a:solidFill>
                  <a:srgbClr val="FFFFFF"/>
                </a:solidFill>
                <a:latin typeface="Georgia"/>
              </a:rPr>
              <a:t>风险矩阵与缓解措施</a:t>
            </a:r>
          </a:p>
        </p:txBody>
      </p:sp>
      <p:sp>
        <p:nvSpPr>
          <p:cNvPr id="5" name="TextBox 4"/>
          <p:cNvSpPr txBox="1"/>
          <p:nvPr/>
        </p:nvSpPr>
        <p:spPr>
          <a:xfrm>
            <a:off x="11277295" y="201168"/>
            <a:ext cx="640080" cy="320040"/>
          </a:xfrm>
          <a:prstGeom prst="rect">
            <a:avLst/>
          </a:prstGeom>
          <a:noFill/>
        </p:spPr>
        <p:txBody>
          <a:bodyPr wrap="none">
            <a:spAutoFit/>
          </a:bodyPr>
          <a:lstStyle/>
          <a:p>
            <a:pPr algn="r"/>
            <a:r>
              <a:rPr sz="1000" b="1">
                <a:solidFill>
                  <a:srgbClr val="FFFFFF"/>
                </a:solidFill>
                <a:latin typeface="Georgia"/>
              </a:rPr>
              <a:t>25</a:t>
            </a:r>
          </a:p>
        </p:txBody>
      </p:sp>
      <p:sp>
        <p:nvSpPr>
          <p:cNvPr id="6" name="Rounded Rectangle 5"/>
          <p:cNvSpPr/>
          <p:nvPr/>
        </p:nvSpPr>
        <p:spPr>
          <a:xfrm>
            <a:off x="762000" y="855472"/>
            <a:ext cx="10667695" cy="3200400"/>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4880" y="1312672"/>
            <a:ext cx="10301935" cy="2286000"/>
          </a:xfrm>
          <a:prstGeom prst="rect">
            <a:avLst/>
          </a:prstGeom>
          <a:noFill/>
        </p:spPr>
        <p:txBody>
          <a:bodyPr wrap="square">
            <a:spAutoFit/>
          </a:bodyPr>
          <a:lstStyle/>
          <a:p>
            <a:r>
              <a:rPr sz="1100">
                <a:solidFill>
                  <a:srgbClr val="D1D5DB"/>
                </a:solidFill>
                <a:latin typeface="Georgia"/>
              </a:rPr>
              <a:t>graph TD
  subgraph "高概率 / 高影响 — P0 风险"
    A[材料短缺&lt;br/&gt;缓解：替代材料+长期协议]
    B[性能未达标&lt;br/&gt;缓解：样机验证+迭代优化]
  end</a:t>
            </a:r>
          </a:p>
        </p:txBody>
      </p:sp>
      <p:sp>
        <p:nvSpPr>
          <p:cNvPr id="8" name="Rectangle 7"/>
          <p:cNvSpPr/>
          <p:nvPr/>
        </p:nvSpPr>
        <p:spPr>
          <a:xfrm>
            <a:off x="0" y="6629400"/>
            <a:ext cx="12191695" cy="2286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000" y="6656832"/>
            <a:ext cx="2743200" cy="173736"/>
          </a:xfrm>
          <a:prstGeom prst="rect">
            <a:avLst/>
          </a:prstGeom>
          <a:noFill/>
        </p:spPr>
        <p:txBody>
          <a:bodyPr wrap="none" anchor="ctr">
            <a:spAutoFit/>
          </a:bodyPr>
          <a:lstStyle/>
          <a:p>
            <a:r>
              <a:rPr sz="1000" b="1">
                <a:solidFill>
                  <a:srgbClr val="A78BFA"/>
                </a:solidFill>
              </a:rPr>
              <a:t>风险、治理与实施</a:t>
            </a:r>
          </a:p>
        </p:txBody>
      </p:sp>
      <p:sp>
        <p:nvSpPr>
          <p:cNvPr id="10" name="Rectangle 9"/>
          <p:cNvSpPr/>
          <p:nvPr/>
        </p:nvSpPr>
        <p:spPr>
          <a:xfrm>
            <a:off x="47425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1997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569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141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713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0285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095" y="6656832"/>
            <a:ext cx="1371600" cy="173736"/>
          </a:xfrm>
          <a:prstGeom prst="rect">
            <a:avLst/>
          </a:prstGeom>
          <a:noFill/>
        </p:spPr>
        <p:txBody>
          <a:bodyPr wrap="none" anchor="ctr">
            <a:spAutoFit/>
          </a:bodyPr>
          <a:lstStyle/>
          <a:p>
            <a:pPr algn="r"/>
            <a:r>
              <a:rPr sz="1000">
                <a:solidFill>
                  <a:srgbClr val="6B7280"/>
                </a:solidFill>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60858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54864"/>
            <a:ext cx="3657600" cy="201168"/>
          </a:xfrm>
          <a:prstGeom prst="rect">
            <a:avLst/>
          </a:prstGeom>
          <a:noFill/>
        </p:spPr>
        <p:txBody>
          <a:bodyPr wrap="none">
            <a:spAutoFit/>
          </a:bodyPr>
          <a:lstStyle/>
          <a:p>
            <a:r>
              <a:rPr sz="1000" b="1">
                <a:solidFill>
                  <a:srgbClr val="FFFFFF"/>
                </a:solidFill>
                <a:latin typeface="Georgia"/>
              </a:rPr>
              <a:t>Section F · 风险、治理与实施</a:t>
            </a:r>
          </a:p>
        </p:txBody>
      </p:sp>
      <p:sp>
        <p:nvSpPr>
          <p:cNvPr id="4" name="TextBox 3"/>
          <p:cNvSpPr txBox="1"/>
          <p:nvPr/>
        </p:nvSpPr>
        <p:spPr>
          <a:xfrm>
            <a:off x="762000" y="201168"/>
            <a:ext cx="9753295" cy="361696"/>
          </a:xfrm>
          <a:prstGeom prst="rect">
            <a:avLst/>
          </a:prstGeom>
          <a:noFill/>
        </p:spPr>
        <p:txBody>
          <a:bodyPr wrap="square">
            <a:spAutoFit/>
          </a:bodyPr>
          <a:lstStyle/>
          <a:p>
            <a:r>
              <a:rPr sz="2200" b="1">
                <a:solidFill>
                  <a:srgbClr val="FFFFFF"/>
                </a:solidFill>
                <a:latin typeface="Georgia"/>
              </a:rPr>
              <a:t>项目组织与治理模型</a:t>
            </a:r>
          </a:p>
        </p:txBody>
      </p:sp>
      <p:sp>
        <p:nvSpPr>
          <p:cNvPr id="5" name="TextBox 4"/>
          <p:cNvSpPr txBox="1"/>
          <p:nvPr/>
        </p:nvSpPr>
        <p:spPr>
          <a:xfrm>
            <a:off x="11277295" y="201168"/>
            <a:ext cx="640080" cy="320040"/>
          </a:xfrm>
          <a:prstGeom prst="rect">
            <a:avLst/>
          </a:prstGeom>
          <a:noFill/>
        </p:spPr>
        <p:txBody>
          <a:bodyPr wrap="none">
            <a:spAutoFit/>
          </a:bodyPr>
          <a:lstStyle/>
          <a:p>
            <a:pPr algn="r"/>
            <a:r>
              <a:rPr sz="1000" b="1">
                <a:solidFill>
                  <a:srgbClr val="FFFFFF"/>
                </a:solidFill>
                <a:latin typeface="Georgia"/>
              </a:rPr>
              <a:t>26</a:t>
            </a:r>
          </a:p>
        </p:txBody>
      </p:sp>
      <p:sp>
        <p:nvSpPr>
          <p:cNvPr id="6" name="TextBox 5"/>
          <p:cNvSpPr txBox="1"/>
          <p:nvPr/>
        </p:nvSpPr>
        <p:spPr>
          <a:xfrm>
            <a:off x="853440" y="3326384"/>
            <a:ext cx="5944692" cy="411480"/>
          </a:xfrm>
          <a:prstGeom prst="rect">
            <a:avLst/>
          </a:prstGeom>
          <a:noFill/>
        </p:spPr>
        <p:txBody>
          <a:bodyPr wrap="square">
            <a:spAutoFit/>
          </a:bodyPr>
          <a:lstStyle/>
          <a:p>
            <a:pPr>
              <a:lnSpc>
                <a:spcPct val="150000"/>
              </a:lnSpc>
            </a:pPr>
            <a:r>
              <a:rPr sz="1400">
                <a:solidFill>
                  <a:srgbClr val="0F172A"/>
                </a:solidFill>
              </a:rPr>
              <a:t>• 项目赞助人→PMO→技术小组→供应链</a:t>
            </a:r>
          </a:p>
        </p:txBody>
      </p:sp>
      <p:sp>
        <p:nvSpPr>
          <p:cNvPr id="7" name="TextBox 6"/>
          <p:cNvSpPr txBox="1"/>
          <p:nvPr/>
        </p:nvSpPr>
        <p:spPr>
          <a:xfrm>
            <a:off x="853440" y="3765296"/>
            <a:ext cx="5944692" cy="411480"/>
          </a:xfrm>
          <a:prstGeom prst="rect">
            <a:avLst/>
          </a:prstGeom>
          <a:noFill/>
        </p:spPr>
        <p:txBody>
          <a:bodyPr wrap="square">
            <a:spAutoFit/>
          </a:bodyPr>
          <a:lstStyle/>
          <a:p>
            <a:pPr>
              <a:lnSpc>
                <a:spcPct val="150000"/>
              </a:lnSpc>
            </a:pPr>
            <a:r>
              <a:rPr sz="1400">
                <a:solidFill>
                  <a:srgbClr val="0F172A"/>
                </a:solidFill>
              </a:rPr>
              <a:t>• 决策节奏：周会/里程碑评审/月度业务回顾</a:t>
            </a:r>
          </a:p>
        </p:txBody>
      </p:sp>
      <p:sp>
        <p:nvSpPr>
          <p:cNvPr id="8" name="Rounded Rectangle 7"/>
          <p:cNvSpPr/>
          <p:nvPr/>
        </p:nvSpPr>
        <p:spPr>
          <a:xfrm>
            <a:off x="7118172" y="3326384"/>
            <a:ext cx="4311523" cy="3200400"/>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01052" y="3783584"/>
            <a:ext cx="3945763" cy="2286000"/>
          </a:xfrm>
          <a:prstGeom prst="rect">
            <a:avLst/>
          </a:prstGeom>
          <a:noFill/>
        </p:spPr>
        <p:txBody>
          <a:bodyPr wrap="square">
            <a:spAutoFit/>
          </a:bodyPr>
          <a:lstStyle/>
          <a:p>
            <a:r>
              <a:rPr sz="1100">
                <a:solidFill>
                  <a:srgbClr val="D1D5DB"/>
                </a:solidFill>
                <a:latin typeface="Georgia"/>
              </a:rPr>
              <a:t>graph LR
  Sponsor[赞助人] --&gt; PMO[PMO] --&gt; Tech[技术小组] --&gt; Supply[供应链]</a:t>
            </a:r>
          </a:p>
        </p:txBody>
      </p:sp>
      <p:sp>
        <p:nvSpPr>
          <p:cNvPr id="10" name="Rectangle 9"/>
          <p:cNvSpPr/>
          <p:nvPr/>
        </p:nvSpPr>
        <p:spPr>
          <a:xfrm>
            <a:off x="0" y="6629400"/>
            <a:ext cx="12191695" cy="2286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000" y="6656832"/>
            <a:ext cx="2743200" cy="173736"/>
          </a:xfrm>
          <a:prstGeom prst="rect">
            <a:avLst/>
          </a:prstGeom>
          <a:noFill/>
        </p:spPr>
        <p:txBody>
          <a:bodyPr wrap="none" anchor="ctr">
            <a:spAutoFit/>
          </a:bodyPr>
          <a:lstStyle/>
          <a:p>
            <a:r>
              <a:rPr sz="1000" b="1">
                <a:solidFill>
                  <a:srgbClr val="A78BFA"/>
                </a:solidFill>
              </a:rPr>
              <a:t>风险、治理与实施</a:t>
            </a:r>
          </a:p>
        </p:txBody>
      </p:sp>
      <p:sp>
        <p:nvSpPr>
          <p:cNvPr id="12" name="Rectangle 11"/>
          <p:cNvSpPr/>
          <p:nvPr/>
        </p:nvSpPr>
        <p:spPr>
          <a:xfrm>
            <a:off x="47425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1997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569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141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713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285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095" y="6656832"/>
            <a:ext cx="1371600" cy="173736"/>
          </a:xfrm>
          <a:prstGeom prst="rect">
            <a:avLst/>
          </a:prstGeom>
          <a:noFill/>
        </p:spPr>
        <p:txBody>
          <a:bodyPr wrap="none" anchor="ctr">
            <a:spAutoFit/>
          </a:bodyPr>
          <a:lstStyle/>
          <a:p>
            <a:pPr algn="r"/>
            <a:r>
              <a:rPr sz="1000">
                <a:solidFill>
                  <a:srgbClr val="6B7280"/>
                </a:solidFill>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3F4F6"/>
        </a:solidFill>
        <a:effectLst/>
      </p:bgPr>
    </p:bg>
    <p:spTree>
      <p:nvGrpSpPr>
        <p:cNvPr id="1" name=""/>
        <p:cNvGrpSpPr/>
        <p:nvPr/>
      </p:nvGrpSpPr>
      <p:grpSpPr/>
      <p:sp>
        <p:nvSpPr>
          <p:cNvPr id="2" name="Rectangle 1"/>
          <p:cNvSpPr/>
          <p:nvPr/>
        </p:nvSpPr>
        <p:spPr>
          <a:xfrm>
            <a:off x="0" y="0"/>
            <a:ext cx="12191695" cy="60858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54864"/>
            <a:ext cx="3657600" cy="201168"/>
          </a:xfrm>
          <a:prstGeom prst="rect">
            <a:avLst/>
          </a:prstGeom>
          <a:noFill/>
        </p:spPr>
        <p:txBody>
          <a:bodyPr wrap="none">
            <a:spAutoFit/>
          </a:bodyPr>
          <a:lstStyle/>
          <a:p>
            <a:r>
              <a:rPr sz="1000" b="1">
                <a:solidFill>
                  <a:srgbClr val="FFFFFF"/>
                </a:solidFill>
                <a:latin typeface="Georgia"/>
              </a:rPr>
              <a:t>Section F · 风险、治理与实施</a:t>
            </a:r>
          </a:p>
        </p:txBody>
      </p:sp>
      <p:sp>
        <p:nvSpPr>
          <p:cNvPr id="4" name="TextBox 3"/>
          <p:cNvSpPr txBox="1"/>
          <p:nvPr/>
        </p:nvSpPr>
        <p:spPr>
          <a:xfrm>
            <a:off x="762000" y="201168"/>
            <a:ext cx="9753295" cy="361696"/>
          </a:xfrm>
          <a:prstGeom prst="rect">
            <a:avLst/>
          </a:prstGeom>
          <a:noFill/>
        </p:spPr>
        <p:txBody>
          <a:bodyPr wrap="square">
            <a:spAutoFit/>
          </a:bodyPr>
          <a:lstStyle/>
          <a:p>
            <a:r>
              <a:rPr sz="2200" b="1">
                <a:solidFill>
                  <a:srgbClr val="FFFFFF"/>
                </a:solidFill>
                <a:latin typeface="Georgia"/>
              </a:rPr>
              <a:t>成功标准与验收定义</a:t>
            </a:r>
          </a:p>
        </p:txBody>
      </p:sp>
      <p:sp>
        <p:nvSpPr>
          <p:cNvPr id="5" name="TextBox 4"/>
          <p:cNvSpPr txBox="1"/>
          <p:nvPr/>
        </p:nvSpPr>
        <p:spPr>
          <a:xfrm>
            <a:off x="11277295" y="201168"/>
            <a:ext cx="640080" cy="320040"/>
          </a:xfrm>
          <a:prstGeom prst="rect">
            <a:avLst/>
          </a:prstGeom>
          <a:noFill/>
        </p:spPr>
        <p:txBody>
          <a:bodyPr wrap="none">
            <a:spAutoFit/>
          </a:bodyPr>
          <a:lstStyle/>
          <a:p>
            <a:pPr algn="r"/>
            <a:r>
              <a:rPr sz="1000" b="1">
                <a:solidFill>
                  <a:srgbClr val="FFFFFF"/>
                </a:solidFill>
                <a:latin typeface="Georgia"/>
              </a:rPr>
              <a:t>27</a:t>
            </a:r>
          </a:p>
        </p:txBody>
      </p:sp>
      <p:sp>
        <p:nvSpPr>
          <p:cNvPr id="6" name="Rounded Rectangle 5"/>
          <p:cNvSpPr/>
          <p:nvPr/>
        </p:nvSpPr>
        <p:spPr>
          <a:xfrm>
            <a:off x="762000" y="3262376"/>
            <a:ext cx="2564053" cy="777240"/>
          </a:xfrm>
          <a:prstGeom prst="round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1728" y="3353816"/>
            <a:ext cx="2344597" cy="365760"/>
          </a:xfrm>
          <a:prstGeom prst="rect">
            <a:avLst/>
          </a:prstGeom>
          <a:noFill/>
        </p:spPr>
        <p:txBody>
          <a:bodyPr wrap="none">
            <a:spAutoFit/>
          </a:bodyPr>
          <a:lstStyle/>
          <a:p>
            <a:r>
              <a:rPr sz="2000" b="1">
                <a:solidFill>
                  <a:srgbClr val="0F172A"/>
                </a:solidFill>
                <a:latin typeface="Georgia"/>
              </a:rPr>
              <a:t>&gt;= 98%</a:t>
            </a:r>
          </a:p>
        </p:txBody>
      </p:sp>
      <p:sp>
        <p:nvSpPr>
          <p:cNvPr id="8" name="TextBox 7"/>
          <p:cNvSpPr txBox="1"/>
          <p:nvPr/>
        </p:nvSpPr>
        <p:spPr>
          <a:xfrm>
            <a:off x="871728" y="3737863"/>
            <a:ext cx="2344597" cy="228600"/>
          </a:xfrm>
          <a:prstGeom prst="rect">
            <a:avLst/>
          </a:prstGeom>
          <a:noFill/>
        </p:spPr>
        <p:txBody>
          <a:bodyPr wrap="none">
            <a:spAutoFit/>
          </a:bodyPr>
          <a:lstStyle/>
          <a:p>
            <a:r>
              <a:rPr sz="1100">
                <a:solidFill>
                  <a:srgbClr val="0F172A"/>
                </a:solidFill>
              </a:rPr>
              <a:t>效率（满载）</a:t>
            </a:r>
          </a:p>
        </p:txBody>
      </p:sp>
      <p:sp>
        <p:nvSpPr>
          <p:cNvPr id="9" name="Rounded Rectangle 8"/>
          <p:cNvSpPr/>
          <p:nvPr/>
        </p:nvSpPr>
        <p:spPr>
          <a:xfrm>
            <a:off x="3463213" y="3262376"/>
            <a:ext cx="2564053" cy="777240"/>
          </a:xfrm>
          <a:prstGeom prst="round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72941" y="3353816"/>
            <a:ext cx="2344597" cy="365760"/>
          </a:xfrm>
          <a:prstGeom prst="rect">
            <a:avLst/>
          </a:prstGeom>
          <a:noFill/>
        </p:spPr>
        <p:txBody>
          <a:bodyPr wrap="none">
            <a:spAutoFit/>
          </a:bodyPr>
          <a:lstStyle/>
          <a:p>
            <a:r>
              <a:rPr sz="2000" b="1">
                <a:solidFill>
                  <a:srgbClr val="0F172A"/>
                </a:solidFill>
                <a:latin typeface="Georgia"/>
              </a:rPr>
              <a:t>&gt;= 99%</a:t>
            </a:r>
          </a:p>
        </p:txBody>
      </p:sp>
      <p:sp>
        <p:nvSpPr>
          <p:cNvPr id="11" name="TextBox 10"/>
          <p:cNvSpPr txBox="1"/>
          <p:nvPr/>
        </p:nvSpPr>
        <p:spPr>
          <a:xfrm>
            <a:off x="3572941" y="3737863"/>
            <a:ext cx="2344597" cy="228600"/>
          </a:xfrm>
          <a:prstGeom prst="rect">
            <a:avLst/>
          </a:prstGeom>
          <a:noFill/>
        </p:spPr>
        <p:txBody>
          <a:bodyPr wrap="none">
            <a:spAutoFit/>
          </a:bodyPr>
          <a:lstStyle/>
          <a:p>
            <a:r>
              <a:rPr sz="1100">
                <a:solidFill>
                  <a:srgbClr val="0F172A"/>
                </a:solidFill>
              </a:rPr>
              <a:t>示范可用率</a:t>
            </a:r>
          </a:p>
        </p:txBody>
      </p:sp>
      <p:sp>
        <p:nvSpPr>
          <p:cNvPr id="12" name="Rounded Rectangle 11"/>
          <p:cNvSpPr/>
          <p:nvPr/>
        </p:nvSpPr>
        <p:spPr>
          <a:xfrm>
            <a:off x="6164427" y="3262376"/>
            <a:ext cx="2564053" cy="777240"/>
          </a:xfrm>
          <a:prstGeom prst="round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74155" y="3353816"/>
            <a:ext cx="2344597" cy="365760"/>
          </a:xfrm>
          <a:prstGeom prst="rect">
            <a:avLst/>
          </a:prstGeom>
          <a:noFill/>
        </p:spPr>
        <p:txBody>
          <a:bodyPr wrap="none">
            <a:spAutoFit/>
          </a:bodyPr>
          <a:lstStyle/>
          <a:p>
            <a:r>
              <a:rPr sz="2000" b="1">
                <a:solidFill>
                  <a:srgbClr val="0F172A"/>
                </a:solidFill>
                <a:latin typeface="Georgia"/>
              </a:rPr>
              <a:t>&lt;= 1 次 / 月</a:t>
            </a:r>
          </a:p>
        </p:txBody>
      </p:sp>
      <p:sp>
        <p:nvSpPr>
          <p:cNvPr id="14" name="TextBox 13"/>
          <p:cNvSpPr txBox="1"/>
          <p:nvPr/>
        </p:nvSpPr>
        <p:spPr>
          <a:xfrm>
            <a:off x="6274155" y="3737863"/>
            <a:ext cx="2344597" cy="228600"/>
          </a:xfrm>
          <a:prstGeom prst="rect">
            <a:avLst/>
          </a:prstGeom>
          <a:noFill/>
        </p:spPr>
        <p:txBody>
          <a:bodyPr wrap="none">
            <a:spAutoFit/>
          </a:bodyPr>
          <a:lstStyle/>
          <a:p>
            <a:r>
              <a:rPr sz="1100">
                <a:solidFill>
                  <a:srgbClr val="0F172A"/>
                </a:solidFill>
              </a:rPr>
              <a:t>PD 事件率</a:t>
            </a:r>
          </a:p>
        </p:txBody>
      </p:sp>
      <p:sp>
        <p:nvSpPr>
          <p:cNvPr id="15" name="Rounded Rectangle 14"/>
          <p:cNvSpPr/>
          <p:nvPr/>
        </p:nvSpPr>
        <p:spPr>
          <a:xfrm>
            <a:off x="8865641" y="3262376"/>
            <a:ext cx="2564053" cy="777240"/>
          </a:xfrm>
          <a:prstGeom prst="round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75369" y="3353816"/>
            <a:ext cx="2344597" cy="365760"/>
          </a:xfrm>
          <a:prstGeom prst="rect">
            <a:avLst/>
          </a:prstGeom>
          <a:noFill/>
        </p:spPr>
        <p:txBody>
          <a:bodyPr wrap="none">
            <a:spAutoFit/>
          </a:bodyPr>
          <a:lstStyle/>
          <a:p>
            <a:r>
              <a:rPr sz="2000" b="1">
                <a:solidFill>
                  <a:srgbClr val="0F172A"/>
                </a:solidFill>
                <a:latin typeface="Georgia"/>
              </a:rPr>
              <a:t>&lt;= 40°C</a:t>
            </a:r>
          </a:p>
        </p:txBody>
      </p:sp>
      <p:sp>
        <p:nvSpPr>
          <p:cNvPr id="17" name="TextBox 16"/>
          <p:cNvSpPr txBox="1"/>
          <p:nvPr/>
        </p:nvSpPr>
        <p:spPr>
          <a:xfrm>
            <a:off x="8975369" y="3737863"/>
            <a:ext cx="2344597" cy="228600"/>
          </a:xfrm>
          <a:prstGeom prst="rect">
            <a:avLst/>
          </a:prstGeom>
          <a:noFill/>
        </p:spPr>
        <p:txBody>
          <a:bodyPr wrap="none">
            <a:spAutoFit/>
          </a:bodyPr>
          <a:lstStyle/>
          <a:p>
            <a:r>
              <a:rPr sz="1100">
                <a:solidFill>
                  <a:srgbClr val="0F172A"/>
                </a:solidFill>
              </a:rPr>
              <a:t>温升（热点）</a:t>
            </a:r>
          </a:p>
        </p:txBody>
      </p:sp>
      <p:sp>
        <p:nvSpPr>
          <p:cNvPr id="18" name="Rectangle 17"/>
          <p:cNvSpPr/>
          <p:nvPr/>
        </p:nvSpPr>
        <p:spPr>
          <a:xfrm>
            <a:off x="0" y="6629400"/>
            <a:ext cx="12191695" cy="2286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2000" y="6656832"/>
            <a:ext cx="2743200" cy="173736"/>
          </a:xfrm>
          <a:prstGeom prst="rect">
            <a:avLst/>
          </a:prstGeom>
          <a:noFill/>
        </p:spPr>
        <p:txBody>
          <a:bodyPr wrap="none" anchor="ctr">
            <a:spAutoFit/>
          </a:bodyPr>
          <a:lstStyle/>
          <a:p>
            <a:r>
              <a:rPr sz="1000" b="1">
                <a:solidFill>
                  <a:srgbClr val="A78BFA"/>
                </a:solidFill>
              </a:rPr>
              <a:t>风险、治理与实施</a:t>
            </a:r>
          </a:p>
        </p:txBody>
      </p:sp>
      <p:sp>
        <p:nvSpPr>
          <p:cNvPr id="20" name="Rectangle 19"/>
          <p:cNvSpPr/>
          <p:nvPr/>
        </p:nvSpPr>
        <p:spPr>
          <a:xfrm>
            <a:off x="47425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997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569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141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713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0285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095" y="6656832"/>
            <a:ext cx="1371600" cy="173736"/>
          </a:xfrm>
          <a:prstGeom prst="rect">
            <a:avLst/>
          </a:prstGeom>
          <a:noFill/>
        </p:spPr>
        <p:txBody>
          <a:bodyPr wrap="none" anchor="ctr">
            <a:spAutoFit/>
          </a:bodyPr>
          <a:lstStyle/>
          <a:p>
            <a:pPr algn="r"/>
            <a:r>
              <a:rPr sz="1000">
                <a:solidFill>
                  <a:srgbClr val="6B7280"/>
                </a:solidFill>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3F4F6"/>
        </a:solidFill>
        <a:effectLst/>
      </p:bgPr>
    </p:bg>
    <p:spTree>
      <p:nvGrpSpPr>
        <p:cNvPr id="1" name=""/>
        <p:cNvGrpSpPr/>
        <p:nvPr/>
      </p:nvGrpSpPr>
      <p:grpSpPr/>
      <p:sp>
        <p:nvSpPr>
          <p:cNvPr id="2" name="Rectangle 1"/>
          <p:cNvSpPr/>
          <p:nvPr/>
        </p:nvSpPr>
        <p:spPr>
          <a:xfrm>
            <a:off x="0" y="0"/>
            <a:ext cx="12191695" cy="60858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54864"/>
            <a:ext cx="3657600" cy="201168"/>
          </a:xfrm>
          <a:prstGeom prst="rect">
            <a:avLst/>
          </a:prstGeom>
          <a:noFill/>
        </p:spPr>
        <p:txBody>
          <a:bodyPr wrap="none">
            <a:spAutoFit/>
          </a:bodyPr>
          <a:lstStyle/>
          <a:p>
            <a:r>
              <a:rPr sz="1000" b="1">
                <a:solidFill>
                  <a:srgbClr val="FFFFFF"/>
                </a:solidFill>
                <a:latin typeface="Georgia"/>
              </a:rPr>
              <a:t>Section F · 风险、治理与实施</a:t>
            </a:r>
          </a:p>
        </p:txBody>
      </p:sp>
      <p:sp>
        <p:nvSpPr>
          <p:cNvPr id="4" name="TextBox 3"/>
          <p:cNvSpPr txBox="1"/>
          <p:nvPr/>
        </p:nvSpPr>
        <p:spPr>
          <a:xfrm>
            <a:off x="762000" y="201168"/>
            <a:ext cx="9753295" cy="361696"/>
          </a:xfrm>
          <a:prstGeom prst="rect">
            <a:avLst/>
          </a:prstGeom>
          <a:noFill/>
        </p:spPr>
        <p:txBody>
          <a:bodyPr wrap="square">
            <a:spAutoFit/>
          </a:bodyPr>
          <a:lstStyle/>
          <a:p>
            <a:r>
              <a:rPr sz="2200" b="1">
                <a:solidFill>
                  <a:srgbClr val="FFFFFF"/>
                </a:solidFill>
                <a:latin typeface="Georgia"/>
              </a:rPr>
              <a:t>0–12 个月实施路线图</a:t>
            </a:r>
          </a:p>
        </p:txBody>
      </p:sp>
      <p:sp>
        <p:nvSpPr>
          <p:cNvPr id="5" name="TextBox 4"/>
          <p:cNvSpPr txBox="1"/>
          <p:nvPr/>
        </p:nvSpPr>
        <p:spPr>
          <a:xfrm>
            <a:off x="11277295" y="201168"/>
            <a:ext cx="640080" cy="320040"/>
          </a:xfrm>
          <a:prstGeom prst="rect">
            <a:avLst/>
          </a:prstGeom>
          <a:noFill/>
        </p:spPr>
        <p:txBody>
          <a:bodyPr wrap="none">
            <a:spAutoFit/>
          </a:bodyPr>
          <a:lstStyle/>
          <a:p>
            <a:pPr algn="r"/>
            <a:r>
              <a:rPr sz="1000" b="1">
                <a:solidFill>
                  <a:srgbClr val="FFFFFF"/>
                </a:solidFill>
                <a:latin typeface="Georgia"/>
              </a:rPr>
              <a:t>28</a:t>
            </a:r>
          </a:p>
        </p:txBody>
      </p:sp>
      <p:sp>
        <p:nvSpPr>
          <p:cNvPr id="6" name="Rectangle 5"/>
          <p:cNvSpPr/>
          <p:nvPr/>
        </p:nvSpPr>
        <p:spPr>
          <a:xfrm>
            <a:off x="2539949" y="2105660"/>
            <a:ext cx="7111796" cy="2743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448509" y="2027936"/>
            <a:ext cx="182880" cy="182880"/>
          </a:xfrm>
          <a:prstGeom prst="ellipse">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2283968"/>
            <a:ext cx="3555898" cy="274320"/>
          </a:xfrm>
          <a:prstGeom prst="rect">
            <a:avLst/>
          </a:prstGeom>
          <a:noFill/>
        </p:spPr>
        <p:txBody>
          <a:bodyPr wrap="square">
            <a:spAutoFit/>
          </a:bodyPr>
          <a:lstStyle/>
          <a:p>
            <a:pPr algn="ctr"/>
            <a:r>
              <a:rPr sz="1600" b="1">
                <a:solidFill>
                  <a:srgbClr val="0F172A"/>
                </a:solidFill>
              </a:rPr>
              <a:t>0–3 个月</a:t>
            </a:r>
          </a:p>
        </p:txBody>
      </p:sp>
      <p:sp>
        <p:nvSpPr>
          <p:cNvPr id="9" name="TextBox 8"/>
          <p:cNvSpPr txBox="1"/>
          <p:nvPr/>
        </p:nvSpPr>
        <p:spPr>
          <a:xfrm>
            <a:off x="762000" y="2558288"/>
            <a:ext cx="3555898" cy="201168"/>
          </a:xfrm>
          <a:prstGeom prst="rect">
            <a:avLst/>
          </a:prstGeom>
          <a:noFill/>
        </p:spPr>
        <p:txBody>
          <a:bodyPr wrap="square">
            <a:spAutoFit/>
          </a:bodyPr>
          <a:lstStyle/>
          <a:p>
            <a:pPr algn="ctr"/>
            <a:r>
              <a:rPr sz="1400">
                <a:solidFill>
                  <a:srgbClr val="0F172A"/>
                </a:solidFill>
              </a:rPr>
              <a:t>项目立项、示范场地确认</a:t>
            </a:r>
          </a:p>
        </p:txBody>
      </p:sp>
      <p:sp>
        <p:nvSpPr>
          <p:cNvPr id="10" name="Oval 9"/>
          <p:cNvSpPr/>
          <p:nvPr/>
        </p:nvSpPr>
        <p:spPr>
          <a:xfrm>
            <a:off x="6004407" y="2027936"/>
            <a:ext cx="182880" cy="182880"/>
          </a:xfrm>
          <a:prstGeom prst="ellipse">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17898" y="2283968"/>
            <a:ext cx="3555898" cy="274320"/>
          </a:xfrm>
          <a:prstGeom prst="rect">
            <a:avLst/>
          </a:prstGeom>
          <a:noFill/>
        </p:spPr>
        <p:txBody>
          <a:bodyPr wrap="square">
            <a:spAutoFit/>
          </a:bodyPr>
          <a:lstStyle/>
          <a:p>
            <a:pPr algn="ctr"/>
            <a:r>
              <a:rPr sz="1600" b="1">
                <a:solidFill>
                  <a:srgbClr val="0F172A"/>
                </a:solidFill>
              </a:rPr>
              <a:t>3–9 个月</a:t>
            </a:r>
          </a:p>
        </p:txBody>
      </p:sp>
      <p:sp>
        <p:nvSpPr>
          <p:cNvPr id="12" name="TextBox 11"/>
          <p:cNvSpPr txBox="1"/>
          <p:nvPr/>
        </p:nvSpPr>
        <p:spPr>
          <a:xfrm>
            <a:off x="4317898" y="2558288"/>
            <a:ext cx="3555898" cy="201168"/>
          </a:xfrm>
          <a:prstGeom prst="rect">
            <a:avLst/>
          </a:prstGeom>
          <a:noFill/>
        </p:spPr>
        <p:txBody>
          <a:bodyPr wrap="square">
            <a:spAutoFit/>
          </a:bodyPr>
          <a:lstStyle/>
          <a:p>
            <a:pPr algn="ctr"/>
            <a:r>
              <a:rPr sz="1400">
                <a:solidFill>
                  <a:srgbClr val="0F172A"/>
                </a:solidFill>
              </a:rPr>
              <a:t>样机验证与现场小规模示范</a:t>
            </a:r>
          </a:p>
        </p:txBody>
      </p:sp>
      <p:sp>
        <p:nvSpPr>
          <p:cNvPr id="13" name="Oval 12"/>
          <p:cNvSpPr/>
          <p:nvPr/>
        </p:nvSpPr>
        <p:spPr>
          <a:xfrm>
            <a:off x="9560306" y="2027936"/>
            <a:ext cx="182880" cy="182880"/>
          </a:xfrm>
          <a:prstGeom prst="ellipse">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73796" y="2283968"/>
            <a:ext cx="3555898" cy="274320"/>
          </a:xfrm>
          <a:prstGeom prst="rect">
            <a:avLst/>
          </a:prstGeom>
          <a:noFill/>
        </p:spPr>
        <p:txBody>
          <a:bodyPr wrap="square">
            <a:spAutoFit/>
          </a:bodyPr>
          <a:lstStyle/>
          <a:p>
            <a:pPr algn="ctr"/>
            <a:r>
              <a:rPr sz="1600" b="1">
                <a:solidFill>
                  <a:srgbClr val="0F172A"/>
                </a:solidFill>
              </a:rPr>
              <a:t>9–12 个月</a:t>
            </a:r>
          </a:p>
        </p:txBody>
      </p:sp>
      <p:sp>
        <p:nvSpPr>
          <p:cNvPr id="15" name="TextBox 14"/>
          <p:cNvSpPr txBox="1"/>
          <p:nvPr/>
        </p:nvSpPr>
        <p:spPr>
          <a:xfrm>
            <a:off x="7873796" y="2558288"/>
            <a:ext cx="3555898" cy="201168"/>
          </a:xfrm>
          <a:prstGeom prst="rect">
            <a:avLst/>
          </a:prstGeom>
          <a:noFill/>
        </p:spPr>
        <p:txBody>
          <a:bodyPr wrap="square">
            <a:spAutoFit/>
          </a:bodyPr>
          <a:lstStyle/>
          <a:p>
            <a:pPr algn="ctr"/>
            <a:r>
              <a:rPr sz="1400">
                <a:solidFill>
                  <a:srgbClr val="0F172A"/>
                </a:solidFill>
              </a:rPr>
              <a:t>数据分析与标准化提案准备</a:t>
            </a:r>
          </a:p>
        </p:txBody>
      </p:sp>
      <p:sp>
        <p:nvSpPr>
          <p:cNvPr id="16" name="Rounded Rectangle 15"/>
          <p:cNvSpPr/>
          <p:nvPr/>
        </p:nvSpPr>
        <p:spPr>
          <a:xfrm>
            <a:off x="762000" y="3033776"/>
            <a:ext cx="10667695" cy="3200400"/>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4880" y="3490976"/>
            <a:ext cx="10301935" cy="2286000"/>
          </a:xfrm>
          <a:prstGeom prst="rect">
            <a:avLst/>
          </a:prstGeom>
          <a:noFill/>
        </p:spPr>
        <p:txBody>
          <a:bodyPr wrap="square">
            <a:spAutoFit/>
          </a:bodyPr>
          <a:lstStyle/>
          <a:p>
            <a:r>
              <a:rPr sz="1100">
                <a:solidFill>
                  <a:srgbClr val="D1D5DB"/>
                </a:solidFill>
                <a:latin typeface="Georgia"/>
              </a:rPr>
              <a:t>gantt
  title 0-12个月实施计划</a:t>
            </a:r>
          </a:p>
        </p:txBody>
      </p:sp>
      <p:sp>
        <p:nvSpPr>
          <p:cNvPr id="18" name="Rectangle 17"/>
          <p:cNvSpPr/>
          <p:nvPr/>
        </p:nvSpPr>
        <p:spPr>
          <a:xfrm>
            <a:off x="0" y="6629400"/>
            <a:ext cx="12191695" cy="2286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2000" y="6656832"/>
            <a:ext cx="2743200" cy="173736"/>
          </a:xfrm>
          <a:prstGeom prst="rect">
            <a:avLst/>
          </a:prstGeom>
          <a:noFill/>
        </p:spPr>
        <p:txBody>
          <a:bodyPr wrap="none" anchor="ctr">
            <a:spAutoFit/>
          </a:bodyPr>
          <a:lstStyle/>
          <a:p>
            <a:r>
              <a:rPr sz="1000" b="1">
                <a:solidFill>
                  <a:srgbClr val="A78BFA"/>
                </a:solidFill>
              </a:rPr>
              <a:t>风险、治理与实施</a:t>
            </a:r>
          </a:p>
        </p:txBody>
      </p:sp>
      <p:sp>
        <p:nvSpPr>
          <p:cNvPr id="20" name="Rectangle 19"/>
          <p:cNvSpPr/>
          <p:nvPr/>
        </p:nvSpPr>
        <p:spPr>
          <a:xfrm>
            <a:off x="47425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997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569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141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713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0285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095" y="6656832"/>
            <a:ext cx="1371600" cy="173736"/>
          </a:xfrm>
          <a:prstGeom prst="rect">
            <a:avLst/>
          </a:prstGeom>
          <a:noFill/>
        </p:spPr>
        <p:txBody>
          <a:bodyPr wrap="none" anchor="ctr">
            <a:spAutoFit/>
          </a:bodyPr>
          <a:lstStyle/>
          <a:p>
            <a:pPr algn="r"/>
            <a:r>
              <a:rPr sz="1000">
                <a:solidFill>
                  <a:srgbClr val="6B7280"/>
                </a:solidFill>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3F4F6"/>
        </a:solidFill>
        <a:effectLst/>
      </p:bgPr>
    </p:bg>
    <p:spTree>
      <p:nvGrpSpPr>
        <p:cNvPr id="1" name=""/>
        <p:cNvGrpSpPr/>
        <p:nvPr/>
      </p:nvGrpSpPr>
      <p:grpSpPr/>
      <p:sp>
        <p:nvSpPr>
          <p:cNvPr id="2" name="Rectangle 1"/>
          <p:cNvSpPr/>
          <p:nvPr/>
        </p:nvSpPr>
        <p:spPr>
          <a:xfrm>
            <a:off x="0" y="0"/>
            <a:ext cx="12191695" cy="60858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54864"/>
            <a:ext cx="3657600" cy="201168"/>
          </a:xfrm>
          <a:prstGeom prst="rect">
            <a:avLst/>
          </a:prstGeom>
          <a:noFill/>
        </p:spPr>
        <p:txBody>
          <a:bodyPr wrap="none">
            <a:spAutoFit/>
          </a:bodyPr>
          <a:lstStyle/>
          <a:p>
            <a:r>
              <a:rPr sz="1000" b="1">
                <a:solidFill>
                  <a:srgbClr val="FFFFFF"/>
                </a:solidFill>
                <a:latin typeface="Georgia"/>
              </a:rPr>
              <a:t>Section F · 风险、治理与实施</a:t>
            </a:r>
          </a:p>
        </p:txBody>
      </p:sp>
      <p:sp>
        <p:nvSpPr>
          <p:cNvPr id="4" name="TextBox 3"/>
          <p:cNvSpPr txBox="1"/>
          <p:nvPr/>
        </p:nvSpPr>
        <p:spPr>
          <a:xfrm>
            <a:off x="762000" y="201168"/>
            <a:ext cx="9753295" cy="361696"/>
          </a:xfrm>
          <a:prstGeom prst="rect">
            <a:avLst/>
          </a:prstGeom>
          <a:noFill/>
        </p:spPr>
        <p:txBody>
          <a:bodyPr wrap="square">
            <a:spAutoFit/>
          </a:bodyPr>
          <a:lstStyle/>
          <a:p>
            <a:r>
              <a:rPr sz="2200" b="1">
                <a:solidFill>
                  <a:srgbClr val="FFFFFF"/>
                </a:solidFill>
                <a:latin typeface="Georgia"/>
              </a:rPr>
              <a:t>12–18 个月扩展计划</a:t>
            </a:r>
          </a:p>
        </p:txBody>
      </p:sp>
      <p:sp>
        <p:nvSpPr>
          <p:cNvPr id="5" name="TextBox 4"/>
          <p:cNvSpPr txBox="1"/>
          <p:nvPr/>
        </p:nvSpPr>
        <p:spPr>
          <a:xfrm>
            <a:off x="11277295" y="201168"/>
            <a:ext cx="640080" cy="320040"/>
          </a:xfrm>
          <a:prstGeom prst="rect">
            <a:avLst/>
          </a:prstGeom>
          <a:noFill/>
        </p:spPr>
        <p:txBody>
          <a:bodyPr wrap="none">
            <a:spAutoFit/>
          </a:bodyPr>
          <a:lstStyle/>
          <a:p>
            <a:pPr algn="r"/>
            <a:r>
              <a:rPr sz="1000" b="1">
                <a:solidFill>
                  <a:srgbClr val="FFFFFF"/>
                </a:solidFill>
                <a:latin typeface="Georgia"/>
              </a:rPr>
              <a:t>29</a:t>
            </a:r>
          </a:p>
        </p:txBody>
      </p:sp>
      <p:sp>
        <p:nvSpPr>
          <p:cNvPr id="6" name="TextBox 5"/>
          <p:cNvSpPr txBox="1"/>
          <p:nvPr/>
        </p:nvSpPr>
        <p:spPr>
          <a:xfrm>
            <a:off x="853440" y="2165096"/>
            <a:ext cx="10484815" cy="365760"/>
          </a:xfrm>
          <a:prstGeom prst="rect">
            <a:avLst/>
          </a:prstGeom>
          <a:noFill/>
        </p:spPr>
        <p:txBody>
          <a:bodyPr wrap="square">
            <a:spAutoFit/>
          </a:bodyPr>
          <a:lstStyle/>
          <a:p>
            <a:r>
              <a:rPr sz="1400">
                <a:solidFill>
                  <a:srgbClr val="0F172A"/>
                </a:solidFill>
              </a:rPr>
              <a:t>• 扩大示范规模、优化工艺、谈判供货协议</a:t>
            </a:r>
          </a:p>
        </p:txBody>
      </p:sp>
      <p:sp>
        <p:nvSpPr>
          <p:cNvPr id="7" name="TextBox 6"/>
          <p:cNvSpPr txBox="1"/>
          <p:nvPr/>
        </p:nvSpPr>
        <p:spPr>
          <a:xfrm>
            <a:off x="853440" y="2988056"/>
            <a:ext cx="10484815" cy="365760"/>
          </a:xfrm>
          <a:prstGeom prst="rect">
            <a:avLst/>
          </a:prstGeom>
          <a:noFill/>
        </p:spPr>
        <p:txBody>
          <a:bodyPr wrap="square">
            <a:spAutoFit/>
          </a:bodyPr>
          <a:lstStyle/>
          <a:p>
            <a:r>
              <a:rPr sz="1400">
                <a:solidFill>
                  <a:srgbClr val="0F172A"/>
                </a:solidFill>
              </a:rPr>
              <a:t>• 准备产线工艺放大验证</a:t>
            </a:r>
          </a:p>
        </p:txBody>
      </p:sp>
      <p:sp>
        <p:nvSpPr>
          <p:cNvPr id="8" name="TextBox 7"/>
          <p:cNvSpPr txBox="1"/>
          <p:nvPr/>
        </p:nvSpPr>
        <p:spPr>
          <a:xfrm>
            <a:off x="807720" y="2988056"/>
            <a:ext cx="10576255" cy="411480"/>
          </a:xfrm>
          <a:prstGeom prst="rect">
            <a:avLst/>
          </a:prstGeom>
          <a:noFill/>
        </p:spPr>
        <p:txBody>
          <a:bodyPr wrap="square">
            <a:spAutoFit/>
          </a:bodyPr>
          <a:lstStyle/>
          <a:p>
            <a:pPr>
              <a:lnSpc>
                <a:spcPct val="150000"/>
              </a:lnSpc>
            </a:pPr>
            <a:r>
              <a:rPr sz="1400">
                <a:solidFill>
                  <a:srgbClr val="0F172A"/>
                </a:solidFill>
              </a:rPr>
              <a:t>• 扩大示范规模、优化工艺、谈判供货协议</a:t>
            </a:r>
          </a:p>
        </p:txBody>
      </p:sp>
      <p:sp>
        <p:nvSpPr>
          <p:cNvPr id="9" name="TextBox 8"/>
          <p:cNvSpPr txBox="1"/>
          <p:nvPr/>
        </p:nvSpPr>
        <p:spPr>
          <a:xfrm>
            <a:off x="807720" y="3426968"/>
            <a:ext cx="10576255" cy="411480"/>
          </a:xfrm>
          <a:prstGeom prst="rect">
            <a:avLst/>
          </a:prstGeom>
          <a:noFill/>
        </p:spPr>
        <p:txBody>
          <a:bodyPr wrap="square">
            <a:spAutoFit/>
          </a:bodyPr>
          <a:lstStyle/>
          <a:p>
            <a:pPr>
              <a:lnSpc>
                <a:spcPct val="150000"/>
              </a:lnSpc>
            </a:pPr>
            <a:r>
              <a:rPr sz="1400">
                <a:solidFill>
                  <a:srgbClr val="0F172A"/>
                </a:solidFill>
              </a:rPr>
              <a:t>• 准备产线工艺放大验证</a:t>
            </a:r>
          </a:p>
        </p:txBody>
      </p:sp>
      <p:sp>
        <p:nvSpPr>
          <p:cNvPr id="10" name="Rounded Rectangle 9"/>
          <p:cNvSpPr/>
          <p:nvPr/>
        </p:nvSpPr>
        <p:spPr>
          <a:xfrm>
            <a:off x="762000" y="3079496"/>
            <a:ext cx="10667695" cy="3200400"/>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4880" y="3536696"/>
            <a:ext cx="10301935" cy="2286000"/>
          </a:xfrm>
          <a:prstGeom prst="rect">
            <a:avLst/>
          </a:prstGeom>
          <a:noFill/>
        </p:spPr>
        <p:txBody>
          <a:bodyPr wrap="square">
            <a:spAutoFit/>
          </a:bodyPr>
          <a:lstStyle/>
          <a:p>
            <a:r>
              <a:rPr sz="1100">
                <a:solidFill>
                  <a:srgbClr val="D1D5DB"/>
                </a:solidFill>
                <a:latin typeface="Georgia"/>
              </a:rPr>
              <a:t>gantt
  title 12-18个月扩展计划</a:t>
            </a:r>
          </a:p>
        </p:txBody>
      </p:sp>
      <p:sp>
        <p:nvSpPr>
          <p:cNvPr id="12" name="Rectangle 11"/>
          <p:cNvSpPr/>
          <p:nvPr/>
        </p:nvSpPr>
        <p:spPr>
          <a:xfrm>
            <a:off x="0" y="6629400"/>
            <a:ext cx="12191695" cy="2286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2000" y="6656832"/>
            <a:ext cx="2743200" cy="173736"/>
          </a:xfrm>
          <a:prstGeom prst="rect">
            <a:avLst/>
          </a:prstGeom>
          <a:noFill/>
        </p:spPr>
        <p:txBody>
          <a:bodyPr wrap="none" anchor="ctr">
            <a:spAutoFit/>
          </a:bodyPr>
          <a:lstStyle/>
          <a:p>
            <a:r>
              <a:rPr sz="1000" b="1">
                <a:solidFill>
                  <a:srgbClr val="A78BFA"/>
                </a:solidFill>
              </a:rPr>
              <a:t>风险、治理与实施</a:t>
            </a:r>
          </a:p>
        </p:txBody>
      </p:sp>
      <p:sp>
        <p:nvSpPr>
          <p:cNvPr id="14" name="Rectangle 13"/>
          <p:cNvSpPr/>
          <p:nvPr/>
        </p:nvSpPr>
        <p:spPr>
          <a:xfrm>
            <a:off x="47425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1997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569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141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713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0285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095" y="6656832"/>
            <a:ext cx="1371600" cy="173736"/>
          </a:xfrm>
          <a:prstGeom prst="rect">
            <a:avLst/>
          </a:prstGeom>
          <a:noFill/>
        </p:spPr>
        <p:txBody>
          <a:bodyPr wrap="none" anchor="ctr">
            <a:spAutoFit/>
          </a:bodyPr>
          <a:lstStyle/>
          <a:p>
            <a:pPr algn="r"/>
            <a:r>
              <a:rPr sz="1000">
                <a:solidFill>
                  <a:srgbClr val="6B7280"/>
                </a:solidFill>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C8A951"/>
        </a:solidFill>
        <a:effectLst/>
      </p:bgPr>
    </p:bg>
    <p:spTree>
      <p:nvGrpSpPr>
        <p:cNvPr id="1" name=""/>
        <p:cNvGrpSpPr/>
        <p:nvPr/>
      </p:nvGrpSpPr>
      <p:grpSpPr/>
      <p:sp>
        <p:nvSpPr>
          <p:cNvPr id="2" name="Rectangle 1"/>
          <p:cNvSpPr/>
          <p:nvPr/>
        </p:nvSpPr>
        <p:spPr>
          <a:xfrm>
            <a:off x="0" y="0"/>
            <a:ext cx="12191695" cy="60858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54864"/>
            <a:ext cx="3657600" cy="201168"/>
          </a:xfrm>
          <a:prstGeom prst="rect">
            <a:avLst/>
          </a:prstGeom>
          <a:noFill/>
        </p:spPr>
        <p:txBody>
          <a:bodyPr wrap="none">
            <a:spAutoFit/>
          </a:bodyPr>
          <a:lstStyle/>
          <a:p>
            <a:r>
              <a:rPr sz="1000" b="1">
                <a:solidFill>
                  <a:srgbClr val="FFFFFF"/>
                </a:solidFill>
                <a:latin typeface="Georgia"/>
              </a:rPr>
              <a:t>Section F · 风险、治理与实施</a:t>
            </a:r>
          </a:p>
        </p:txBody>
      </p:sp>
      <p:sp>
        <p:nvSpPr>
          <p:cNvPr id="4" name="TextBox 3"/>
          <p:cNvSpPr txBox="1"/>
          <p:nvPr/>
        </p:nvSpPr>
        <p:spPr>
          <a:xfrm>
            <a:off x="762000" y="201168"/>
            <a:ext cx="9753295" cy="361696"/>
          </a:xfrm>
          <a:prstGeom prst="rect">
            <a:avLst/>
          </a:prstGeom>
          <a:noFill/>
        </p:spPr>
        <p:txBody>
          <a:bodyPr wrap="square">
            <a:spAutoFit/>
          </a:bodyPr>
          <a:lstStyle/>
          <a:p>
            <a:r>
              <a:rPr sz="2200" b="1">
                <a:solidFill>
                  <a:srgbClr val="FFFFFF"/>
                </a:solidFill>
                <a:latin typeface="Georgia"/>
              </a:rPr>
              <a:t>预算请求與附录（下一步）</a:t>
            </a:r>
          </a:p>
        </p:txBody>
      </p:sp>
      <p:sp>
        <p:nvSpPr>
          <p:cNvPr id="5" name="TextBox 4"/>
          <p:cNvSpPr txBox="1"/>
          <p:nvPr/>
        </p:nvSpPr>
        <p:spPr>
          <a:xfrm>
            <a:off x="11277295" y="201168"/>
            <a:ext cx="640080" cy="320040"/>
          </a:xfrm>
          <a:prstGeom prst="rect">
            <a:avLst/>
          </a:prstGeom>
          <a:noFill/>
        </p:spPr>
        <p:txBody>
          <a:bodyPr wrap="none">
            <a:spAutoFit/>
          </a:bodyPr>
          <a:lstStyle/>
          <a:p>
            <a:pPr algn="r"/>
            <a:r>
              <a:rPr sz="1000" b="1">
                <a:solidFill>
                  <a:srgbClr val="FFFFFF"/>
                </a:solidFill>
                <a:latin typeface="Georgia"/>
              </a:rPr>
              <a:t>30</a:t>
            </a:r>
          </a:p>
        </p:txBody>
      </p:sp>
      <p:sp>
        <p:nvSpPr>
          <p:cNvPr id="6" name="Rounded Rectangle 5"/>
          <p:cNvSpPr/>
          <p:nvPr/>
        </p:nvSpPr>
        <p:spPr>
          <a:xfrm>
            <a:off x="2578049" y="2251964"/>
            <a:ext cx="7035596" cy="2752344"/>
          </a:xfrm>
          <a:prstGeom prst="roundRect">
            <a:avLst/>
          </a:prstGeom>
          <a:solidFill>
            <a:srgbClr val="C8A9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98089" y="2526284"/>
            <a:ext cx="6395516" cy="457200"/>
          </a:xfrm>
          <a:prstGeom prst="rect">
            <a:avLst/>
          </a:prstGeom>
          <a:noFill/>
        </p:spPr>
        <p:txBody>
          <a:bodyPr wrap="square">
            <a:spAutoFit/>
          </a:bodyPr>
          <a:lstStyle/>
          <a:p>
            <a:r>
              <a:rPr sz="1600" b="1">
                <a:solidFill>
                  <a:srgbClr val="0F172A"/>
                </a:solidFill>
              </a:rPr>
              <a:t>初始示范预算</a:t>
            </a:r>
          </a:p>
        </p:txBody>
      </p:sp>
      <p:sp>
        <p:nvSpPr>
          <p:cNvPr id="8" name="TextBox 7"/>
          <p:cNvSpPr txBox="1"/>
          <p:nvPr/>
        </p:nvSpPr>
        <p:spPr>
          <a:xfrm>
            <a:off x="2898089" y="3029204"/>
            <a:ext cx="6395516" cy="457200"/>
          </a:xfrm>
          <a:prstGeom prst="rect">
            <a:avLst/>
          </a:prstGeom>
          <a:noFill/>
        </p:spPr>
        <p:txBody>
          <a:bodyPr wrap="square">
            <a:spAutoFit/>
          </a:bodyPr>
          <a:lstStyle/>
          <a:p>
            <a:r>
              <a:rPr sz="1600" b="1">
                <a:solidFill>
                  <a:srgbClr val="0F172A"/>
                </a:solidFill>
              </a:rPr>
              <a:t>下一步</a:t>
            </a:r>
          </a:p>
        </p:txBody>
      </p:sp>
      <p:sp>
        <p:nvSpPr>
          <p:cNvPr id="9" name="TextBox 8"/>
          <p:cNvSpPr txBox="1"/>
          <p:nvPr/>
        </p:nvSpPr>
        <p:spPr>
          <a:xfrm>
            <a:off x="2943809" y="3669284"/>
            <a:ext cx="6304076" cy="411480"/>
          </a:xfrm>
          <a:prstGeom prst="rect">
            <a:avLst/>
          </a:prstGeom>
          <a:noFill/>
        </p:spPr>
        <p:txBody>
          <a:bodyPr wrap="square">
            <a:spAutoFit/>
          </a:bodyPr>
          <a:lstStyle/>
          <a:p>
            <a:pPr>
              <a:lnSpc>
                <a:spcPct val="150000"/>
              </a:lnSpc>
            </a:pPr>
            <a:r>
              <a:rPr sz="1400">
                <a:solidFill>
                  <a:srgbClr val="0F172A"/>
                </a:solidFill>
              </a:rPr>
              <a:t>• </a:t>
            </a:r>
          </a:p>
        </p:txBody>
      </p:sp>
      <p:sp>
        <p:nvSpPr>
          <p:cNvPr id="10" name="TextBox 9"/>
          <p:cNvSpPr txBox="1"/>
          <p:nvPr/>
        </p:nvSpPr>
        <p:spPr>
          <a:xfrm>
            <a:off x="2943809" y="4108196"/>
            <a:ext cx="6304076" cy="411480"/>
          </a:xfrm>
          <a:prstGeom prst="rect">
            <a:avLst/>
          </a:prstGeom>
          <a:noFill/>
        </p:spPr>
        <p:txBody>
          <a:bodyPr wrap="square">
            <a:spAutoFit/>
          </a:bodyPr>
          <a:lstStyle/>
          <a:p>
            <a:pPr>
              <a:lnSpc>
                <a:spcPct val="150000"/>
              </a:lnSpc>
            </a:pPr>
            <a:r>
              <a:rPr sz="1400">
                <a:solidFill>
                  <a:srgbClr val="0F172A"/>
                </a:solidFill>
              </a:rPr>
              <a:t>• </a:t>
            </a:r>
          </a:p>
        </p:txBody>
      </p:sp>
      <p:sp>
        <p:nvSpPr>
          <p:cNvPr id="11" name="Rectangle 10"/>
          <p:cNvSpPr/>
          <p:nvPr/>
        </p:nvSpPr>
        <p:spPr>
          <a:xfrm>
            <a:off x="0" y="6629400"/>
            <a:ext cx="12191695" cy="2286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6656832"/>
            <a:ext cx="2743200" cy="173736"/>
          </a:xfrm>
          <a:prstGeom prst="rect">
            <a:avLst/>
          </a:prstGeom>
          <a:noFill/>
        </p:spPr>
        <p:txBody>
          <a:bodyPr wrap="none" anchor="ctr">
            <a:spAutoFit/>
          </a:bodyPr>
          <a:lstStyle/>
          <a:p>
            <a:r>
              <a:rPr sz="1000" b="1">
                <a:solidFill>
                  <a:srgbClr val="A78BFA"/>
                </a:solidFill>
              </a:rPr>
              <a:t>风险、治理与实施</a:t>
            </a:r>
          </a:p>
        </p:txBody>
      </p:sp>
      <p:sp>
        <p:nvSpPr>
          <p:cNvPr id="13" name="Rectangle 12"/>
          <p:cNvSpPr/>
          <p:nvPr/>
        </p:nvSpPr>
        <p:spPr>
          <a:xfrm>
            <a:off x="47425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1997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569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141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713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028535" y="6716268"/>
            <a:ext cx="420624"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095" y="6656832"/>
            <a:ext cx="1371600" cy="173736"/>
          </a:xfrm>
          <a:prstGeom prst="rect">
            <a:avLst/>
          </a:prstGeom>
          <a:noFill/>
        </p:spPr>
        <p:txBody>
          <a:bodyPr wrap="none" anchor="ctr">
            <a:spAutoFit/>
          </a:bodyPr>
          <a:lstStyle/>
          <a:p>
            <a:pPr algn="r"/>
            <a:r>
              <a:rPr sz="1000">
                <a:solidFill>
                  <a:srgbClr val="6B7280"/>
                </a:solidFill>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