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30 秒陈述核心结论与三项决策请求，目标让管理层快速授权示范、材料验证与标准化参与。</a:t>
            </a:r>
          </a:p>
          <a:p/>
          <a:p>
            <a:r>
              <a:t>rationale: 结论先行能节省管理层时间并聚焦资源在最能降低不确定性的活动（示范与材料验证）。</a:t>
            </a:r>
          </a:p>
          <a:p/>
          <a:p>
            <a:r>
              <a:t>evidence: 报告与市场调研显示 50–200 kHz 节点兼顾密度与工程可行性（见报告第4节）。</a:t>
            </a:r>
          </a:p>
          <a:p/>
          <a:p>
            <a:r>
              <a:t>audience_action: 请当场确认是否批准示范与首轮预算，并指派项目负责人。</a:t>
            </a:r>
          </a:p>
          <a:p/>
          <a:p>
            <a:r>
              <a:t>risks: KPIs 需在样机验证后细化。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简要呈现本次会议的三项决策请求与预期交付物，便于现场快速表决。</a:t>
            </a:r>
          </a:p>
          <a:p/>
          <a:p>
            <a:r>
              <a:t>rationale: 将决策点前置减少讨论时间，确保资金与资源在关键里程碑上到位。</a:t>
            </a:r>
          </a:p>
          <a:p/>
          <a:p>
            <a:r>
              <a:t>evidence: 短期示范能在 6–12 个月内提供验证数据（见 Slide 27–29）。</a:t>
            </a:r>
          </a:p>
          <a:p/>
          <a:p>
            <a:r>
              <a:t>audience_action: 请就每项决策给出明确表态（通过/否决/需要进一步信息）。</a:t>
            </a:r>
          </a:p>
          <a:p/>
          <a:p>
            <a:r>
              <a:t>risks: 若补充信息过多，决策将延后影响项目节奏。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迅速回顾三条关键结论，供管理层据此优先分配资源。</a:t>
            </a:r>
          </a:p>
          <a:p/>
          <a:p>
            <a:r>
              <a:t>rationale: 结论先行便于管理层判断资源配置与优先级。</a:t>
            </a:r>
          </a:p>
          <a:p/>
          <a:p>
            <a:r>
              <a:t>evidence: 报告执行摘要与市场估算支持本结论。</a:t>
            </a:r>
          </a:p>
          <a:p/>
          <a:p>
            <a:r>
              <a:t>audience_action: 请确认是否接受结论并据此优先分配资源。</a:t>
            </a:r>
          </a:p>
          <a:p/>
          <a:p>
            <a:r>
              <a:t>risks: 若示范数据不一致需保留快速调整机制。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本节涵盖市场细分、竞争格局与战略优先级以支持示范场景选择。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概述主要细分市场、估算区间与当前数据不确定性来源。</a:t>
            </a:r>
          </a:p>
          <a:p/>
          <a:p>
            <a:r>
              <a:t>rationale: 明确市场驱动与不确定性可帮助制定示范场景。</a:t>
            </a:r>
          </a:p>
          <a:p/>
          <a:p>
            <a:r>
              <a:t>evidence: 多家市场报告与企业示范显示 EV 快充与 SST 为首要驱动。</a:t>
            </a:r>
          </a:p>
          <a:p/>
          <a:p>
            <a:r>
              <a:t>audience_action: 批准首批示范的目标场景与数据验证指标。</a:t>
            </a:r>
          </a:p>
          <a:p/>
          <a:p>
            <a:r>
              <a:t>risks: 市场估算偏差可能延长回收期。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说明区域竞争格局与建议差异化策略。</a:t>
            </a:r>
          </a:p>
          <a:p/>
          <a:p>
            <a:r>
              <a:t>rationale: 差异化更能形成长期壁垒而非价格战。</a:t>
            </a:r>
          </a:p>
          <a:p/>
          <a:p>
            <a:r>
              <a:t>evidence: 国内供应链在制造成本上有优势，国际厂商在认证与系统集成上占优。</a:t>
            </a:r>
          </a:p>
          <a:p/>
          <a:p>
            <a:r>
              <a:t>audience_action: 指示商业团队准备区域化进入策略。</a:t>
            </a:r>
          </a:p>
          <a:p/>
          <a:p>
            <a:r>
              <a:t>risks: 忽视标准与认证可能遇到市场准入障碍。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通过影响 vs 难度矩阵对任务排序，明确资源倾斜点。</a:t>
            </a:r>
          </a:p>
          <a:p/>
          <a:p>
            <a:r>
              <a:t>rationale: 优先可产生成果的高影响任务，降低项目风险。</a:t>
            </a:r>
          </a:p>
          <a:p/>
          <a:p>
            <a:r>
              <a:t>evidence: 附录执行路线显示示范与材料验证在短期内可产生成果。</a:t>
            </a:r>
          </a:p>
          <a:p/>
          <a:p>
            <a:r>
              <a:t>audience_action: 根据矩阵确认初始预算分配比例。</a:t>
            </a:r>
          </a:p>
          <a:p/>
          <a:p>
            <a:r>
              <a:t>risks: 矩阵需定期复核以反映试点数据。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本节涵盖器件对 MFT 的影响、频段与拓扑推荐、材料选择。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说明器件如何推动更高频率设计并影响 MFT 参数。</a:t>
            </a:r>
          </a:p>
          <a:p/>
          <a:p>
            <a:r>
              <a:t>rationale: 器件 dv/dt 与开关能量直接影响磁性件设计，需系统协同。</a:t>
            </a:r>
          </a:p>
          <a:p/>
          <a:p>
            <a:r>
              <a:t>evidence: 供应商白皮书与仿真显示频率提升带来损耗与绝缘应力双重挑战。</a:t>
            </a:r>
          </a:p>
          <a:p/>
          <a:p>
            <a:r>
              <a:t>audience_action: 成立器件—磁性—系统协同小组并明确 POC 目标。</a:t>
            </a:r>
          </a:p>
          <a:p/>
          <a:p>
            <a:r>
              <a:t>risks: 器件成熟度、成本与可靠性影响频段选择。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说明为何推荐 50–200 kHz 频段并给出拓扑建议。</a:t>
            </a:r>
          </a:p>
          <a:p/>
          <a:p>
            <a:r>
              <a:t>rationale: 该频段能平衡密度与损耗，成熟拓扑支持商业化。</a:t>
            </a:r>
          </a:p>
          <a:p/>
          <a:p>
            <a:r>
              <a:t>evidence: 业界试点与文献支持该区间表现良好。</a:t>
            </a:r>
          </a:p>
          <a:p/>
          <a:p>
            <a:r>
              <a:t>audience_action: 批准首轮样机采用该频段与拓扑作为验证对象。</a:t>
            </a:r>
          </a:p>
          <a:p/>
          <a:p>
            <a:r>
              <a:t>risks: 不同场景下可能需调整，样机验证必要。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推荐并行验证 2–3 种候选材料并制定统一测评指标。</a:t>
            </a:r>
          </a:p>
          <a:p/>
          <a:p>
            <a:r>
              <a:t>rationale: 材料决定铁损、成本與可量产性，早期验证降低后期风险。</a:t>
            </a:r>
          </a:p>
          <a:p/>
          <a:p>
            <a:r>
              <a:t>evidence: 供应商数据与文献显示不同材料在频率与温度敏感性差异显著。</a:t>
            </a:r>
          </a:p>
          <a:p/>
          <a:p>
            <a:r>
              <a:t>audience_action: 批准材料验证方案（指标、样本量、供应商名单）。</a:t>
            </a:r>
          </a:p>
          <a:p/>
          <a:p>
            <a:r>
              <a:t>risks: 实验室与量产工艺差异需考虑。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强调绕组设计要兼顾电气性能與制造可重复性。</a:t>
            </a:r>
          </a:p>
          <a:p/>
          <a:p>
            <a:r>
              <a:t>rationale: 设计若未考虑制造偏差，量产良率会受影响。</a:t>
            </a:r>
          </a:p>
          <a:p/>
          <a:p>
            <a:r>
              <a:t>evidence: 不同绕组形式对互电感与局放行为有显著影响。</a:t>
            </a:r>
          </a:p>
          <a:p/>
          <a:p>
            <a:r>
              <a:t>audience_action: 要求研发和制造共同制定绕组公差与测试规范。</a:t>
            </a:r>
          </a:p>
          <a:p/>
          <a:p>
            <a:r>
              <a:t>risks: 忽视制造约束会导致返工或成本上升。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说明损耗分解方法与验证流程并给出优化优先级。</a:t>
            </a:r>
          </a:p>
          <a:p/>
          <a:p>
            <a:r>
              <a:t>rationale: 精确损耗模型指导设计优化与冷却策略。</a:t>
            </a:r>
          </a:p>
          <a:p/>
          <a:p>
            <a:r>
              <a:t>evidence: 仿真与实测可分离出不同损耗贡献。</a:t>
            </a:r>
          </a:p>
          <a:p/>
          <a:p>
            <a:r>
              <a:t>audience_action: 同意建立损耗模型与验证试验计划并分配资源。</a:t>
            </a:r>
          </a:p>
          <a:p/>
          <a:p>
            <a:r>
              <a:t>risks: 模型精度受材料参数及边界条件影响。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本节聚焦工程验证的关键风险与解决策略。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概述短中长期冷却方案验证路径与关键测试指标。</a:t>
            </a:r>
          </a:p>
          <a:p/>
          <a:p>
            <a:r>
              <a:t>rationale: 不同冷却方案在成本、复杂度与可靠性上权衡明显，需样机测试。</a:t>
            </a:r>
          </a:p>
          <a:p/>
          <a:p>
            <a:r>
              <a:t>evidence: 热仿真与实验支持方案比较。</a:t>
            </a:r>
          </a:p>
          <a:p/>
          <a:p>
            <a:r>
              <a:t>audience_action: 批准短期风冷验证与中期液冷评估试验计划。</a:t>
            </a:r>
          </a:p>
          <a:p/>
          <a:p>
            <a:r>
              <a:t>risks: 液冷带来泄漏与维护复杂度风险。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 PD 测试、老化与绝缘设计在早期验证的重要性。</a:t>
            </a:r>
          </a:p>
          <a:p/>
          <a:p>
            <a:r>
              <a:t>rationale: PD 是绝缘失效前兆，早期发现可降低返修与失效风险。</a:t>
            </a:r>
          </a:p>
          <a:p/>
          <a:p>
            <a:r>
              <a:t>evidence: 监测数据与文献显示 PD 与绝缘早期失效相关。</a:t>
            </a:r>
          </a:p>
          <a:p/>
          <a:p>
            <a:r>
              <a:t>audience_action: 在样机测试中加入 PD/老化试验并指定第三方实验室参与。</a:t>
            </a:r>
          </a:p>
          <a:p/>
          <a:p>
            <a:r>
              <a:t>risks: PD 设备与标准差异需互比建立判据。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强调早期进行 EMC 预检并将结果反馈到样机迭代中。</a:t>
            </a:r>
          </a:p>
          <a:p/>
          <a:p>
            <a:r>
              <a:t>rationale: EMC 问题在系统集成阶段成本高且影响广，预检能减少整改。</a:t>
            </a:r>
          </a:p>
          <a:p/>
          <a:p>
            <a:r>
              <a:t>evidence: 示范项目中的 EMC 返工案例。</a:t>
            </a:r>
          </a:p>
          <a:p/>
          <a:p>
            <a:r>
              <a:t>audience_action: 批准 EMC 预检计划并列为样机放行强制测试。</a:t>
            </a:r>
          </a:p>
          <a:p/>
          <a:p>
            <a:r>
              <a:t>risks: EMC 测试标准与实验条件影响一致性。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说明建立生产放行标准（SPC）与自动化测试的优先项。</a:t>
            </a:r>
          </a:p>
          <a:p/>
          <a:p>
            <a:r>
              <a:t>rationale: 放行标准与自动化测试稳定良率并降低人工成本。</a:t>
            </a:r>
          </a:p>
          <a:p/>
          <a:p>
            <a:r>
              <a:t>evidence: SPC 控制点直接影响一致性与寿命。</a:t>
            </a:r>
          </a:p>
          <a:p/>
          <a:p>
            <a:r>
              <a:t>audience_action: 指示制造团队制定首版放行 SOP 并安排试产验证。</a:t>
            </a:r>
          </a:p>
          <a:p/>
          <a:p>
            <a:r>
              <a:t>risks: 自动化投入需与产量成长性匹配。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概述关键材料的供给风险與替代策略，建议采购提前介入并完成合约谈判。</a:t>
            </a:r>
          </a:p>
          <a:p/>
          <a:p>
            <a:r>
              <a:t>rationale: 提前锁定供应链可降低断供与价格波动风险。</a:t>
            </a:r>
          </a:p>
          <a:p/>
          <a:p>
            <a:r>
              <a:t>evidence: 行业案例表明长期协议可减少中断风险。</a:t>
            </a:r>
          </a:p>
          <a:p/>
          <a:p>
            <a:r>
              <a:t>audience_action: 批准采购团队开展中长期供货谈判。</a:t>
            </a:r>
          </a:p>
          <a:p/>
          <a:p>
            <a:r>
              <a:t>risks: 供应商无法保证长期供货时需评估替代材料工程代价。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本节展示示范计划、验证流程与数据策略。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说明示范目标：验证假设并收集支持标准化的数据。</a:t>
            </a:r>
          </a:p>
          <a:p/>
          <a:p>
            <a:r>
              <a:t>rationale: 现场数据能显著改进设计與运维策略并加速市场采纳。</a:t>
            </a:r>
          </a:p>
          <a:p/>
          <a:p>
            <a:r>
              <a:t>evidence: 先行示范案例显示现场数据帮助改进设计。</a:t>
            </a:r>
          </a:p>
          <a:p/>
          <a:p>
            <a:r>
              <a:t>audience_action: 批准示范计划并明确数据采集与审核责任。</a:t>
            </a:r>
          </a:p>
          <a:p/>
          <a:p>
            <a:r>
              <a:t>risks: 现场环境差异可能影响代表性。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描述仿真—样机—现场验证闭环流程与关键校准点。</a:t>
            </a:r>
          </a:p>
          <a:p/>
          <a:p>
            <a:r>
              <a:t>rationale: 高质量仿真减少物理试验次数並提前识别失效模式。</a:t>
            </a:r>
          </a:p>
          <a:p/>
          <a:p>
            <a:r>
              <a:t>evidence: 多物理场耦合仿真对热点与损耗预测在样机中得到证实。</a:t>
            </a:r>
          </a:p>
          <a:p/>
          <a:p>
            <a:r>
              <a:t>audience_action: 支持建立仿真模板與样机基准并分配资源。</a:t>
            </a:r>
          </a:p>
          <a:p/>
          <a:p>
            <a:r>
              <a:t>risks: 仿真输入参数与边界条件决定可信度。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列出示范阶段核心 KPI 与端到端数据管道。</a:t>
            </a:r>
          </a:p>
          <a:p/>
          <a:p>
            <a:r>
              <a:t>rationale: 明确 KPI 与数据治理是证明样机成功的前提。</a:t>
            </a:r>
          </a:p>
          <a:p/>
          <a:p>
            <a:r>
              <a:t>evidence: 标准化 KPI 便于互比與累积证据。</a:t>
            </a:r>
          </a:p>
          <a:p/>
          <a:p>
            <a:r>
              <a:t>audience_action: 批准 KPI 列表与数据治理计划。</a:t>
            </a:r>
          </a:p>
          <a:p/>
          <a:p>
            <a:r>
              <a:t>risks: 数据丢失或质量不佳将降低示范可信度。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本节讨论商业模式、成本敏感性與运维策略。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说明商业化路径：试点验证→付费安装→运维订阅→增值服务。</a:t>
            </a:r>
          </a:p>
          <a:p/>
          <a:p>
            <a:r>
              <a:t>rationale: 结合硬件销售与 SaaS 运维提高长期毛利。</a:t>
            </a:r>
          </a:p>
          <a:p/>
          <a:p>
            <a:r>
              <a:t>evidence: 行业案例显示运维服务提高复购率。</a:t>
            </a:r>
          </a:p>
          <a:p/>
          <a:p>
            <a:r>
              <a:t>audience_action: 同意商业模式假设并支持商务团队试点。</a:t>
            </a:r>
          </a:p>
          <a:p/>
          <a:p>
            <a:r>
              <a:t>risks: 初期运维成本高于估计会降低利润。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概述 BOM 关键成本驱动與对 ROI 的敏感性假设。</a:t>
            </a:r>
          </a:p>
          <a:p/>
          <a:p>
            <a:r>
              <a:t>rationale: 敏感性分析帮助评估投资风险与缓冲预算需求。</a:t>
            </a:r>
          </a:p>
          <a:p/>
          <a:p>
            <a:r>
              <a:t>evidence: 材料与良率显著影响单位成本。</a:t>
            </a:r>
          </a:p>
          <a:p/>
          <a:p>
            <a:r>
              <a:t>audience_action: 请财务基于敏感性假设提供资金缓冲建议。</a:t>
            </a:r>
          </a:p>
          <a:p/>
          <a:p>
            <a:r>
              <a:t>risks: 材料市场剧烈波动需触发替代策略。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描述如何通过在线监测与预测性维护降低停机并创造服务收入。</a:t>
            </a:r>
          </a:p>
          <a:p/>
          <a:p>
            <a:r>
              <a:t>rationale: 运维数据延长寿命并降低 MTTR，提高客户价值。</a:t>
            </a:r>
          </a:p>
          <a:p/>
          <a:p>
            <a:r>
              <a:t>evidence: 行业案例表明在线监测显著改善 TCO。</a:t>
            </a:r>
          </a:p>
          <a:p/>
          <a:p>
            <a:r>
              <a:t>audience_action: 授权试点将在线监测纳入示范并评估商业化潜力。</a:t>
            </a:r>
          </a:p>
          <a:p/>
          <a:p>
            <a:r>
              <a:t>risks: 数据隐私與连通性需验证。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说明如何利用示范数据推动标准化并降低市场壁垒。</a:t>
            </a:r>
          </a:p>
          <a:p/>
          <a:p>
            <a:r>
              <a:t>rationale: 标准提高互操作性并减少客户采购疑虑。</a:t>
            </a:r>
          </a:p>
          <a:p/>
          <a:p>
            <a:r>
              <a:t>evidence: 早期参与标准化厂商获得更高采纳率。</a:t>
            </a:r>
          </a:p>
          <a:p/>
          <a:p>
            <a:r>
              <a:t>audience_action: 批准参与标准化委员会并支持数据共享。</a:t>
            </a:r>
          </a:p>
          <a:p/>
          <a:p>
            <a:r>
              <a:t>risks: 标准制定周期长，短期效果有限。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本节覆盖风险评估、治理模型与验收标准。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概述技术、供应、市场與法规风险并提出缓解方案与责任人建议。</a:t>
            </a:r>
          </a:p>
          <a:p/>
          <a:p>
            <a:r>
              <a:t>rationale: 帮助管理层识别高优先级风险并预留应急预算与替代路线。</a:t>
            </a:r>
          </a:p>
          <a:p/>
          <a:p>
            <a:r>
              <a:t>evidence: 结合示范前期调研与行业反馈确定的风险项。</a:t>
            </a:r>
          </a:p>
          <a:p/>
          <a:p>
            <a:r>
              <a:t>audience_action: 批准风险应对措施与触发条件。</a:t>
            </a:r>
          </a:p>
          <a:p/>
          <a:p>
            <a:r>
              <a:t>risks: 风险评估需定期更新。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提出项目治理结构、沟通节奏與关键角色职责。</a:t>
            </a:r>
          </a:p>
          <a:p/>
          <a:p>
            <a:r>
              <a:t>rationale: 明确治理模型加速决策流程并保证跨部门协同。</a:t>
            </a:r>
          </a:p>
          <a:p/>
          <a:p>
            <a:r>
              <a:t>evidence: 成功项目通常有明确 PMO 与快速升级通道。</a:t>
            </a:r>
          </a:p>
          <a:p/>
          <a:p>
            <a:r>
              <a:t>audience_action: 指派项目赞助人与 PMO，并确认评审频率与报告格式。</a:t>
            </a:r>
          </a:p>
          <a:p/>
          <a:p>
            <a:r>
              <a:t>risks: 治理不力将导致目标漂移。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列举样机、示范与量产阶段的验收准则與流程。</a:t>
            </a:r>
          </a:p>
          <a:p/>
          <a:p>
            <a:r>
              <a:t>rationale: 明确验收标准有助于降低争议并保证交付质量。</a:t>
            </a:r>
          </a:p>
          <a:p/>
          <a:p>
            <a:r>
              <a:t>evidence: 采用分级验收流程在多个工业项目中行之有效。</a:t>
            </a:r>
          </a:p>
          <a:p/>
          <a:p>
            <a:r>
              <a:t>audience_action: 批准首版验收准则并纳入示范合同。</a:t>
            </a:r>
          </a:p>
          <a:p/>
          <a:p>
            <a:r>
              <a:t>risks: 验收标准需与第三方实验室能力匹配。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列出 0–12 个月关键里程碑、责任人与验收门槛。</a:t>
            </a:r>
          </a:p>
          <a:p/>
          <a:p>
            <a:r>
              <a:t>rationale: 短期计划帮助管控节奏并产出示范数据。</a:t>
            </a:r>
          </a:p>
          <a:p/>
          <a:p>
            <a:r>
              <a:t>evidence: 附录 A 的执行路线与 KPI 可作为核验依据。</a:t>
            </a:r>
          </a:p>
          <a:p/>
          <a:p>
            <a:r>
              <a:t>audience_action: 批准短期里程时间表與首轮资源拨付。</a:t>
            </a:r>
          </a:p>
          <a:p/>
          <a:p>
            <a:r>
              <a:t>risks: 关键路径任务延迟会影响后续里程碑。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说明中期扩展目标、产线准备與供应协议谈判优先级。</a:t>
            </a:r>
          </a:p>
          <a:p/>
          <a:p>
            <a:r>
              <a:t>rationale: 当示范验证成功后需迅速放大产能降低单位成本。</a:t>
            </a:r>
          </a:p>
          <a:p/>
          <a:p>
            <a:r>
              <a:t>evidence: 产线放大需提前解决工艺稳定性與供应链问题。</a:t>
            </a:r>
          </a:p>
          <a:p/>
          <a:p>
            <a:r>
              <a:t>audience_action: 批准中期扩展方案并预留资本预算。</a:t>
            </a:r>
          </a:p>
          <a:p/>
          <a:p>
            <a:r>
              <a:t>risks: 产线扩张与市场需求不匹配风险。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提供首轮预算区间、主要支出项与关键 ROI 假设。</a:t>
            </a:r>
          </a:p>
          <a:p/>
          <a:p>
            <a:r>
              <a:t>rationale: 管理层需评估资金投放與风险容忍度，敏感性分析有助制定保守预算。</a:t>
            </a:r>
          </a:p>
          <a:p/>
          <a:p>
            <a:r>
              <a:t>evidence: 依据不同场景给出成本区间与回收期估算。</a:t>
            </a:r>
          </a:p>
          <a:p/>
          <a:p>
            <a:r>
              <a:t>audience_action: 请财务确认预算并确定阶段性拨付标准。</a:t>
            </a:r>
          </a:p>
          <a:p/>
          <a:p>
            <a:r>
              <a:t>risks: 实际成本若高于预算需预设调配方案。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重申下一步：指定负责人并在1周内启动首轮会议。</a:t>
            </a:r>
          </a:p>
          <a:p/>
          <a:p>
            <a:r>
              <a:t>rationale: 及时指定责任人确保项目快速落地并启动数据采集。</a:t>
            </a:r>
          </a:p>
          <a:p/>
          <a:p>
            <a:r>
              <a:t>evidence: 报告附录与参考文献将补齐 DOI 列表。</a:t>
            </a:r>
          </a:p>
          <a:p/>
          <a:p>
            <a:r>
              <a:t>audience_action: 48 小时内确认负责人名单并指示是否需要补 DOI 列表。</a:t>
            </a:r>
          </a:p>
          <a:p/>
          <a:p>
            <a:r>
              <a:t>risks: 若负责人确认延迟，项目启动受阻。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封面 — MFT：实现高功率密度的关键元件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6400" y="3154680"/>
            <a:ext cx="8838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结论：优先推进 50–200 kHz 的样机验证与示范，以实现规模化落地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14800"/>
            <a:ext cx="3464458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728" y="4206240"/>
            <a:ext cx="324500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≥99%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728" y="4590288"/>
            <a:ext cx="324500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示范可用率 (目标)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3618" y="4114800"/>
            <a:ext cx="3464458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3346" y="4206240"/>
            <a:ext cx="324500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≥98%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3346" y="4590288"/>
            <a:ext cx="324500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样机效率（满载）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5236" y="4114800"/>
            <a:ext cx="3464458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964" y="4206240"/>
            <a:ext cx="324500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≤40°C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964" y="4590288"/>
            <a:ext cx="324500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温升（热点）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91440"/>
            <a:ext cx="975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议程与决策请求（Executive Ask）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914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749808"/>
            <a:ext cx="4311523" cy="59436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749808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6592" y="822960"/>
            <a:ext cx="4037203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1B3D"/>
                </a:solidFill>
              </a:rPr>
              <a:t>批准示范场景与首轮预算</a:t>
            </a:r>
          </a:p>
          <a:p>
            <a:r>
              <a:rPr sz="1200">
                <a:solidFill>
                  <a:srgbClr val="44464F"/>
                </a:solidFill>
              </a:rPr>
              <a:t>快速验证市场与工程假设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35608"/>
            <a:ext cx="4311523" cy="59436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435608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6592" y="1508760"/>
            <a:ext cx="4037203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1B3D"/>
                </a:solidFill>
              </a:rPr>
              <a:t>批准材料验证与中试计划</a:t>
            </a:r>
          </a:p>
          <a:p>
            <a:r>
              <a:rPr sz="1200">
                <a:solidFill>
                  <a:srgbClr val="44464F"/>
                </a:solidFill>
              </a:rPr>
              <a:t>减少材料相关不确定性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121408"/>
            <a:ext cx="4311523" cy="59436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2121408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2" y="2194560"/>
            <a:ext cx="4037203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1B3D"/>
                </a:solidFill>
              </a:rPr>
              <a:t>授权参与标准化</a:t>
            </a:r>
          </a:p>
          <a:p>
            <a:r>
              <a:rPr sz="1200">
                <a:solidFill>
                  <a:srgbClr val="44464F"/>
                </a:solidFill>
              </a:rPr>
              <a:t>降低市场准入壁垒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" y="2807208"/>
            <a:ext cx="41286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授权参与标准化与行业协作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2123" y="475488"/>
            <a:ext cx="61275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决策请求清单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2123" y="749808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决策请求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4016" y="749808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预算区间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5909" y="749808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优先级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7802" y="749808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交付时间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2123" y="1115568"/>
            <a:ext cx="6127572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2123" y="1133856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示范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4016" y="1133856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$0.5-1.5M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5909" y="1133856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7802" y="1133856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立即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2123" y="1517904"/>
            <a:ext cx="6127572" cy="384048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2123" y="1517904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材料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4016" y="1517904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$0.3-0.8M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5909" y="1517904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7802" y="1517904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2123" y="1901952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4016" y="1901952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$0.1-0.3M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5909" y="1901952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7802" y="1901952"/>
            <a:ext cx="153189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Q2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91440"/>
            <a:ext cx="975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 条关键结论（Executive Summary）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914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749808"/>
            <a:ext cx="3464458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728" y="841248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示范验证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71728" y="1188720"/>
            <a:ext cx="3245002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1728" y="1252728"/>
            <a:ext cx="324500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→ 启动示范
Impact: 95
Feasibility: 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3618" y="749808"/>
            <a:ext cx="3464458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3346" y="841248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材料研发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3346" y="1188720"/>
            <a:ext cx="3245002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3346" y="1252728"/>
            <a:ext cx="324500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→ 材料并行验证
Impact: 85
Feasibility: 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5236" y="749808"/>
            <a:ext cx="3464458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964" y="841248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标准化参与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964" y="1188720"/>
            <a:ext cx="3245002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964" y="1252728"/>
            <a:ext cx="324500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→ 提交示范数据
Impact: 70
Feasibility: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" y="3172968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MFT 是实现高功率密度的关键路径（50–200 kHz）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" y="3520439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优先示范→数据验证→规模化推广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" y="3867911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材料、热与监测为首要工程任务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Section A — 市场与战略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• 市场概览 • 区域与竞争格局 • 战略优先级矩阵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088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0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32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04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76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A · 市场与战略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细分市场与规模估计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749808"/>
            <a:ext cx="5265267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841248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EV 快充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188720"/>
            <a:ext cx="5045811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252728"/>
            <a:ext cx="5045811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Min: 120
Max: 180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749808"/>
            <a:ext cx="5265267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41248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SST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188720"/>
            <a:ext cx="5045811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252728"/>
            <a:ext cx="5045811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Min: 80
Max: 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" y="3172968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主要细分：EV 快充、SST、数据中心、轨道牵引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" y="3520439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市场不确定性高，需以示范数据降低估计偏差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>市场与战略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A · 市场与战略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主要产区与关键玩家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中国/欧洲/北美为主产区；国内外厂商并存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建议定位差异化（可靠性+服务）而非仅靠成本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1048481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1764792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1837943"/>
            <a:ext cx="102562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差异化：可靠性+服务优先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>市场与战略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A · 市场与战略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短中长期优先级（影响 vs 难度）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56692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短期：示范与材料验证（高影响/中难度）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950976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中长期：标准化与量产（高影响/高难度）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72184"/>
            <a:ext cx="1066769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472184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160" y="1545336"/>
            <a:ext cx="104390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短期优先：示范与材料验证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>市场与战略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Section B — 技术概览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• 器件趋势 • 频段与拓扑 • 材料与绕组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088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0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32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04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76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B · 技术概览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SiC/GaN 对系统与 MFT 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0408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更高开关频率与 dv/dt，推动 MFT 频率上移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06984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需同步考虑绝缘、局放与 EMC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572768"/>
            <a:ext cx="1066769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72768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160" y="1645920"/>
            <a:ext cx="104390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器件参数对系统影响显著，需早期验证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148840"/>
            <a:ext cx="10667695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4880" y="2258568"/>
            <a:ext cx="103019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器件→系统影响链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" y="2606040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graph LR
  A[SiC/GaN 器件] --&gt;|更高开关频率| B[MFT 频率 ↑]
  A --&gt;|更高 dv/dt| C[绝缘应力 ↑]
  B --&gt; D[磁芯尺寸 ↓]
  B --&gt; E[功率密度 ↑]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技术概览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B · 技术概览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频段选择（50–200 kHz）与常见拓扑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推荐频段理由：平衡密度、损耗与工程可行性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常见拓扑：DAB、双有源桥、SST 子模块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475488"/>
            <a:ext cx="521954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频段与拓扑对比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749808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DAB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9996" y="749808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双有源桥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9846" y="749808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SST 子模块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115568"/>
            <a:ext cx="5219547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7" y="1133856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9996" y="1133856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9846" y="1133856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120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517904"/>
            <a:ext cx="5219547" cy="384048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1517904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9996" y="1517904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9846" y="1517904"/>
            <a:ext cx="173984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技术概览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B · 技术概览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材料与磁芯选型（纳米晶/非晶/粉末）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材料影响：铁损、温度敏感性、成本与可获得性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建议并行验证 2–3 候选材料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475488"/>
            <a:ext cx="521954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材料多维比较（影响力 vs 可行性）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铁损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5034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饱和磁通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921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4808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可得性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1115568"/>
            <a:ext cx="5219547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5034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9921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4808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1517904"/>
            <a:ext cx="5219547" cy="384048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0147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5034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9921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4808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技术概览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B · 技术概览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绕组与结构设计要点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平面绕组 vs 分层绕组的适配场景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控制互电感与减少局放的设计要点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1048481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1764792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1837943"/>
            <a:ext cx="102562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制造约束应在设计早期纳入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技术概览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B · 技术概览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损耗建模与优化路径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损耗分解：铁损/铜损/附加损耗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优化路径：材料+几何+工艺联合优化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475488"/>
            <a:ext cx="521954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损耗分解图（铁损/铜损/附加损耗）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50 kHz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5034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100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921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150 kHz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4808" y="749808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200 kHz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1115568"/>
            <a:ext cx="5219547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5034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9921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4808" y="1133856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1517904"/>
            <a:ext cx="5219547" cy="384048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0147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5034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9921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4808" y="1517904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147" y="1901952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5034" y="1901952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921" y="1901952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4808" y="1901952"/>
            <a:ext cx="130488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技术概览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Section C — 工程挑战与解决方案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• 热管理 • 绝缘与局放 • EMC • 制造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088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0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32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04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76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C · 工程挑战与解决方案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热管理策略（主动与被动冷却）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749808"/>
            <a:ext cx="5265267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841248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风冷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728" y="1188720"/>
            <a:ext cx="5045811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252728"/>
            <a:ext cx="5045811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Notes: 成本适中，维护简单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749808"/>
            <a:ext cx="5265267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41248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液冷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4155" y="1188720"/>
            <a:ext cx="5045811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1252728"/>
            <a:ext cx="5045811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Notes: 高密度但运维复杂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" y="3172968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场景匹配：被动（低功率）→ 风冷/液冷（高功率）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" y="3520439"/>
            <a:ext cx="10484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关注点：热点、循环寿命与封装可靠性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工程挑战与解决方案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C · 工程挑战与解决方案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绝缘与局放控制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局放检测、老化试验与制造工艺控制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与材料验证并行，降低返工风险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5173827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3167" y="1856231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≥1.5×额定电压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67" y="2240280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PDIV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1764792"/>
            <a:ext cx="5173827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4155" y="1856231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≤1 次/月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4155" y="2240280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PD 事件率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工程挑战与解决方案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C · 工程挑战与解决方案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EMC 与杂散电容控制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设计措施：布线、屏蔽、接地和输出滤波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合规路径：早期预检测与整改循环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1048481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1764792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1837943"/>
            <a:ext cx="102562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EMC 早检可显著降低返工成本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工程挑战与解决方案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C · 工程挑战与解决方案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制造及质量一致性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56692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关键过程：绕组、浸漆、固化、装配的 SPC 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93268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自动化测试与放行标准可降低不良率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35608"/>
            <a:ext cx="10667695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527048"/>
            <a:ext cx="10448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28" y="1911095"/>
            <a:ext cx="104482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一次放行率 FPY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350008"/>
            <a:ext cx="5867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232" y="2350008"/>
            <a:ext cx="21335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771" y="2350008"/>
            <a:ext cx="266692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截止日期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715768"/>
            <a:ext cx="5867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232" y="2715768"/>
            <a:ext cx="21335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制造团队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771" y="2715768"/>
            <a:ext cx="26669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172968"/>
            <a:ext cx="10667695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880" y="3282696"/>
            <a:ext cx="103019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量产工艺控制流程（绕组→浸漆→固化→测试→放行）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" y="3630168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flowchart TD
  Start[开始] --&gt; Wind[绕组制造]
  Wind --&gt; Check1{SPC 检查&lt;br/&gt;尺寸公差}
  Check1 --&gt;|Pass| Varnish[浸漆处理]
  Varnish --&gt; Cure[固化烘干]
  Cure --&gt; Check2{SPC 检查&lt;br/&gt;绝缘层厚度}
  Check2 --&gt;|Pass| Test[电气测试]
  Test --&gt; Check3{局放/耐压测试}
  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工程挑战与解决方案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C · 工程挑战与解决方案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供应链与材料保障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识别关键物料与替代路线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建议签订中长期供应协议并进行库存策略优化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1048481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1764792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1837943"/>
            <a:ext cx="102562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多源与长期协议降低供给风险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工程挑战与解决方案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Section D — 示范与证据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• 示范案例 • 仿真与样机验证 • KPI 与数据收集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088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0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32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04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7679" y="4937759"/>
            <a:ext cx="402336" cy="7315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D · 示范与证据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典型示范案例速览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0408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指标：效率、温升、可靠性、延迟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06984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成功要素：测试计划、数据采集与回路优化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572768"/>
            <a:ext cx="5265267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66420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&gt;=2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28" y="204825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示范站数量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1572768"/>
            <a:ext cx="5265267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4155" y="166420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&gt;=6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4155" y="204825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示范运行时间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2487168"/>
            <a:ext cx="10667695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80" y="2596896"/>
            <a:ext cx="103019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示范数据流：设计→样机→现场→数据→标准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80" y="2944368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sequenceDiagram
  participant Design as 设计仿真
  participant Proto as 样机验证
  participant Field as 现场示范
  participant Data as 数据平台
  participant Standard as 标准委员会
  Design-&gt;&gt;Proto: 输出：设计参数、仿真报告
  Proto-&gt;&gt;Field: 输出：验证报告、样机设备
 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>示范与证据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D · 示范与证据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仿真与样机验证流程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56692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仿真先行→样机迭代→现场示范验证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93268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推荐工具與基准测试样例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35608"/>
            <a:ext cx="5867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232" y="1435608"/>
            <a:ext cx="21335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2771" y="1435608"/>
            <a:ext cx="266692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截止日期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801368"/>
            <a:ext cx="5867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232" y="1801368"/>
            <a:ext cx="21335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仿真团队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771" y="1801368"/>
            <a:ext cx="26669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2258568"/>
            <a:ext cx="10667695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80" y="2368296"/>
            <a:ext cx="103019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电磁-热-机械耦合的验证链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80" y="2715768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flowchart LR
  Sim[仿真模型] --&gt; Proto[样机验证]
  Proto --&gt; Field[现场示范]
  Field --&gt; Data[数据分析]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>示范与证据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D · 示范与证据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KPI 与数据收集策略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566928"/>
            <a:ext cx="3464458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658368"/>
            <a:ext cx="324500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042416"/>
            <a:ext cx="324500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效率（满载）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3618" y="566928"/>
            <a:ext cx="3464458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3346" y="658368"/>
            <a:ext cx="324500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3346" y="1042416"/>
            <a:ext cx="324500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示范可用率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5236" y="566928"/>
            <a:ext cx="3464458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964" y="658368"/>
            <a:ext cx="324500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≤1 次/月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964" y="1042416"/>
            <a:ext cx="324500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PD 事件率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2563EB"/>
                </a:solidFill>
              </a:rPr>
              <a:t>示范与证据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Section E — 商业化与运维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• 商业模式 • 成本与 ROI • 运维与生命周期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088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0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32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04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7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E · 商业化与运维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商业模式与服务化路径（硬件+SaaS）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56692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试点付费、安装服务与运维订阅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950976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长期收入来自 SaaS 与增值服务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72184"/>
            <a:ext cx="10667695" cy="2286000"/>
          </a:xfrm>
          <a:prstGeom prst="roundRect">
            <a:avLst/>
          </a:prstGeom>
          <a:solidFill>
            <a:srgbClr val="E1E2EC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1563624"/>
            <a:ext cx="10448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C1E"/>
                </a:solidFill>
              </a:rPr>
              <a:t>硬件+服务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911095"/>
            <a:ext cx="10448239" cy="18288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975104"/>
            <a:ext cx="104482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Notes: 提高客户粘性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商业化与运维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E · 商业化与运维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成本构成与 ROI 敏感性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566928"/>
            <a:ext cx="10667695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658368"/>
            <a:ext cx="10448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USD 0.5–1.5M / 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042416"/>
            <a:ext cx="104482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示范预算（建议）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07008"/>
            <a:ext cx="106676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BOM 成本分解（示例）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81328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磁芯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8923" y="1481328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工艺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1481328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771" y="1481328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质保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847088"/>
            <a:ext cx="1066769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1865376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23" y="1865376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1865376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771" y="1865376"/>
            <a:ext cx="266692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商业化与运维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E · 商业化与运维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运维与生命周期经济（预测性维护）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在线监测转换为服务化收入（SaaS）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备件策略与维修 SLA 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1048481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1764792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1837943"/>
            <a:ext cx="102562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数据驱动运维带来长期收益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商业化与运维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E · 商业化与运维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标准化与认证推进策略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目标标准：IEC/GB/行业推荐方法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路径：提供示范数据，参与委员会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64792"/>
            <a:ext cx="5766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088" y="1764792"/>
            <a:ext cx="20969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051" y="1764792"/>
            <a:ext cx="262120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截止日期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" y="2130552"/>
            <a:ext cx="5766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088" y="2130552"/>
            <a:ext cx="20969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标准化负责人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7051" y="2130552"/>
            <a:ext cx="26212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0B981"/>
                </a:solidFill>
              </a:rPr>
              <a:t>商业化与运维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Section F — 风险、治理与实施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• 风险矩阵 • 项目组织 • 验收与里程碑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088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0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32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04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7679" y="4937759"/>
            <a:ext cx="402336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风险矩阵与缓解措施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566928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列出高优先级风险与对应备选方案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950976"/>
            <a:ext cx="10484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C1E"/>
                </a:solidFill>
              </a:rPr>
              <a:t>• 建议缓解：替代材料、保险、里程碑拨款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72184"/>
            <a:ext cx="373369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93" y="1472184"/>
            <a:ext cx="128012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概率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816" y="1472184"/>
            <a:ext cx="128012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940" y="1472184"/>
            <a:ext cx="4373755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缓解措施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801367"/>
            <a:ext cx="1066769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1819655"/>
            <a:ext cx="373369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93" y="1819655"/>
            <a:ext cx="12801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5816" y="1819655"/>
            <a:ext cx="12801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5940" y="1819655"/>
            <a:ext cx="437375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替代材料+长期协议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167128"/>
            <a:ext cx="10667695" cy="347472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167128"/>
            <a:ext cx="373369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93" y="2167128"/>
            <a:ext cx="12801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5816" y="2167128"/>
            <a:ext cx="12801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40" y="2167128"/>
            <a:ext cx="437375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A1C1E"/>
                </a:solidFill>
              </a:rPr>
              <a:t>样机验证+迭代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项目组织与治理模型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建议组织：项目赞助人→PMO→技术小组→供应链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50366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>
                <a:solidFill>
                  <a:srgbClr val="1A1C1E"/>
                </a:solidFill>
              </a:rPr>
              <a:t>• 决策节奏：周会/里程碑评审/月度回顾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749808"/>
            <a:ext cx="5219547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3027" y="859536"/>
            <a:ext cx="48537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组织模型与决策节奏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3027" y="1207008"/>
            <a:ext cx="485378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flowchart LR
  Sponsor[赞助人] --&gt; PMO[PMO]
  PMO --&gt; Tech[技术小组]
  PMO --&gt; Supply[供应链]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成功标准与验收定义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566928"/>
            <a:ext cx="5265267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65836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04241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效率（满载）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566928"/>
            <a:ext cx="5265267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65836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≥100,000 小时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4155" y="104241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MTBF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1481328"/>
            <a:ext cx="10667695" cy="22860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880" y="1755648"/>
            <a:ext cx="103019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4777F"/>
                </a:solidFill>
              </a:rPr>
              <a:t>[验收准则样例]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0–12 个月实施路线图（短期）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8923" y="827532"/>
            <a:ext cx="5333847" cy="27432"/>
          </a:xfrm>
          <a:prstGeom prst="rect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37483" y="749808"/>
            <a:ext cx="182880" cy="182880"/>
          </a:xfrm>
          <a:prstGeom prst="ellipse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005840"/>
            <a:ext cx="5333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C1E"/>
                </a:solidFill>
              </a:rPr>
              <a:t>项目立项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80160"/>
            <a:ext cx="53338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4464F"/>
                </a:solidFill>
              </a:rPr>
              <a:t>2026-02</a:t>
            </a:r>
          </a:p>
        </p:txBody>
      </p:sp>
      <p:sp>
        <p:nvSpPr>
          <p:cNvPr id="10" name="Oval 9"/>
          <p:cNvSpPr/>
          <p:nvPr/>
        </p:nvSpPr>
        <p:spPr>
          <a:xfrm>
            <a:off x="8671331" y="749808"/>
            <a:ext cx="182880" cy="182880"/>
          </a:xfrm>
          <a:prstGeom prst="ellipse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7" y="1005840"/>
            <a:ext cx="53338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C1E"/>
                </a:solidFill>
              </a:rPr>
              <a:t>样机验收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1280160"/>
            <a:ext cx="53338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4464F"/>
                </a:solidFill>
              </a:rPr>
              <a:t>2026-06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1664208"/>
            <a:ext cx="10667695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880" y="1773936"/>
            <a:ext cx="103019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0–12 个月实施时间线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" y="2121408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gantt
  title 0-12个月实施计划
  dateFormat YYYY-MM
  section Phase 1: 立项
  项目立项与决策批准 :milestone, m1, 2026-02, 0d
  示范场景选定与合同 :active, 2026-02, 1M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12–18 个月扩展计划（中期）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6" name="Oval 5"/>
          <p:cNvSpPr/>
          <p:nvPr/>
        </p:nvSpPr>
        <p:spPr>
          <a:xfrm>
            <a:off x="6004407" y="749808"/>
            <a:ext cx="182880" cy="182880"/>
          </a:xfrm>
          <a:prstGeom prst="ellipse">
            <a:avLst/>
          </a:prstGeom>
          <a:solidFill>
            <a:srgbClr val="747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005840"/>
            <a:ext cx="10667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C1E"/>
                </a:solidFill>
              </a:rPr>
              <a:t>扩展示范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64208"/>
            <a:ext cx="10667695" cy="3200400"/>
          </a:xfrm>
          <a:prstGeom prst="roundRect">
            <a:avLst/>
          </a:prstGeom>
          <a:solidFill>
            <a:srgbClr val="E1E2EC"/>
          </a:solidFill>
          <a:ln w="12700">
            <a:solidFill>
              <a:srgbClr val="74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4880" y="1773936"/>
            <a:ext cx="103019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📊 12–18 个月扩展甘特图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" y="2121408"/>
            <a:ext cx="10301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4777F"/>
                </a:solidFill>
              </a:rPr>
              <a:t>gantt
  title 12-18个月扩展计划
  dateFormat YYYY-MM
  section 示范扩展
  第二批示范场景选型 :2027-01, 2M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首轮预算请求与 ROI 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566928"/>
            <a:ext cx="10667695" cy="777240"/>
          </a:xfrm>
          <a:prstGeom prst="roundRect">
            <a:avLst/>
          </a:prstGeom>
          <a:solidFill>
            <a:srgbClr val="D6E3FF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658368"/>
            <a:ext cx="10448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1B3D"/>
                </a:solidFill>
              </a:rPr>
              <a:t>USD 0.5–1.5M / 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042416"/>
            <a:ext cx="104482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1B3D"/>
                </a:solidFill>
              </a:rPr>
              <a:t>初始示范预算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07008"/>
            <a:ext cx="106676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预算与 ROI 敏感性示例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81328"/>
            <a:ext cx="35558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磁芯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7898" y="1481328"/>
            <a:ext cx="35558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工艺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3796" y="1481328"/>
            <a:ext cx="35558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1A1C1E"/>
                </a:solidFill>
              </a:rPr>
              <a:t>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1847088"/>
            <a:ext cx="1066769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1865376"/>
            <a:ext cx="35558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300000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898" y="1865376"/>
            <a:ext cx="35558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150000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3796" y="1865376"/>
            <a:ext cx="355589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1A1C1E"/>
                </a:solidFill>
              </a:rPr>
              <a:t>50000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Section F · 风险、治理与实施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附录与下一步（References &amp; 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749808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参考：补充 &gt;=12 篇带 DOI 的论文与示范链接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188720"/>
            <a:ext cx="10484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1A1C1E"/>
                </a:solidFill>
              </a:rPr>
              <a:t>• 下一步：指定负责人，1 周内启动首轮会议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440" y="1764792"/>
            <a:ext cx="10484815" cy="502920"/>
          </a:xfrm>
          <a:prstGeom prst="roundRect">
            <a:avLst/>
          </a:prstGeom>
          <a:solidFill>
            <a:srgbClr val="D6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1764792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1837943"/>
            <a:ext cx="102562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1B3D"/>
                </a:solidFill>
              </a:rPr>
              <a:t>待补 DOI 列表（2 周内）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风险、治理与实施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2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997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569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41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713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28535" y="6716268"/>
            <a:ext cx="4206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44464F"/>
                </a:solidFill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