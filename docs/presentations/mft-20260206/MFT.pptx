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76400" y="2057400"/>
            <a:ext cx="8838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1C1E"/>
                </a:solidFill>
              </a:rPr>
              <a:t>MFT：实现高功率密度的关键元件（结论先行）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91440"/>
            <a:ext cx="9753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本次会议要决策的三项请求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914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1A1C1E"/>
                </a:solidFill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704088"/>
            <a:ext cx="10667695" cy="777240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728" y="795528"/>
            <a:ext cx="104482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USD 0.5–1.5M / 站点（建议区间）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1728" y="1179576"/>
            <a:ext cx="1044823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C1E"/>
                </a:solidFill>
              </a:rPr>
              <a:t>初始示范预算范围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1618488"/>
            <a:ext cx="10667695" cy="594360"/>
          </a:xfrm>
          <a:prstGeom prst="round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618488"/>
            <a:ext cx="54864" cy="59436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6592" y="1691640"/>
            <a:ext cx="10393375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批准示范场景与首轮预算</a:t>
            </a:r>
          </a:p>
          <a:p>
            <a:r>
              <a:rPr sz="1600">
                <a:solidFill>
                  <a:srgbClr val="1A1C1E"/>
                </a:solidFill>
              </a:rPr>
              <a:t>批准示范场景并授权初始示范预算（参考预算区间 USD 0.5–1.5M / 站点）</a:t>
            </a:r>
          </a:p>
          <a:p>
            <a:r>
              <a:rPr sz="1600">
                <a:solidFill>
                  <a:srgbClr val="1A1C1E"/>
                </a:solidFill>
              </a:rPr>
              <a:t>🔹 Priority: P0  |  📅 Timeline: 立即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2322576"/>
            <a:ext cx="10667695" cy="594360"/>
          </a:xfrm>
          <a:prstGeom prst="round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2322576"/>
            <a:ext cx="54864" cy="59436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6592" y="2395728"/>
            <a:ext cx="10393375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批准材料验证与中试计划</a:t>
            </a:r>
          </a:p>
          <a:p>
            <a:r>
              <a:rPr sz="1600">
                <a:solidFill>
                  <a:srgbClr val="1A1C1E"/>
                </a:solidFill>
              </a:rPr>
              <a:t>批准材料验证方案（2–3 候选材料）与中试计划</a:t>
            </a:r>
          </a:p>
          <a:p>
            <a:r>
              <a:rPr sz="1600">
                <a:solidFill>
                  <a:srgbClr val="1A1C1E"/>
                </a:solidFill>
              </a:rPr>
              <a:t>🔹 Priority: P0  |  📅 Timeline: Q1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2000" y="3026664"/>
            <a:ext cx="10667695" cy="594360"/>
          </a:xfrm>
          <a:prstGeom prst="round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2000" y="3026664"/>
            <a:ext cx="54864" cy="59436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6592" y="3099816"/>
            <a:ext cx="10393375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授权参与标准化与行业协作</a:t>
            </a:r>
          </a:p>
          <a:p>
            <a:r>
              <a:rPr sz="1600">
                <a:solidFill>
                  <a:srgbClr val="1A1C1E"/>
                </a:solidFill>
              </a:rPr>
              <a:t>授权项目组代表参与行业标准化活动并共享示范数据</a:t>
            </a:r>
          </a:p>
          <a:p>
            <a:r>
              <a:rPr sz="1600">
                <a:solidFill>
                  <a:srgbClr val="1A1C1E"/>
                </a:solidFill>
              </a:rPr>
              <a:t>🔹 Priority: P1  |  📅 Timeline: Q2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91440"/>
            <a:ext cx="9753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3 条关键结论（结论先行）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914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1A1C1E"/>
                </a:solidFill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749808"/>
            <a:ext cx="1951084" cy="5650992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728" y="841248"/>
            <a:ext cx="173162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MFT 是实现高功率密度的关键路径（50–200 kHz）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71728" y="1188720"/>
            <a:ext cx="1731628" cy="18288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1728" y="1252728"/>
            <a:ext cx="1731628" cy="5056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600">
                <a:solidFill>
                  <a:srgbClr val="1A1C1E"/>
                </a:solidFill>
              </a:rPr>
              <a:t>市场影响: EV 快充、SST、数据中心
工程要点: 频段决定材料/热/绝缘需求
短期行动: 推进样机与示范验证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50244" y="749808"/>
            <a:ext cx="1951084" cy="5650992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9972" y="841248"/>
            <a:ext cx="173162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优先示范→数据验证→规模化推广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59972" y="1188720"/>
            <a:ext cx="1731628" cy="18288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9972" y="1252728"/>
            <a:ext cx="1731628" cy="5056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600">
                <a:solidFill>
                  <a:srgbClr val="1A1C1E"/>
                </a:solidFill>
              </a:rPr>
              <a:t>里程碑: 样机—现场示范—标准化证据包
时间窗: 6–12 个月
责任: PMO 与技术小组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8488" y="749808"/>
            <a:ext cx="1951084" cy="5650992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8216" y="841248"/>
            <a:ext cx="173162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材料、热与监测为首要工程任务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8216" y="1188720"/>
            <a:ext cx="1731628" cy="18288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8216" y="1252728"/>
            <a:ext cx="1731628" cy="5056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600">
                <a:solidFill>
                  <a:srgbClr val="1A1C1E"/>
                </a:solidFill>
              </a:rPr>
              <a:t>验证指标: 效率、温升、PD、MTBF
方法: 并行材料验证 + 热仿真 + 实测
产出: 材料候选验证报告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18172" y="749808"/>
            <a:ext cx="4311523" cy="2286000"/>
          </a:xfrm>
          <a:prstGeom prst="roundRect">
            <a:avLst/>
          </a:prstGeom>
          <a:solidFill>
            <a:srgbClr val="1A1C1E"/>
          </a:solidFill>
          <a:ln w="12700">
            <a:solidFill>
              <a:srgbClr val="1A1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01052" y="1024128"/>
            <a:ext cx="3945763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1A1C1E"/>
                </a:solidFill>
              </a:rPr>
              <a:t>[comparison]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91440"/>
            <a:ext cx="9753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市场概览：细分市场与规模估计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914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1A1C1E"/>
                </a:solidFill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749808"/>
            <a:ext cx="1951084" cy="5650992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728" y="841248"/>
            <a:ext cx="173162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EV 快充</a:t>
            </a:r>
          </a:p>
        </p:txBody>
      </p:sp>
      <p:sp>
        <p:nvSpPr>
          <p:cNvPr id="7" name="Rectangle 6"/>
          <p:cNvSpPr/>
          <p:nvPr/>
        </p:nvSpPr>
        <p:spPr>
          <a:xfrm>
            <a:off x="871728" y="1188720"/>
            <a:ext cx="1731628" cy="18288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1728" y="1252728"/>
            <a:ext cx="1731628" cy="5056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600">
                <a:solidFill>
                  <a:srgbClr val="1A1C1E"/>
                </a:solidFill>
              </a:rPr>
              <a:t>市场规模: $120–180M
增长驱动: 充电基础设施扩容
不确定性: 估算差异，需示范数据验证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50244" y="749808"/>
            <a:ext cx="1951084" cy="5650992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9972" y="841248"/>
            <a:ext cx="173162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SST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59972" y="1188720"/>
            <a:ext cx="1731628" cy="18288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9972" y="1252728"/>
            <a:ext cx="1731628" cy="5056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600">
                <a:solidFill>
                  <a:srgbClr val="1A1C1E"/>
                </a:solidFill>
              </a:rPr>
              <a:t>市场规模: $80–120M
增长驱动: 高功率密度需求
不确定性: 系统集成与认证要求高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8488" y="749808"/>
            <a:ext cx="1951084" cy="5650992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8216" y="841248"/>
            <a:ext cx="173162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数据中心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8216" y="1188720"/>
            <a:ext cx="1731628" cy="18288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8216" y="1252728"/>
            <a:ext cx="1731628" cy="5056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600">
                <a:solidFill>
                  <a:srgbClr val="1A1C1E"/>
                </a:solidFill>
              </a:rPr>
              <a:t>市场规模: $60–90M
增长驱动: 高效供电需求
不确定性: 客户采用周期长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18172" y="749808"/>
            <a:ext cx="4311523" cy="2286000"/>
          </a:xfrm>
          <a:prstGeom prst="roundRect">
            <a:avLst/>
          </a:prstGeom>
          <a:solidFill>
            <a:srgbClr val="1A1C1E"/>
          </a:solidFill>
          <a:ln w="12700">
            <a:solidFill>
              <a:srgbClr val="1A1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01052" y="1024128"/>
            <a:ext cx="3945763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1A1C1E"/>
                </a:solidFill>
              </a:rPr>
              <a:t>[comparison]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91440"/>
            <a:ext cx="9753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区域与竞争格局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914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1A1C1E"/>
                </a:solidFill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91440"/>
            <a:ext cx="9753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战略优先级矩阵（影响 vs 难度）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914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1A1C1E"/>
                </a:solidFill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704088"/>
            <a:ext cx="10667695" cy="3200400"/>
          </a:xfrm>
          <a:prstGeom prst="roundRect">
            <a:avLst/>
          </a:prstGeom>
          <a:solidFill>
            <a:srgbClr val="1A1C1E"/>
          </a:solidFill>
          <a:ln w="12700">
            <a:solidFill>
              <a:srgbClr val="1A1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4880" y="1161288"/>
            <a:ext cx="103019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C1E"/>
                </a:solidFill>
              </a:rPr>
              <a:t>graph LR
  subgraph "高影响 / 低难度"
    A[示范验证]
    B[材料验证]
  end
  subgraph "高影响 / 高难度"
    C[标准化参与]
    D[量产线建设]
  ...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2000" y="704088"/>
            <a:ext cx="10667695" cy="502920"/>
          </a:xfrm>
          <a:prstGeom prst="round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704088"/>
            <a:ext cx="45720" cy="50292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9160" y="777240"/>
            <a:ext cx="10439095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A1C1E"/>
                </a:solidFill>
              </a:rPr>
              <a:t>短期优先：示范与材料验证 (高影响/中难度)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2000" y="1280160"/>
            <a:ext cx="10667695" cy="502920"/>
          </a:xfrm>
          <a:prstGeom prst="round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280160"/>
            <a:ext cx="45720" cy="50292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9160" y="1353312"/>
            <a:ext cx="10439095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A1C1E"/>
                </a:solidFill>
              </a:rPr>
              <a:t>中长期：标准化与量产 (高影响/高难度)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91440"/>
            <a:ext cx="9753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SiC/GaN 对系统与 MFT 的影响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914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1A1C1E"/>
                </a:solidFill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841248"/>
            <a:ext cx="10667695" cy="3200400"/>
          </a:xfrm>
          <a:prstGeom prst="roundRect">
            <a:avLst/>
          </a:prstGeom>
          <a:solidFill>
            <a:srgbClr val="1A1C1E"/>
          </a:solidFill>
          <a:ln w="12700">
            <a:solidFill>
              <a:srgbClr val="1A1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4880" y="1298448"/>
            <a:ext cx="103019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C1E"/>
                </a:solidFill>
              </a:rPr>
              <a:t>graph LR
  A[SiC/GaN 器件] --&gt;|更高开关频率| B[MFT 频率 ↑]
  A --&gt;|更高 dv/dt| C[绝缘应力 ↑]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91440"/>
            <a:ext cx="9753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频段与拓扑推荐（50–200 kHz）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914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1A1C1E"/>
                </a:solidFill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91440"/>
            <a:ext cx="9753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材料与磁芯选型（纳米晶/非晶/粉末）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914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1A1C1E"/>
                </a:solidFill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704088"/>
            <a:ext cx="3464458" cy="777240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728" y="795528"/>
            <a:ext cx="324500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相对于基线降低 ≥ 15%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1728" y="1179576"/>
            <a:ext cx="324500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C1E"/>
                </a:solidFill>
              </a:rPr>
              <a:t>铁损改进目标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3618" y="704088"/>
            <a:ext cx="3464458" cy="777240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73346" y="795528"/>
            <a:ext cx="324500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≥ 1.2–1.6 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73346" y="1179576"/>
            <a:ext cx="324500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C1E"/>
                </a:solidFill>
              </a:rPr>
              <a:t>饱和磁通密度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65236" y="704088"/>
            <a:ext cx="3464458" cy="777240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74964" y="795528"/>
            <a:ext cx="324500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每候选材料至少 n=3–5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4964" y="1179576"/>
            <a:ext cx="324500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C1E"/>
                </a:solidFill>
              </a:rPr>
              <a:t>样本量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2000" y="1618488"/>
            <a:ext cx="10667695" cy="2286000"/>
          </a:xfrm>
          <a:prstGeom prst="roundRect">
            <a:avLst/>
          </a:prstGeom>
          <a:solidFill>
            <a:srgbClr val="1A1C1E"/>
          </a:solidFill>
          <a:ln w="12700">
            <a:solidFill>
              <a:srgbClr val="1A1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4880" y="1892807"/>
            <a:ext cx="1030193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1A1C1E"/>
                </a:solidFill>
              </a:rPr>
              <a:t>[comparison]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91440"/>
            <a:ext cx="9753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损耗建模与优化路径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914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1A1C1E"/>
                </a:solidFill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704088"/>
            <a:ext cx="5265267" cy="777240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728" y="795528"/>
            <a:ext cx="504581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≤ 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1728" y="1179576"/>
            <a:ext cx="504581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C1E"/>
                </a:solidFill>
              </a:rPr>
              <a:t>仿真与实测误差 (RMSE)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4427" y="704088"/>
            <a:ext cx="5265267" cy="777240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4155" y="795528"/>
            <a:ext cx="504581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整体损耗减少 ≥ 10–15%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4155" y="1179576"/>
            <a:ext cx="504581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C1E"/>
                </a:solidFill>
              </a:rPr>
              <a:t>优化收益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618488"/>
            <a:ext cx="2666923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50 kHz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8923" y="1618488"/>
            <a:ext cx="2666923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100 kHz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1618488"/>
            <a:ext cx="2666923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150 kHz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2771" y="1618488"/>
            <a:ext cx="2666923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200 kHz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2000" y="2697479"/>
            <a:ext cx="10667695" cy="2540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2715768"/>
            <a:ext cx="2666923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8923" y="2715768"/>
            <a:ext cx="2666923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5847" y="2715768"/>
            <a:ext cx="2666923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90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62771" y="2715768"/>
            <a:ext cx="2666923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120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2000" y="3813048"/>
            <a:ext cx="10667695" cy="109728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000" y="3813048"/>
            <a:ext cx="2666923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8923" y="3813048"/>
            <a:ext cx="2666923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7" y="3813048"/>
            <a:ext cx="2666923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62771" y="3813048"/>
            <a:ext cx="2666923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" y="4910327"/>
            <a:ext cx="2666923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15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8923" y="4910327"/>
            <a:ext cx="2666923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5847" y="4910327"/>
            <a:ext cx="2666923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2771" y="4910327"/>
            <a:ext cx="2666923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40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91440"/>
            <a:ext cx="9753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热管理策略：被动 / 风冷 / 液冷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914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1A1C1E"/>
                </a:solidFill>
              </a:rPr>
              <a:t>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749808"/>
            <a:ext cx="1951084" cy="5650992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728" y="841248"/>
            <a:ext cx="173162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被动冷却</a:t>
            </a:r>
          </a:p>
        </p:txBody>
      </p:sp>
      <p:sp>
        <p:nvSpPr>
          <p:cNvPr id="7" name="Rectangle 6"/>
          <p:cNvSpPr/>
          <p:nvPr/>
        </p:nvSpPr>
        <p:spPr>
          <a:xfrm>
            <a:off x="871728" y="1188720"/>
            <a:ext cx="1731628" cy="18288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1728" y="1252728"/>
            <a:ext cx="1731628" cy="5056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600">
                <a:solidFill>
                  <a:srgbClr val="1A1C1E"/>
                </a:solidFill>
              </a:rPr>
              <a:t>适用功率: 低功率
优点: 无额外能耗
风险: 冷却能力受限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50244" y="749808"/>
            <a:ext cx="1951084" cy="5650992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9972" y="841248"/>
            <a:ext cx="173162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风冷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59972" y="1188720"/>
            <a:ext cx="1731628" cy="18288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9972" y="1252728"/>
            <a:ext cx="1731628" cy="5056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600">
                <a:solidFill>
                  <a:srgbClr val="1A1C1E"/>
                </a:solidFill>
              </a:rPr>
              <a:t>适用功率: 中功率
优点: 成本适中
风险: 有限冷却能力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8488" y="749808"/>
            <a:ext cx="1951084" cy="5650992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8216" y="841248"/>
            <a:ext cx="173162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液冷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8216" y="1188720"/>
            <a:ext cx="1731628" cy="18288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8216" y="1252728"/>
            <a:ext cx="1731628" cy="5056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600">
                <a:solidFill>
                  <a:srgbClr val="1A1C1E"/>
                </a:solidFill>
              </a:rPr>
              <a:t>适用功率: 高功率
优点: 高效热移除
风险: 泄漏与维护复杂度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8172" y="749808"/>
            <a:ext cx="1437174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被动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55346" y="749808"/>
            <a:ext cx="1437174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风冷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92520" y="749808"/>
            <a:ext cx="1437174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液冷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18172" y="1828800"/>
            <a:ext cx="4311523" cy="2540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91440"/>
            <a:ext cx="9753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绝缘与局放控制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914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1A1C1E"/>
                </a:solidFill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3440" y="886968"/>
            <a:ext cx="5173827" cy="777240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3167" y="978408"/>
            <a:ext cx="495437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≥ 1.5 × 额定电压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3167" y="1362456"/>
            <a:ext cx="495437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C1E"/>
                </a:solidFill>
              </a:rPr>
              <a:t>PDIV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4427" y="886968"/>
            <a:ext cx="5173827" cy="777240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4155" y="978408"/>
            <a:ext cx="495437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≤ 1 次 / 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4155" y="1362456"/>
            <a:ext cx="495437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C1E"/>
                </a:solidFill>
              </a:rPr>
              <a:t>PD 事件率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91440"/>
            <a:ext cx="9753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制造及质量一致性（SPC 与自动化测试）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914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1A1C1E"/>
                </a:solidFill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704088"/>
            <a:ext cx="5265267" cy="777240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728" y="795528"/>
            <a:ext cx="504581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≥ 90%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1728" y="1179576"/>
            <a:ext cx="504581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C1E"/>
                </a:solidFill>
              </a:rPr>
              <a:t>首批试产 FPY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4427" y="704088"/>
            <a:ext cx="5265267" cy="777240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4155" y="795528"/>
            <a:ext cx="504581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&gt;= 1.33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4155" y="1179576"/>
            <a:ext cx="504581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C1E"/>
                </a:solidFill>
              </a:rPr>
              <a:t>关键参数 Cpk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1618488"/>
            <a:ext cx="10667695" cy="3200400"/>
          </a:xfrm>
          <a:prstGeom prst="roundRect">
            <a:avLst/>
          </a:prstGeom>
          <a:solidFill>
            <a:srgbClr val="1A1C1E"/>
          </a:solidFill>
          <a:ln w="12700">
            <a:solidFill>
              <a:srgbClr val="1A1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4880" y="2075688"/>
            <a:ext cx="103019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C1E"/>
                </a:solidFill>
              </a:rPr>
              <a:t>flowchart TD
  Start[开始] --&gt; Wind[绕组制造]
  Wind --&gt; Check1{SPC 检查
尺寸公差}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91440"/>
            <a:ext cx="9753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典型示范案例速览（充电站/微网/数据中心）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914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1A1C1E"/>
                </a:solidFill>
              </a:rP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841248"/>
            <a:ext cx="5265267" cy="777240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728" y="932688"/>
            <a:ext cx="504581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≥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1728" y="1316736"/>
            <a:ext cx="504581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C1E"/>
                </a:solidFill>
              </a:rPr>
              <a:t>示范站点数量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4427" y="841248"/>
            <a:ext cx="5265267" cy="777240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74155" y="932688"/>
            <a:ext cx="5045811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每站点连续运行 ≥ 6 个月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4155" y="1316736"/>
            <a:ext cx="5045811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C1E"/>
                </a:solidFill>
              </a:rPr>
              <a:t>示范运行时间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" y="1755648"/>
            <a:ext cx="10667695" cy="3200400"/>
          </a:xfrm>
          <a:prstGeom prst="roundRect">
            <a:avLst/>
          </a:prstGeom>
          <a:solidFill>
            <a:srgbClr val="1A1C1E"/>
          </a:solidFill>
          <a:ln w="12700">
            <a:solidFill>
              <a:srgbClr val="1A1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4880" y="2212848"/>
            <a:ext cx="103019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C1E"/>
                </a:solidFill>
              </a:rPr>
              <a:t>sequenceDiagram
  participant Design as 设计仿真
  participant Proto as 样机验证
  participant Field as 现场示范
  participant Data as 数据平台
  participant Standard as 标准委员会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91440"/>
            <a:ext cx="9753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KPI 与数据收集策略（示范仪表盘）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914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1A1C1E"/>
                </a:solidFill>
              </a:rP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704088"/>
            <a:ext cx="2564053" cy="777240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1728" y="795528"/>
            <a:ext cx="234459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≥ 98%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1728" y="1179576"/>
            <a:ext cx="2344597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C1E"/>
                </a:solidFill>
              </a:rPr>
              <a:t>效率（满载）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63213" y="704088"/>
            <a:ext cx="2564053" cy="777240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72941" y="795528"/>
            <a:ext cx="234459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≥ 99%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2941" y="1179576"/>
            <a:ext cx="2344597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C1E"/>
                </a:solidFill>
              </a:rPr>
              <a:t>示范可用率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64427" y="704088"/>
            <a:ext cx="2564053" cy="777240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4155" y="795528"/>
            <a:ext cx="234459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≤ 1 次 / 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4155" y="1179576"/>
            <a:ext cx="2344597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C1E"/>
                </a:solidFill>
              </a:rPr>
              <a:t>PD 事件率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5641" y="704088"/>
            <a:ext cx="2564053" cy="777240"/>
          </a:xfrm>
          <a:prstGeom prst="roundRect">
            <a:avLst/>
          </a:prstGeom>
          <a:solidFill>
            <a:srgbClr val="1A1C1E"/>
          </a:solidFill>
          <a:ln>
            <a:noFill/>
          </a:ln>
          <a:effectLst>
            <a:outerShdw blurRad="762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75369" y="795528"/>
            <a:ext cx="234459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≥ 100,000 小时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5369" y="1179576"/>
            <a:ext cx="2344597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C1E"/>
                </a:solidFill>
              </a:rPr>
              <a:t>MTBF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2000" y="1618488"/>
            <a:ext cx="10667695" cy="2286000"/>
          </a:xfrm>
          <a:prstGeom prst="roundRect">
            <a:avLst/>
          </a:prstGeom>
          <a:solidFill>
            <a:srgbClr val="1A1C1E"/>
          </a:solidFill>
          <a:ln w="12700">
            <a:solidFill>
              <a:srgbClr val="1A1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4880" y="1892807"/>
            <a:ext cx="1030193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1A1C1E"/>
                </a:solidFill>
              </a:rPr>
              <a:t>[data-heavy]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/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91440"/>
            <a:ext cx="9753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0–12 个月实施路线图（短期）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914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1A1C1E"/>
                </a:solidFill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2539949" y="690372"/>
            <a:ext cx="7111796" cy="27432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48509" y="612648"/>
            <a:ext cx="182880" cy="182880"/>
          </a:xfrm>
          <a:prstGeom prst="ellipse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2000" y="868680"/>
            <a:ext cx="355589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1C1E"/>
                </a:solidFill>
              </a:rPr>
              <a:t/>
            </a:r>
          </a:p>
        </p:txBody>
      </p:sp>
      <p:sp>
        <p:nvSpPr>
          <p:cNvPr id="8" name="Oval 7"/>
          <p:cNvSpPr/>
          <p:nvPr/>
        </p:nvSpPr>
        <p:spPr>
          <a:xfrm>
            <a:off x="6004407" y="612648"/>
            <a:ext cx="182880" cy="182880"/>
          </a:xfrm>
          <a:prstGeom prst="ellipse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7898" y="868680"/>
            <a:ext cx="355589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1C1E"/>
                </a:solidFill>
              </a:rPr>
              <a:t/>
            </a:r>
          </a:p>
        </p:txBody>
      </p:sp>
      <p:sp>
        <p:nvSpPr>
          <p:cNvPr id="10" name="Oval 9"/>
          <p:cNvSpPr/>
          <p:nvPr/>
        </p:nvSpPr>
        <p:spPr>
          <a:xfrm>
            <a:off x="9560306" y="612648"/>
            <a:ext cx="182880" cy="182880"/>
          </a:xfrm>
          <a:prstGeom prst="ellipse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73796" y="868680"/>
            <a:ext cx="355589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1C1E"/>
                </a:solidFill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000" y="1527048"/>
            <a:ext cx="10667695" cy="3200400"/>
          </a:xfrm>
          <a:prstGeom prst="roundRect">
            <a:avLst/>
          </a:prstGeom>
          <a:solidFill>
            <a:srgbClr val="1A1C1E"/>
          </a:solidFill>
          <a:ln w="12700">
            <a:solidFill>
              <a:srgbClr val="1A1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880" y="1984248"/>
            <a:ext cx="103019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C1E"/>
                </a:solidFill>
              </a:rPr>
              <a:t>gantt
  title 0-12个月实施计划
  dateFormat YYYY-MM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91440"/>
            <a:ext cx="975329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12–18 个月扩展计划（中期）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914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1A1C1E"/>
                </a:solidFill>
              </a:rPr>
              <a:t>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612648"/>
            <a:ext cx="10667695" cy="502920"/>
          </a:xfrm>
          <a:prstGeom prst="round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612648"/>
            <a:ext cx="45720" cy="50292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160" y="685800"/>
            <a:ext cx="10439095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A1C1E"/>
                </a:solidFill>
              </a:rPr>
              <a:t>产线准备、工艺放大与供应协议谈判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2000" y="704088"/>
            <a:ext cx="10667695" cy="3200400"/>
          </a:xfrm>
          <a:prstGeom prst="roundRect">
            <a:avLst/>
          </a:prstGeom>
          <a:solidFill>
            <a:srgbClr val="1A1C1E"/>
          </a:solidFill>
          <a:ln w="12700">
            <a:solidFill>
              <a:srgbClr val="1A1C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4880" y="1161288"/>
            <a:ext cx="103019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1C1E"/>
                </a:solidFill>
              </a:rPr>
              <a:t>gantt
  title 12-18个月扩展计划
  dateFormat YYYY-MM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91440"/>
            <a:ext cx="9753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>预算请求与投资回报概览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914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 b="1">
                <a:solidFill>
                  <a:srgbClr val="1A1C1E"/>
                </a:solidFill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29400"/>
            <a:ext cx="12191695" cy="228600"/>
          </a:xfrm>
          <a:prstGeom prst="rect">
            <a:avLst/>
          </a:prstGeom>
          <a:solidFill>
            <a:srgbClr val="1A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6656832"/>
            <a:ext cx="27432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1600" b="1">
                <a:solidFill>
                  <a:srgbClr val="1A1C1E"/>
                </a:solidFill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095" y="6656832"/>
            <a:ext cx="1371600" cy="17373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1600">
                <a:solidFill>
                  <a:srgbClr val="1A1C1E"/>
                </a:solidFill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C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76400" y="2057400"/>
            <a:ext cx="8838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A1C1E"/>
                </a:solidFill>
              </a:rPr>
              <a:t>附录与下一步（References &amp; Actions）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