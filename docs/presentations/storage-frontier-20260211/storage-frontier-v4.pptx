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35433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1127" y="36164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全球市场从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85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美元增长到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110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美元（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→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2026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）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CXL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与云原生将主导未来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 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年创新路径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中国市场受数据主权与合规驱动，本地化与混合云需求上升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3440" y="2283968"/>
            <a:ext cx="517382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167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67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(2026)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427" y="2283968"/>
            <a:ext cx="517382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4155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China (2026)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市场规模、云/企业分布与媒体份额的量化证据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784352"/>
            <a:ext cx="526526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87579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728" y="125984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78435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4427" y="784352"/>
            <a:ext cx="526526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87579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4155" y="125984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2026 (proj)</a:t>
            </a:r>
          </a:p>
        </p:txBody>
      </p:sp>
      <p:pic>
        <p:nvPicPr>
          <p:cNvPr id="15" name="Picture 14" descr="figure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90192"/>
            <a:ext cx="10667695" cy="474776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10393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 server adoption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快速上升，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NVMe-oF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從少量部署走向规模化</a:t>
            </a:r>
          </a:p>
        </p:txBody>
      </p:sp>
      <p:pic>
        <p:nvPicPr>
          <p:cNvPr id="9" name="Picture 8" descr="figure_nv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14704"/>
            <a:ext cx="10667695" cy="52232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10393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在低延遲場景增長顯著，但受成本/容量限制；建議在元數據/日志加速場景試點</a:t>
            </a:r>
          </a:p>
        </p:txBody>
      </p:sp>
      <p:pic>
        <p:nvPicPr>
          <p:cNvPr id="9" name="Picture 8" descr="figure_p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14704"/>
            <a:ext cx="10667695" cy="52232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247" y="30861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1127" y="31592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要點: 概括 NVMe、PMem、CXL、Computational Storage 的適用場景與工程要點。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元數據/日志加速
優點: 低 P99 延遲
局限: 高成本、容量有限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大模型內存彈性
優點: 內存共享/擴展
局限: 生態成熟度、隔離/權限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对象存储、并行文件系统与云原生存储的趋势与架构取舍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c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753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3464458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3464458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3245002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618" y="830072"/>
            <a:ext cx="3464458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3618" y="830072"/>
            <a:ext cx="3464458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346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3346" y="1287272"/>
            <a:ext cx="3245002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3346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5236" y="830072"/>
            <a:ext cx="3464458" cy="557072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5236" y="830072"/>
            <a:ext cx="3464458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964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964" y="1287272"/>
            <a:ext cx="3245002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964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3098800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292963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加密（靜態/傳輸）、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WORM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與不可變快照為防勒索基礎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3537712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3368548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合規：中國市場對本地化與跨境控制要求高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397662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3807460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災備：異地多活與精細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RPO/RTO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設計必要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4383532"/>
            <a:ext cx="10484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2505D"/>
                </a:solidFill>
              </a:rPr>
              <a:t>… 详见 Speaker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训练/推理的 I/O 特征与存储组合实践建议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ai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753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151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78435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建議：S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+並行文件系統+本地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 cache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組合用於訓練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28727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15011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60" y="3775456"/>
            <a:ext cx="2255443" cy="640080"/>
          </a:xfrm>
          <a:prstGeom prst="roundRect">
            <a:avLst/>
          </a:prstGeom>
          <a:solidFill>
            <a:srgbClr val="00599C"/>
          </a:solidFill>
          <a:ln w="19050">
            <a:solidFill>
              <a:srgbClr val="00599C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ObjectStorage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23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74643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03" y="3775456"/>
            <a:ext cx="2255443" cy="640080"/>
          </a:xfrm>
          <a:prstGeom prst="roundRect">
            <a:avLst/>
          </a:prstGeom>
          <a:solidFill>
            <a:srgbClr val="00B3A4"/>
          </a:solidFill>
          <a:ln w="19050">
            <a:solidFill>
              <a:srgbClr val="00B3A4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Alluxio/Local NVMe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967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187287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3775456"/>
            <a:ext cx="2255443" cy="640080"/>
          </a:xfrm>
          <a:prstGeom prst="roundRect">
            <a:avLst/>
          </a:prstGeom>
          <a:solidFill>
            <a:srgbClr val="FFD100"/>
          </a:solidFill>
          <a:ln w="19050">
            <a:solidFill>
              <a:srgbClr val="FFD100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ParallelFS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5611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99931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7091" y="3775456"/>
            <a:ext cx="2255443" cy="640080"/>
          </a:xfrm>
          <a:prstGeom prst="roundRect">
            <a:avLst/>
          </a:prstGeom>
          <a:solidFill>
            <a:srgbClr val="7F8DA6"/>
          </a:solidFill>
          <a:ln w="19050">
            <a:solidFill>
              <a:srgbClr val="7F8DA6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A2F00"/>
                </a:solidFill>
              </a:rPr>
              <a:t>加密、审计、合规策略与灾备设计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不可變備份 + 快照流水線為防勒索核心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合規：跨境傳輸策略與審計追蹤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運營：恢復演練與備份窗口成本需要權衡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2283968"/>
            <a:ext cx="293574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9188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669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151" y="2283968"/>
            <a:ext cx="545210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缓解措施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40" y="2613152"/>
            <a:ext cx="10484815" cy="254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2631440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9188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669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6151" y="2631440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按区域分级部署 + 合规审计自动化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40" y="2978912"/>
            <a:ext cx="10484815" cy="34747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2978912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188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669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6151" y="2978912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分层存储 + 冷热数据分级 + 成本监控告警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安全与治理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S3 + EBS + 本地 NVMe 实例
场景: 训练/高并发 DB
备注: 快照与跨区复制生态成熟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NVMe-oF 性能试点 + 快照/恢复成本评估
风险: 跨区流量成本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PowerMax / PowerScale NVMe 阵列
场景: 企业级事务与分析
备注: 端到端运维工具链成熟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验证 NVMe 阵列性能 &amp; 快照恢复
风险: 高成本、运维资源需求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Pangu + SSD cache 分层
场景: 大规模分析/训练
备注: 元数据扩展性强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分层下沉成本验证 + 元数据扩展性试验
风险: 实现内部化优化难以外移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PMem + NVMe 层 + CXL 试点
场景: 低延迟事务/大模型内存弹性
备注: 硬件协同优势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在受控集群测试 PMem/CXL 可用性与回退策略
风险: 国际互操作与硬件支持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