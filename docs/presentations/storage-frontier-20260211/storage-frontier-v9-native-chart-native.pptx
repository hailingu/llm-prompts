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市场 (USD Bn)</c:v>
                </c:pt>
              </c:strCache>
            </c:strRef>
          </c:tx>
          <c:spPr>
            <a:solidFill>
              <a:srgbClr val="00599C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92</c:v>
                </c:pt>
                <c:pt idx="2">
                  <c:v>100</c:v>
                </c:pt>
                <c:pt idx="3">
                  <c:v>110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China 市场 (USD Bn)</c:v>
                </c:pt>
              </c:strCache>
            </c:strRef>
          </c:tx>
          <c:spPr>
            <a:solidFill>
              <a:srgbClr val="00599C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32</c:v>
                </c:pt>
                <c:pt idx="2">
                  <c:v>36</c:v>
                </c:pt>
                <c:pt idx="3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Gridlines>
          <c:spPr>
            <a:ln w="9525">
              <a:solidFill>
                <a:srgbClr val="72808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2505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72808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2505D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NVMe server (%)</c:v>
                </c:pt>
              </c:strCache>
            </c:strRef>
          </c:tx>
          <c:spPr>
            <a:solidFill>
              <a:srgbClr val="00599C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40</c:v>
                </c:pt>
                <c:pt idx="2">
                  <c:v>52</c:v>
                </c:pt>
                <c:pt idx="3">
                  <c:v>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NVMe-oF Deployments (%)</c:v>
                </c:pt>
              </c:strCache>
            </c:strRef>
          </c:tx>
          <c:spPr>
            <a:solidFill>
              <a:srgbClr val="00599C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15</c:v>
                </c:pt>
                <c:pt idx="3">
                  <c:v>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Gridlines>
          <c:spPr>
            <a:ln w="9525">
              <a:solidFill>
                <a:srgbClr val="72808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2505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72808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2505D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PMem 市場 (USD M)</c:v>
                </c:pt>
              </c:strCache>
            </c:strRef>
          </c:tx>
          <c:spPr>
            <a:solidFill>
              <a:srgbClr val="00599C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80</c:v>
                </c:pt>
                <c:pt idx="2">
                  <c:v>150</c:v>
                </c:pt>
                <c:pt idx="3">
                  <c:v>300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Gridlines>
          <c:spPr>
            <a:ln w="9525">
              <a:solidFill>
                <a:srgbClr val="72808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2505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72808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2505D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CSI 使用指數</c:v>
                </c:pt>
              </c:strCache>
            </c:strRef>
          </c:tx>
          <c:spPr>
            <a:solidFill>
              <a:srgbClr val="00599C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50</c:v>
                </c:pt>
                <c:pt idx="3">
                  <c:v>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Gridlines>
          <c:spPr>
            <a:ln w="9525">
              <a:solidFill>
                <a:srgbClr val="72808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2505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72808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2505D"/>
                </a:solidFill>
              </a:defRPr>
            </a:pPr>
          </a:p>
        </c:txPr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IOPS</c:v>
                </c:pt>
              </c:strCache>
            </c:strRef>
          </c:tx>
          <c:spPr>
            <a:solidFill>
              <a:srgbClr val="00599C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Training Bandwidth (GB/s)</c:v>
                </c:pt>
              </c:strCache>
            </c:strRef>
          </c:tx>
          <c:spPr>
            <a:solidFill>
              <a:srgbClr val="00599C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80</c:v>
                </c:pt>
                <c:pt idx="3">
                  <c:v>160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Inference IOPS</c:v>
                </c:pt>
              </c:strCache>
            </c:strRef>
          </c:tx>
          <c:spPr>
            <a:solidFill>
              <a:srgbClr val="00599C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50000</c:v>
                </c:pt>
                <c:pt idx="1">
                  <c:v>100000</c:v>
                </c:pt>
                <c:pt idx="2">
                  <c:v>200000</c:v>
                </c:pt>
                <c:pt idx="3">
                  <c:v>400000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Inference Bandwidth (GB/s)</c:v>
                </c:pt>
              </c:strCache>
            </c:strRef>
          </c:tx>
          <c:spPr>
            <a:solidFill>
              <a:srgbClr val="00599C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 w="9525">
              <a:solidFill>
                <a:srgbClr val="72808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2505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72808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2505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本次汇报聚焦 2023–2026 年间的技术与市场演进，并给出对企业/研究团队的短中长期建议。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30 秒概括结论，后续每节用 2–3 要点支撑。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每条结论配一行关键证据来源（CSV/报告）。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本节展示市场规模、云/企业分布与媒体份额的量化证据。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指出数据来源 (IDC/SNIA) 与估算注记；建议在讲稿中说明不确定性边界。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討論網絡（RDMA vs NVMe/TCP）與互操作性風險。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 PMem 的工程約束和試點驗證點（斷電恢復、一致性驗證）。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本節概括 NVMe、PMem、CXL、Computational Storage 的適用場景與工程要點。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對比不同場景下的網絡/QoS/回退策略，建議小規模互操作試驗。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建議在受控集群進行 CXL pooling/遷移延遲測試並記錄故障模式。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強調需保留主機回退路徑並優先在受控場景試點。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本節展示對象存儲、並行文件系統與雲原生存儲插件的趨勢與取捨。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 CSI 成熟度與運維挑戰，提出分階段遷移建議。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對比表用於幫助架構選擇（按工作負載特徵決策）。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建議按業務關鍵性分級備份策略並把恢復演練納常態運維。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本節給出訓練/推理的 I/O 特徵與組合實踐建議。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強調分層緩存 + NVMe-oF 的組合價值，並指出經濟性驗證點。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給出 POC 驗證清單（緩存命中率、峰值帶寬、成本對比）。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討論加密、審計、合規策略與災備設計。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建議分級治理並把恢復演練納入 SLO。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每家一頁要點化展示架構亮點、試點建議與風險。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 AWS（云原生存储生态）与 Dell（企业级硬件）的差异化优势。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对比阿里云（软件分层）与华为云（硬件协同）的差异化策略。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057400"/>
            <a:ext cx="8838895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存储行业前沿（2023–2026）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开场与关键结论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存储行业进入“低延迟高带宽 + 智能分层 + 云原生整合”的过渡期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8247" y="3543300"/>
            <a:ext cx="7315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1127" y="3616452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202A"/>
                </a:solidFill>
                <a:latin typeface="Inter, Arial, sans-serif"/>
              </a:rPr>
              <a:t>一行结论: 低延迟高带宽 + 智能分层 + 云原生整合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S0 · 开场与结论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关键结论与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9923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830072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全球市场从 ~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85 亿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美元增长到 ~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110 亿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美元（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2023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→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2026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）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438148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268984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NVMe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PMem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CXL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与云原生将主导未来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3 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年创新路径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1877059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170789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中国市场受数据主权与合规驱动，本地化与混合云需求上升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440" y="2283968"/>
            <a:ext cx="517382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3440" y="2283968"/>
            <a:ext cx="5173827" cy="36576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3167" y="2375408"/>
            <a:ext cx="4954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67" y="2759456"/>
            <a:ext cx="495437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</a:rPr>
              <a:t>Global (2026)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2283968"/>
            <a:ext cx="517382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4427" y="2283968"/>
            <a:ext cx="5173827" cy="36576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4155" y="2375408"/>
            <a:ext cx="4954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40 USD 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4155" y="2759456"/>
            <a:ext cx="495437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</a:rPr>
              <a:t>China (2026)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开场与结论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3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市场与趋势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市场规模、云/企业分布与媒体份额的量化证据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市场规模：全球 vs 中国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784352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784352"/>
            <a:ext cx="5265267" cy="36576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875792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85 USD 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728" y="1259840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</a:rPr>
              <a:t>Global 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784352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4427" y="784352"/>
            <a:ext cx="5265267" cy="36576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875792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4155" y="1259840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</a:rPr>
              <a:t>Global 2026 (proj)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62000" y="1790192"/>
          <a:ext cx="10667695" cy="47477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NVMe 与 NVMe-oF 采纳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7720" y="95351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784352"/>
            <a:ext cx="10393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NVMe server adoption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快速上升，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NVMe-oF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從少量部署走向规模化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62000" y="1314704"/>
          <a:ext cx="10667695" cy="52232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PMem/SCM 與 介質份額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7720" y="95351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784352"/>
            <a:ext cx="10393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PMem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在低延遲場景增長顯著，但受成本/容量限制；建議在元數據/日志加速場景試點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62000" y="1314704"/>
          <a:ext cx="10667695" cy="52232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A2F00"/>
                </a:solidFill>
                <a:latin typeface="Inter, Arial, sans-serif"/>
              </a:rPr>
              <a:t>硬件層創新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247" y="3086100"/>
            <a:ext cx="7315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21127" y="3159252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202A"/>
                </a:solidFill>
                <a:latin typeface="Inter, Arial, sans-serif"/>
              </a:rPr>
              <a:t>要點: 概括 NVMe、PMem、CXL、Computational Storage 的適用場景與工程要點。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NVMe 工程實踐與建議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並行訓練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推薦協議: NVMe/TCP / RDMA
網絡要點: 100/200GbE leaf-spine
驗證指標: IO 並發、隊列延遲、丟包率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低延遲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推薦協議: RDMA
驗證指標: P99 延遲、QDepth
回退策略: 本地 NVMe/實例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PMem 與 CXL 的應用與限制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PMem (持久內存)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適用: 元數據/日志加速
優點: 低 P99 延遲
局限: 高成本、容量有限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CXL (遠內存 pooling)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適用: 大模型內存彈性
優點: 內存共享/擴展
局限: 生態成熟度、隔離/權限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近數據處理（Computational Storage）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邊緣流式預處理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濾波/壓縮/解析
驗證點: 端到端延遲、正確性
限制: 設備異構、編程模型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大規模日志/壓縮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設備側壓縮/索引
驗證點: 吞吐 &amp; 減少主機 IO
回退: 主機執行路徑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系統與雲原生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对象存储、并行文件系统与云原生存储的趋势与架构取舍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雲原生存儲採納指數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62000" y="784352"/>
          <a:ext cx="10667695" cy="57536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存儲架構對比：對象 / 並行文件 / 分層緩存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3464458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3464458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對象存儲 (S3 兼容)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3245002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彈性擴展、成本優勢
局限: 小對象/低延遲場景需緩存
典型場景: 數據湖/歸檔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3618" y="830072"/>
            <a:ext cx="3464458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3618" y="830072"/>
            <a:ext cx="3464458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3346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並行文件系統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3346" y="1287272"/>
            <a:ext cx="3245002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3346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高帶寬並行 I/O
局限: 元數據瓶頸/運維複雜
典型場景: HPC/訓練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5236" y="830072"/>
            <a:ext cx="3464458" cy="5570727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5236" y="830072"/>
            <a:ext cx="3464458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964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分層緩存 (Alluxio 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4964" y="1287272"/>
            <a:ext cx="3245002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964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提高並行讀性能
局限: 一致性/緩存失效
典型場景: 訓練/分析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數據保護、合規與不可變備份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3098800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292963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加密（靜態/傳輸）、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WORM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與不可變快照為防勒索基礎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3537712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3368548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合規：中國市場對本地化與跨境控制要求高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397662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3807460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災備：異地多活與精細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RPO/RTO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設計必要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4383532"/>
            <a:ext cx="10484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2505D"/>
                </a:solidFill>
              </a:rPr>
              <a:t>… 详见 Speaker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3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面向 AI 的存儲演進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训练/推理的 I/O 特征与存储组合实践建议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I/O 要求（Training vs Inference）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62000" y="784352"/>
          <a:ext cx="10667695" cy="57536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數據路徑設計 (對象 + 並行 FS + 緩存)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1511"/>
            <a:ext cx="73152" cy="73152"/>
          </a:xfrm>
          <a:prstGeom prst="ellipse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78435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建議：S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3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+並行文件系統+本地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NVMe cache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組合用於訓練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287271"/>
            <a:ext cx="73152" cy="73152"/>
          </a:xfrm>
          <a:prstGeom prst="ellipse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15011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驗證點：緩存命中率、並行文件系統元數據擴展性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160" y="3775456"/>
            <a:ext cx="2255443" cy="640080"/>
          </a:xfrm>
          <a:prstGeom prst="roundRect">
            <a:avLst/>
          </a:prstGeom>
          <a:solidFill>
            <a:srgbClr val="00599C"/>
          </a:solidFill>
          <a:ln w="19050">
            <a:solidFill>
              <a:srgbClr val="00599C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ObjectStorage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323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3474643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03" y="3775456"/>
            <a:ext cx="2255443" cy="640080"/>
          </a:xfrm>
          <a:prstGeom prst="roundRect">
            <a:avLst/>
          </a:prstGeom>
          <a:solidFill>
            <a:srgbClr val="00B3A4"/>
          </a:solidFill>
          <a:ln w="19050">
            <a:solidFill>
              <a:srgbClr val="00B3A4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Alluxio/Local NVMe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2967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6187287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4447" y="3775456"/>
            <a:ext cx="2255443" cy="640080"/>
          </a:xfrm>
          <a:prstGeom prst="roundRect">
            <a:avLst/>
          </a:prstGeom>
          <a:solidFill>
            <a:srgbClr val="FFD100"/>
          </a:solidFill>
          <a:ln w="19050">
            <a:solidFill>
              <a:srgbClr val="FFD100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ParallelFS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25611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899931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37091" y="3775456"/>
            <a:ext cx="2255443" cy="640080"/>
          </a:xfrm>
          <a:prstGeom prst="roundRect">
            <a:avLst/>
          </a:prstGeom>
          <a:solidFill>
            <a:srgbClr val="7F8DA6"/>
          </a:solidFill>
          <a:ln w="19050">
            <a:solidFill>
              <a:srgbClr val="7F8DA6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Compute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A2F00"/>
                </a:solidFill>
                <a:latin typeface="Inter, Arial, sans-serif"/>
              </a:rPr>
              <a:t>安全、可靠性與數據治理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A2F00"/>
                </a:solidFill>
              </a:rPr>
              <a:t>加密、审计、合规策略与灾备设计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S5 · 安全与治理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安全實踐與工程風險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99236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830072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不可變備份 + 快照流水線為防勒索核心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438148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268984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合規：跨境傳輸策略與審計追蹤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1877059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170789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運營：恢復演練與備份窗口成本需要權衡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2283968"/>
            <a:ext cx="293574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9188" y="2283968"/>
            <a:ext cx="104848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概率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669" y="2283968"/>
            <a:ext cx="104848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影响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6151" y="2283968"/>
            <a:ext cx="5452103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缓解措施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3440" y="2613152"/>
            <a:ext cx="10484815" cy="2540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" y="2631440"/>
            <a:ext cx="29357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⚠️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9188" y="2631440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BA1A1A"/>
                </a:solidFill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669" y="2631440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BA1A1A"/>
                </a:solidFill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6151" y="2631440"/>
            <a:ext cx="54521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按区域分级部署 + 合规审计自动化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3440" y="2978912"/>
            <a:ext cx="10484815" cy="34747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2978912"/>
            <a:ext cx="29357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⚠️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9188" y="2978912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D100"/>
                </a:solidFill>
              </a:rPr>
              <a:t>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7669" y="2978912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D100"/>
                </a:solidFill>
              </a:rP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6151" y="2978912"/>
            <a:ext cx="54521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分层存储 + 冷热数据分级 + 成本监控告警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安全与治理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廠商案例研究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国际厂商案例：AWS vs Dell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AWS 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S3 + EBS + 本地 NVMe 实例
场景: 训练/高并发 DB
备注: 快照与跨区复制生态成熟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2533903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AWS 试点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NVMe-oF 性能试点 + 快照/恢复成本评估
风险: 跨区流量成本
时间: 6–12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501135"/>
            <a:ext cx="5265267" cy="2533903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3501135"/>
            <a:ext cx="5265267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728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Dell 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728" y="3958335"/>
            <a:ext cx="5045811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PowerMax / PowerScale NVMe 阵列
场景: 企业级事务与分析
备注: 端到端运维工具链成熟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3501135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427" y="3501135"/>
            <a:ext cx="5265267" cy="45720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4155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Dell 试点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4155" y="3958335"/>
            <a:ext cx="5045811" cy="18288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4155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验证 NVMe 阵列性能 &amp; 快照恢复
风险: 高成本、运维资源需求
时间: 6–12 月</a:t>
            </a:r>
          </a:p>
        </p:txBody>
      </p:sp>
      <p:sp>
        <p:nvSpPr>
          <p:cNvPr id="27" name="Oval 26"/>
          <p:cNvSpPr/>
          <p:nvPr/>
        </p:nvSpPr>
        <p:spPr>
          <a:xfrm>
            <a:off x="853440" y="629564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320" y="6172199"/>
            <a:ext cx="10301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两家国际厂商的存储架构亮点与试点建议对比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国内厂商案例：阿里云 vs 华为云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阿里云 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Pangu + SSD cache 分层
场景: 大规模分析/训练
备注: 元数据扩展性强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2533903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阿里云 试点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分层下沉成本验证 + 元数据扩展性试验
风险: 实现内部化优化难以外移
时间: 6–12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501135"/>
            <a:ext cx="5265267" cy="2533903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3501135"/>
            <a:ext cx="5265267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728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华为云 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728" y="3958335"/>
            <a:ext cx="5045811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PMem + NVMe 层 + CXL 试点
场景: 低延迟事务/大模型内存弹性
备注: 硬件协同优势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3501135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427" y="3501135"/>
            <a:ext cx="5265267" cy="45720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4155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华为云 试点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4155" y="3958335"/>
            <a:ext cx="5045811" cy="18288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4155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在受控集群测试 PMem/CXL 可用性与回退策略
风险: 国际互操作与硬件支持
时间: 6–12 月</a:t>
            </a:r>
          </a:p>
        </p:txBody>
      </p:sp>
      <p:sp>
        <p:nvSpPr>
          <p:cNvPr id="27" name="Oval 26"/>
          <p:cNvSpPr/>
          <p:nvPr/>
        </p:nvSpPr>
        <p:spPr>
          <a:xfrm>
            <a:off x="853440" y="629564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320" y="6172199"/>
            <a:ext cx="10301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两家国内厂商的存储架构亮点与试点建议对比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