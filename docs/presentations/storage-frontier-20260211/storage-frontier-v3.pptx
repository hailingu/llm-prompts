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本次汇报聚焦 2023–2026 年间的技术与市场演进，并给出对企业/研究团队的短中长期建议。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 30 秒概括结论，后续每节用 2–3 要点支撑。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每条结论配一行关键证据来源（CSV/报告）。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本节展示市场规模、云/企业分布与媒体份额的量化证据。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指出数据来源 (IDC/SNIA) 与估算注记；建议在讲稿中说明不确定性边界。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討論網絡（RDMA vs NVMe/TCP）與互操作性風險。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 PMem 的工程約束和試點驗證點（斷電恢復、一致性驗證）。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本節概括 NVMe、PMem、CXL、Computational Storage 的適用場景與工程要點。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對比不同場景下的網絡/QoS/回退策略，建議小規模互操作試驗。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建議在受控集群進行 CXL pooling/遷移延遲測試並記錄故障模式。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強調需保留主機回退路徑並優先在受控場景試點。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本節展示對象存儲、並行文件系統與雲原生存儲插件的趨勢與取捨。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說明 CSI 成熟度與運維挑戰，提出分階段遷移建議。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對比表用於幫助架構選擇（按工作負載特徵決策）。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建議按業務關鍵性分級備份策略並把恢復演練納常態運維。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本節給出訓練/推理的 I/O 特徵與組合實踐建議。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強調分層緩存 + NVMe-oF 的組合價值，並指出經濟性驗證點。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給出 POC 驗證清單（緩存命中率、峰值帶寬、成本對比）。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討論加密、審計、合規策略與災備設計。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建議分級治理並把恢復演練納入 SLO。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每家一頁要點化展示架構亮點、試點建議與風險。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对比 AWS（云原生存储生态）与 Dell（企业级硬件）的差异化优势。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对比阿里云（软件分层）与华为云（硬件协同）的差异化策略。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2057400"/>
            <a:ext cx="8838895" cy="703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存储行业前沿（2023–2026）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219456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开场与关键结论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301752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33600" y="3429000"/>
            <a:ext cx="7924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存储行业进入“低延迟高带宽 + 智能分层 + 云原生整合”的过渡期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1679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43565" y="4937759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35451" y="4937759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27336" y="4937759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19222" y="4937759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11108" y="4937759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02993" y="4937759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S0 · 开场与结论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关键结论与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3440" y="999236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320" y="830072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全球市场从 ~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85 亿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美元增长到 ~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110 亿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美元（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2023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→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2026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）</a:t>
            </a:r>
          </a:p>
        </p:txBody>
      </p:sp>
      <p:sp>
        <p:nvSpPr>
          <p:cNvPr id="9" name="Oval 8"/>
          <p:cNvSpPr/>
          <p:nvPr/>
        </p:nvSpPr>
        <p:spPr>
          <a:xfrm>
            <a:off x="853440" y="1438148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6320" y="1268984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 b="1">
                <a:solidFill>
                  <a:srgbClr val="00599C"/>
                </a:solidFill>
                <a:latin typeface="Inter, Arial, sans-serif"/>
              </a:rPr>
              <a:t>NVMe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、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PMem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、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CXL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 与云原生将主导未来 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3 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年创新路径</a:t>
            </a:r>
          </a:p>
        </p:txBody>
      </p:sp>
      <p:sp>
        <p:nvSpPr>
          <p:cNvPr id="11" name="Oval 10"/>
          <p:cNvSpPr/>
          <p:nvPr/>
        </p:nvSpPr>
        <p:spPr>
          <a:xfrm>
            <a:off x="853440" y="1877059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6320" y="1707896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中国市场受数据主权与合规驱动，本地化与混合云需求上升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3440" y="2283968"/>
            <a:ext cx="5173827" cy="777240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3440" y="2283968"/>
            <a:ext cx="5173827" cy="36576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3167" y="2375408"/>
            <a:ext cx="495437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599C"/>
                </a:solidFill>
                <a:latin typeface="Inter, Arial, sans-serif"/>
              </a:rPr>
              <a:t>110 USD Bn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3167" y="2759456"/>
            <a:ext cx="495437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1D35"/>
                </a:solidFill>
              </a:rPr>
              <a:t>Global (2026)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4427" y="2283968"/>
            <a:ext cx="5173827" cy="777240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4427" y="2283968"/>
            <a:ext cx="5173827" cy="36576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4155" y="2375408"/>
            <a:ext cx="495437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599C"/>
                </a:solidFill>
                <a:latin typeface="Inter, Arial, sans-serif"/>
              </a:rPr>
              <a:t>40 USD Bn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4155" y="2759456"/>
            <a:ext cx="495437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1D35"/>
                </a:solidFill>
              </a:rPr>
              <a:t>China (2026)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开场与结论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219456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市场与趋势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301752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33600" y="3429000"/>
            <a:ext cx="7924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市场规模、云/企业分布与媒体份额的量化证据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1679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43565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35451" y="4937759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27336" y="4937759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19222" y="4937759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11108" y="4937759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02993" y="4937759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S1 · 市场与趋势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市场规模：全球 vs 中国 (2023–2026)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784352"/>
            <a:ext cx="2597867" cy="777240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784352"/>
            <a:ext cx="2597867" cy="36576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875792"/>
            <a:ext cx="237841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599C"/>
                </a:solidFill>
                <a:latin typeface="Inter, Arial, sans-serif"/>
              </a:rPr>
              <a:t>85 USD Bn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1728" y="1259840"/>
            <a:ext cx="237841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1D35"/>
                </a:solidFill>
              </a:rPr>
              <a:t>Global 2023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7027" y="784352"/>
            <a:ext cx="2597867" cy="777240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97027" y="784352"/>
            <a:ext cx="2597867" cy="36576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6755" y="875792"/>
            <a:ext cx="237841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599C"/>
                </a:solidFill>
                <a:latin typeface="Inter, Arial, sans-serif"/>
              </a:rPr>
              <a:t>110 USD Bn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6755" y="1259840"/>
            <a:ext cx="237841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1D35"/>
                </a:solidFill>
              </a:rPr>
              <a:t>Global 2026 (proj)</a:t>
            </a:r>
          </a:p>
        </p:txBody>
      </p:sp>
      <p:pic>
        <p:nvPicPr>
          <p:cNvPr id="15" name="Picture 14" descr="figure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800" y="784352"/>
            <a:ext cx="5332895" cy="5753608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市场与趋势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S1 · 市场与趋势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NVMe 与 NVMe-oF 采纳 (2023–2026)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7720" y="953516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0600" y="784352"/>
            <a:ext cx="50585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 b="1">
                <a:solidFill>
                  <a:srgbClr val="00599C"/>
                </a:solidFill>
                <a:latin typeface="Inter, Arial, sans-serif"/>
              </a:rPr>
              <a:t>NVMe server adoption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 快速上升，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NVMe-oF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 從少量部署走向规模化</a:t>
            </a:r>
          </a:p>
        </p:txBody>
      </p:sp>
      <p:pic>
        <p:nvPicPr>
          <p:cNvPr id="9" name="Picture 8" descr="figure_nv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800" y="784352"/>
            <a:ext cx="5332895" cy="575360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市场与趋势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S1 · 市场与趋势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PMem/SCM 與 介質份額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7720" y="953516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0600" y="784352"/>
            <a:ext cx="50585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 b="1">
                <a:solidFill>
                  <a:srgbClr val="00599C"/>
                </a:solidFill>
                <a:latin typeface="Inter, Arial, sans-serif"/>
              </a:rPr>
              <a:t>PMem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 在低延遲場景增長顯著，但受成本/容量限制；建議在元數據/日志加速場景試點</a:t>
            </a:r>
          </a:p>
        </p:txBody>
      </p:sp>
      <p:pic>
        <p:nvPicPr>
          <p:cNvPr id="9" name="Picture 8" descr="figure_pm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800" y="784352"/>
            <a:ext cx="5332895" cy="575360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市场与趋势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219456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硬件層創新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301752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1679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43565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35451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27336" y="4937759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19222" y="4937759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11108" y="4937759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02993" y="4937759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S2 · 硬件层创新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NVMe 工程實踐與建議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830072"/>
            <a:ext cx="5265267" cy="5570727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830072"/>
            <a:ext cx="5265267" cy="4572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並行訓練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1728" y="1287272"/>
            <a:ext cx="5045811" cy="18288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728" y="1332992"/>
            <a:ext cx="5045811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推薦協議: NVMe/TCP / RDMA
網絡要點: 100/200GbE leaf-spine
驗證指標: IO 並發、隊列延遲、丟包率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427" y="830072"/>
            <a:ext cx="5265267" cy="5570727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4427" y="830072"/>
            <a:ext cx="5265267" cy="4572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4155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低延遲 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4155" y="1287272"/>
            <a:ext cx="5045811" cy="18288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4155" y="1332992"/>
            <a:ext cx="5045811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推薦協議: RDMA
驗證指標: P99 延遲、QDepth
回退策略: 本地 NVMe/實例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FFD100"/>
                </a:solidFill>
              </a:rPr>
              <a:t>硬件层创新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S2 · 硬件层创新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PMem 與 CXL 的應用與限制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830072"/>
            <a:ext cx="5265267" cy="5570727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830072"/>
            <a:ext cx="5265267" cy="4572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PMem (持久內存)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1728" y="1287272"/>
            <a:ext cx="5045811" cy="18288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728" y="1332992"/>
            <a:ext cx="5045811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適用: 元數據/日志加速
優點: 低 P99 延遲
局限: 高成本、容量有限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427" y="830072"/>
            <a:ext cx="5265267" cy="5570727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4427" y="830072"/>
            <a:ext cx="5265267" cy="4572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4155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CXL (遠內存 pooling)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4155" y="1287272"/>
            <a:ext cx="5045811" cy="18288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4155" y="1332992"/>
            <a:ext cx="5045811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適用: 大模型內存彈性
優點: 內存共享/擴展
局限: 生態成熟度、隔離/權限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FFD100"/>
                </a:solidFill>
              </a:rPr>
              <a:t>硬件层创新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S2 · 硬件层创新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近數據處理（Computational Storage）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830072"/>
            <a:ext cx="5265267" cy="5570727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830072"/>
            <a:ext cx="5265267" cy="4572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邊緣流式預處理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1728" y="1287272"/>
            <a:ext cx="5045811" cy="18288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728" y="1332992"/>
            <a:ext cx="5045811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用例: 濾波/壓縮/解析
驗證點: 端到端延遲、正確性
限制: 設備異構、編程模型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427" y="830072"/>
            <a:ext cx="5265267" cy="5570727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4427" y="830072"/>
            <a:ext cx="5265267" cy="4572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4155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大規模日志/壓縮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4155" y="1287272"/>
            <a:ext cx="5045811" cy="18288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4155" y="1332992"/>
            <a:ext cx="5045811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用例: 設備側壓縮/索引
驗證點: 吞吐 &amp; 減少主機 IO
回退: 主機執行路徑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FFD100"/>
                </a:solidFill>
              </a:rPr>
              <a:t>硬件层创新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219456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系統與雲原生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301752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33600" y="3429000"/>
            <a:ext cx="7924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对象存储、并行文件系统与云原生存储的趋势与架构取舍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1679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43565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35451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27336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19222" y="4937759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11108" y="4937759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02993" y="4937759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S3 · 系统与云原生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雲原生存儲採納指數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ure_c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784352"/>
            <a:ext cx="10667695" cy="575360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系统与云原生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S3 · 系统与云原生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存儲架構對比：對象 / 並行文件 / 分層緩存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830072"/>
            <a:ext cx="3464458" cy="5570727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830072"/>
            <a:ext cx="3464458" cy="4572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939799"/>
            <a:ext cx="324500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對象存儲 (S3 兼容)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1728" y="1287272"/>
            <a:ext cx="3245002" cy="18288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728" y="1332992"/>
            <a:ext cx="3245002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優點: 彈性擴展、成本優勢
局限: 小對象/低延遲場景需緩存
典型場景: 數據湖/歸檔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3618" y="830072"/>
            <a:ext cx="3464458" cy="5570727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3618" y="830072"/>
            <a:ext cx="3464458" cy="4572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3346" y="939799"/>
            <a:ext cx="324500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並行文件系統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73346" y="1287272"/>
            <a:ext cx="3245002" cy="18288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3346" y="1332992"/>
            <a:ext cx="3245002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優點: 高帶寬並行 I/O
局限: 元數據瓶頸/運維複雜
典型場景: HPC/訓練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65236" y="830072"/>
            <a:ext cx="3464458" cy="5570727"/>
          </a:xfrm>
          <a:prstGeom prst="roundRect">
            <a:avLst/>
          </a:prstGeom>
          <a:solidFill>
            <a:srgbClr val="D8DDE3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65236" y="830072"/>
            <a:ext cx="3464458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74964" y="939799"/>
            <a:ext cx="324500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分層緩存 (Alluxio 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74964" y="1287272"/>
            <a:ext cx="3245002" cy="1828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964" y="1332992"/>
            <a:ext cx="3245002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優點: 提高並行讀性能
局限: 一致性/緩存失效
典型場景: 訓練/分析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系统与云原生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S3 · 系统与云原生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數據保護、合規與不可變備份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3440" y="3098800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320" y="2929636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加密（靜態/傳輸）、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WORM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 與不可變快照為防勒索基礎</a:t>
            </a:r>
          </a:p>
        </p:txBody>
      </p:sp>
      <p:sp>
        <p:nvSpPr>
          <p:cNvPr id="9" name="Oval 8"/>
          <p:cNvSpPr/>
          <p:nvPr/>
        </p:nvSpPr>
        <p:spPr>
          <a:xfrm>
            <a:off x="853440" y="3537712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6320" y="3368548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合規：中國市場對本地化與跨境控制要求高</a:t>
            </a:r>
          </a:p>
        </p:txBody>
      </p:sp>
      <p:sp>
        <p:nvSpPr>
          <p:cNvPr id="11" name="Oval 10"/>
          <p:cNvSpPr/>
          <p:nvPr/>
        </p:nvSpPr>
        <p:spPr>
          <a:xfrm>
            <a:off x="853440" y="3976623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6320" y="3807460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災備：異地多活與精細 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RPO/RTO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 設計必要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440" y="4383532"/>
            <a:ext cx="104848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2505D"/>
                </a:solidFill>
              </a:rPr>
              <a:t>… 详见 Speaker Notes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系统与云原生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219456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面向 AI 的存儲演進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301752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33600" y="3429000"/>
            <a:ext cx="7924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训练/推理的 I/O 特征与存储组合实践建议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1679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43565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35451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27336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19222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11108" y="4937759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02993" y="4937759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S4 · 面向 AI 的存储演进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AI I/O 要求（Training vs Inference）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ure_ai_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784352"/>
            <a:ext cx="10667695" cy="575360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面向 AI 的存储演进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S4 · 面向 AI 的存储演进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AI 數據路徑設計 (對象 + 並行 FS + 緩存)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3440" y="921511"/>
            <a:ext cx="73152" cy="73152"/>
          </a:xfrm>
          <a:prstGeom prst="ellipse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320" y="784352"/>
            <a:ext cx="103019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建議：S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3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+並行文件系統+本地 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NVMe cache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 組合用於訓練</a:t>
            </a:r>
          </a:p>
        </p:txBody>
      </p:sp>
      <p:sp>
        <p:nvSpPr>
          <p:cNvPr id="9" name="Oval 8"/>
          <p:cNvSpPr/>
          <p:nvPr/>
        </p:nvSpPr>
        <p:spPr>
          <a:xfrm>
            <a:off x="853440" y="1287271"/>
            <a:ext cx="73152" cy="73152"/>
          </a:xfrm>
          <a:prstGeom prst="ellipse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6320" y="1150112"/>
            <a:ext cx="103019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驗證點：緩存命中率、並行文件系統元數據擴展性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9160" y="3775456"/>
            <a:ext cx="2255443" cy="640080"/>
          </a:xfrm>
          <a:prstGeom prst="roundRect">
            <a:avLst/>
          </a:prstGeom>
          <a:solidFill>
            <a:srgbClr val="00599C"/>
          </a:solidFill>
          <a:ln w="19050">
            <a:solidFill>
              <a:srgbClr val="00599C"/>
            </a:solidFill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Inter, Arial, sans-serif"/>
              </a:rPr>
              <a:t>ObjectStorage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323" y="4081780"/>
            <a:ext cx="320040" cy="27432"/>
          </a:xfrm>
          <a:prstGeom prst="rect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3474643" y="4040632"/>
            <a:ext cx="109728" cy="109728"/>
          </a:xfrm>
          <a:prstGeom prst="triangle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11803" y="3775456"/>
            <a:ext cx="2255443" cy="640080"/>
          </a:xfrm>
          <a:prstGeom prst="roundRect">
            <a:avLst/>
          </a:prstGeom>
          <a:solidFill>
            <a:srgbClr val="00B3A4"/>
          </a:solidFill>
          <a:ln w="19050">
            <a:solidFill>
              <a:srgbClr val="00B3A4"/>
            </a:solidFill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Inter, Arial, sans-serif"/>
              </a:rPr>
              <a:t>Alluxio/Local NVMe Cache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12967" y="4081780"/>
            <a:ext cx="320040" cy="27432"/>
          </a:xfrm>
          <a:prstGeom prst="rect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5400000">
            <a:off x="6187287" y="4040632"/>
            <a:ext cx="109728" cy="109728"/>
          </a:xfrm>
          <a:prstGeom prst="triangle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24447" y="3775456"/>
            <a:ext cx="2255443" cy="640080"/>
          </a:xfrm>
          <a:prstGeom prst="roundRect">
            <a:avLst/>
          </a:prstGeom>
          <a:solidFill>
            <a:srgbClr val="FFD100"/>
          </a:solidFill>
          <a:ln w="19050">
            <a:solidFill>
              <a:srgbClr val="FFD100"/>
            </a:solidFill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Inter, Arial, sans-serif"/>
              </a:rPr>
              <a:t>ParallelFS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25611" y="4081780"/>
            <a:ext cx="320040" cy="27432"/>
          </a:xfrm>
          <a:prstGeom prst="rect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8899931" y="4040632"/>
            <a:ext cx="109728" cy="109728"/>
          </a:xfrm>
          <a:prstGeom prst="triangle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37091" y="3775456"/>
            <a:ext cx="2255443" cy="640080"/>
          </a:xfrm>
          <a:prstGeom prst="roundRect">
            <a:avLst/>
          </a:prstGeom>
          <a:solidFill>
            <a:srgbClr val="7F8DA6"/>
          </a:solidFill>
          <a:ln w="19050">
            <a:solidFill>
              <a:srgbClr val="7F8DA6"/>
            </a:solidFill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Inter, Arial, sans-serif"/>
              </a:rPr>
              <a:t>Compute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面向 AI 的存储演进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219456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安全、可靠性與數據治理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301752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33600" y="3429000"/>
            <a:ext cx="7924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加密、审计、合规策略与灾备设计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1679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43565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35451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27336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19222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11108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02993" y="4937759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S5 · 安全与治理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安全實踐與工程風險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3440" y="999236"/>
            <a:ext cx="73152" cy="7315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320" y="830072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不可變備份 + 快照流水線為防勒索核心</a:t>
            </a:r>
          </a:p>
        </p:txBody>
      </p:sp>
      <p:sp>
        <p:nvSpPr>
          <p:cNvPr id="9" name="Oval 8"/>
          <p:cNvSpPr/>
          <p:nvPr/>
        </p:nvSpPr>
        <p:spPr>
          <a:xfrm>
            <a:off x="853440" y="1438148"/>
            <a:ext cx="73152" cy="7315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6320" y="1268984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合規：跨境傳輸策略與審計追蹤</a:t>
            </a:r>
          </a:p>
        </p:txBody>
      </p:sp>
      <p:sp>
        <p:nvSpPr>
          <p:cNvPr id="11" name="Oval 10"/>
          <p:cNvSpPr/>
          <p:nvPr/>
        </p:nvSpPr>
        <p:spPr>
          <a:xfrm>
            <a:off x="853440" y="1877059"/>
            <a:ext cx="73152" cy="7315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6320" y="1707896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運營：恢復演練與備份窗口成本需要權衡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440" y="2283968"/>
            <a:ext cx="3669685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16202A"/>
                </a:solidFill>
              </a:rPr>
              <a:t>风险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3125" y="2283968"/>
            <a:ext cx="1258177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16202A"/>
                </a:solidFill>
              </a:rPr>
              <a:t>概率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81303" y="2283968"/>
            <a:ext cx="1258177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16202A"/>
                </a:solidFill>
              </a:rPr>
              <a:t>影响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9480" y="2283968"/>
            <a:ext cx="429877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16202A"/>
                </a:solidFill>
              </a:rPr>
              <a:t>缓解措施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3440" y="2613152"/>
            <a:ext cx="10484815" cy="2540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440" y="2631440"/>
            <a:ext cx="3669685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</a:rPr>
              <a:t>⚠️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3125" y="2631440"/>
            <a:ext cx="125817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BA1A1A"/>
                </a:solidFill>
              </a:rPr>
              <a:t>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81303" y="2631440"/>
            <a:ext cx="125817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BA1A1A"/>
                </a:solidFill>
              </a:rPr>
              <a:t>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39480" y="2631440"/>
            <a:ext cx="429877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</a:rPr>
              <a:t>按区域分级部署 + 合规审计自动化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3440" y="2978912"/>
            <a:ext cx="10484815" cy="34747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3440" y="2978912"/>
            <a:ext cx="3669685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</a:rPr>
              <a:t>⚠️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3125" y="2978912"/>
            <a:ext cx="125817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D100"/>
                </a:solidFill>
              </a:rPr>
              <a:t>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81303" y="2978912"/>
            <a:ext cx="125817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D100"/>
                </a:solidFill>
              </a:rPr>
              <a:t>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9480" y="2978912"/>
            <a:ext cx="429877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</a:rPr>
              <a:t>分层存储 + 冷热数据分级 + 成本监控告警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FFD100"/>
                </a:solidFill>
              </a:rPr>
              <a:t>安全与治理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219456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廠商案例研究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301752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1679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43565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35451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27336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19222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11108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02993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S6 · 厂商案例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国际厂商案例：AWS vs Dell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830072"/>
            <a:ext cx="2564053" cy="5204967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830072"/>
            <a:ext cx="2564053" cy="4572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939799"/>
            <a:ext cx="234459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AWS 架构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1728" y="1287272"/>
            <a:ext cx="2344597" cy="18288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728" y="1332992"/>
            <a:ext cx="2344597" cy="4610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亮点: S3 + EBS + 本地 NVMe 实例
场景: 训练/高并发 DB
备注: 快照与跨区复制生态成熟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3213" y="830072"/>
            <a:ext cx="2564053" cy="5204967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63213" y="830072"/>
            <a:ext cx="2564053" cy="4572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2941" y="939799"/>
            <a:ext cx="234459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AWS 试点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72941" y="1287272"/>
            <a:ext cx="2344597" cy="18288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2941" y="1332992"/>
            <a:ext cx="2344597" cy="4610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建议: NVMe-oF 性能试点 + 快照/恢复成本评估
风险: 跨区流量成本
时间: 6–12 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4427" y="830072"/>
            <a:ext cx="2564053" cy="5204967"/>
          </a:xfrm>
          <a:prstGeom prst="roundRect">
            <a:avLst/>
          </a:prstGeom>
          <a:solidFill>
            <a:srgbClr val="D8DDE3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4427" y="830072"/>
            <a:ext cx="2564053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4155" y="939799"/>
            <a:ext cx="234459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Dell 架构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4155" y="1287272"/>
            <a:ext cx="2344597" cy="1828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4155" y="1332992"/>
            <a:ext cx="2344597" cy="4610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亮点: PowerMax / PowerScale NVMe 阵列
场景: 企业级事务与分析
备注: 端到端运维工具链成熟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5641" y="830072"/>
            <a:ext cx="2564053" cy="5204967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65641" y="830072"/>
            <a:ext cx="2564053" cy="45720"/>
          </a:xfrm>
          <a:prstGeom prst="rect">
            <a:avLst/>
          </a:prstGeom>
          <a:solidFill>
            <a:srgbClr val="7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75369" y="939799"/>
            <a:ext cx="234459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Dell 试点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5369" y="1287272"/>
            <a:ext cx="2344597" cy="18288"/>
          </a:xfrm>
          <a:prstGeom prst="rect">
            <a:avLst/>
          </a:prstGeom>
          <a:solidFill>
            <a:srgbClr val="7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75369" y="1332992"/>
            <a:ext cx="2344597" cy="4610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建议: 验证 NVMe 阵列性能 &amp; 快照恢复
风险: 高成本、运维资源需求
时间: 6–12 月</a:t>
            </a:r>
          </a:p>
        </p:txBody>
      </p:sp>
      <p:sp>
        <p:nvSpPr>
          <p:cNvPr id="27" name="Oval 26"/>
          <p:cNvSpPr/>
          <p:nvPr/>
        </p:nvSpPr>
        <p:spPr>
          <a:xfrm>
            <a:off x="853440" y="6295643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6320" y="6172199"/>
            <a:ext cx="103019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两家国际厂商的存储架构亮点与试点建议对比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厂商案例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S6 · 厂商案例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国内厂商案例：阿里云 vs 华为云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830072"/>
            <a:ext cx="2564053" cy="5204967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830072"/>
            <a:ext cx="2564053" cy="4572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939799"/>
            <a:ext cx="234459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阿里云 架构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1728" y="1287272"/>
            <a:ext cx="2344597" cy="18288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728" y="1332992"/>
            <a:ext cx="2344597" cy="4610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亮点: Pangu + SSD cache 分层
场景: 大规模分析/训练
备注: 元数据扩展性强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3213" y="830072"/>
            <a:ext cx="2564053" cy="5204967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63213" y="830072"/>
            <a:ext cx="2564053" cy="4572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2941" y="939799"/>
            <a:ext cx="234459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阿里云 试点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72941" y="1287272"/>
            <a:ext cx="2344597" cy="18288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2941" y="1332992"/>
            <a:ext cx="2344597" cy="4610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建议: 分层下沉成本验证 + 元数据扩展性试验
风险: 实现内部化优化难以外移
时间: 6–12 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4427" y="830072"/>
            <a:ext cx="2564053" cy="5204967"/>
          </a:xfrm>
          <a:prstGeom prst="roundRect">
            <a:avLst/>
          </a:prstGeom>
          <a:solidFill>
            <a:srgbClr val="D8DDE3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4427" y="830072"/>
            <a:ext cx="2564053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4155" y="939799"/>
            <a:ext cx="234459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华为云 架构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4155" y="1287272"/>
            <a:ext cx="2344597" cy="1828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4155" y="1332992"/>
            <a:ext cx="2344597" cy="4610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亮点: PMem + NVMe 层 + CXL 试点
场景: 低延迟事务/大模型内存弹性
备注: 硬件协同优势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5641" y="830072"/>
            <a:ext cx="2564053" cy="5204967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65641" y="830072"/>
            <a:ext cx="2564053" cy="45720"/>
          </a:xfrm>
          <a:prstGeom prst="rect">
            <a:avLst/>
          </a:prstGeom>
          <a:solidFill>
            <a:srgbClr val="7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75369" y="939799"/>
            <a:ext cx="234459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华为云 试点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5369" y="1287272"/>
            <a:ext cx="2344597" cy="18288"/>
          </a:xfrm>
          <a:prstGeom prst="rect">
            <a:avLst/>
          </a:prstGeom>
          <a:solidFill>
            <a:srgbClr val="7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75369" y="1332992"/>
            <a:ext cx="2344597" cy="4610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建议: 在受控集群测试 PMem/CXL 可用性与回退策略
风险: 国际互操作与硬件支持
时间: 6–12 月</a:t>
            </a:r>
          </a:p>
        </p:txBody>
      </p:sp>
      <p:sp>
        <p:nvSpPr>
          <p:cNvPr id="27" name="Oval 26"/>
          <p:cNvSpPr/>
          <p:nvPr/>
        </p:nvSpPr>
        <p:spPr>
          <a:xfrm>
            <a:off x="853440" y="6295643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6320" y="6172199"/>
            <a:ext cx="103019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两家国内厂商的存储架构亮点与试点建议对比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厂商案例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