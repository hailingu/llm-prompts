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每条结论配一行关键证据来源（CSV/报告）。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本节展示市场规模、云/企业分布与媒体份额的量化证据。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指出数据来源 (IDC/SNIA) 与估算注记；建议在讲稿中说明不确定性边界。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 PMem 的工程約束和試點驗證點（斷電恢復、一致性驗證）。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本節概括 NVMe、PMem、CXL、Computational Storage 的適用場景與工程要點。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對比不同場景下的網絡/QoS/回退策略，建議小規模互操作試驗。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強調需保留主機回退路徑並優先在受控場景試點。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本節展示對象存儲、並行文件系統與雲原生存儲插件的趨勢與取捨。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 CSI 成熟度與運維挑戰，提出分階段遷移建議。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建議按業務關鍵性分級備份策略並把恢復演練納常態運維。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本節給出訓練/推理的 I/O 特徵與組合實踐建議。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強調分層緩存 + NVMe-oF 的組合價值，並指出經濟性驗證點。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討論加密、審計、合規策略與災備設計。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建議分級治理並把恢復演練納入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每家一頁要點化展示架構亮點、試點建議與風險。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強調商業化服務成熟度與成本-性能權衡。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建議對 Pangu 的分層策略做成本-性能實驗並記錄運維複雜度。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建議與硬件合作夥伴確認支持矩陣並測試回退路徑。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推薦與廠商工程團隊聯合開展性能與恢復試驗。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057400"/>
            <a:ext cx="8838895" cy="565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存储行业前沿（2023–2026）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847" y="2669032"/>
            <a:ext cx="2286000" cy="36576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开场与关键结论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3291839"/>
            <a:ext cx="79244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存储行业进入“低延迟高带宽 + 智能分层 + 云原生整合”的过渡期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S0 · 开场与结论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关键结论与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730087" y="999236"/>
            <a:ext cx="731520" cy="36576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200" y="1090676"/>
            <a:ext cx="97532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</a:rP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1364996"/>
            <a:ext cx="9753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>
                <a:solidFill>
                  <a:srgbClr val="0F172A"/>
                </a:solidFill>
              </a:rPr>
              <a:t>全球市场从 ~85 亿美元增长到 ~110 亿美元（2023→2026）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730087" y="2370836"/>
            <a:ext cx="731520" cy="36576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2462276"/>
            <a:ext cx="97532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736596"/>
            <a:ext cx="9753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>
                <a:solidFill>
                  <a:srgbClr val="0F172A"/>
                </a:solidFill>
              </a:rPr>
              <a:t>NVMe、PMem、CXL 与云原生将主导未来 3 年创新路径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30087" y="3742436"/>
            <a:ext cx="731520" cy="36576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3833876"/>
            <a:ext cx="97532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</a:rPr>
              <a:t>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4108196"/>
            <a:ext cx="9753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>
                <a:solidFill>
                  <a:srgbClr val="0F172A"/>
                </a:solidFill>
              </a:rPr>
              <a:t>中国市场受数据主权与合规驱动，本地化与混合云需求上升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440" y="5251196"/>
            <a:ext cx="5173827" cy="100584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1455" y="5379212"/>
            <a:ext cx="3657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2896" y="5360924"/>
            <a:ext cx="4844643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</a:rPr>
              <a:t>Global (2026)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455" y="5598668"/>
            <a:ext cx="493608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</a:rPr>
              <a:t>110 USD Bn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427" y="5251196"/>
            <a:ext cx="5173827" cy="100584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2443" y="5379212"/>
            <a:ext cx="3657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3883" y="5360924"/>
            <a:ext cx="4844643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</a:rPr>
              <a:t>China (2026)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2443" y="5598668"/>
            <a:ext cx="4936083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</a:rPr>
              <a:t>40 USD Bn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开场与结论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市场与趋势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市场规模：全球 vs 中国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09752"/>
            <a:ext cx="5265267" cy="11430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0016" y="937768"/>
            <a:ext cx="3657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1456" y="919480"/>
            <a:ext cx="4936083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</a:rPr>
              <a:t>Global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016" y="1157224"/>
            <a:ext cx="5027523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</a:rPr>
              <a:t>85 USD Bn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4427" y="809752"/>
            <a:ext cx="5265267" cy="1143000"/>
          </a:xfrm>
          <a:prstGeom prst="round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2443" y="937768"/>
            <a:ext cx="3657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3883" y="919480"/>
            <a:ext cx="4936083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</a:rPr>
              <a:t>Global 2026 (proj)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2443" y="1157224"/>
            <a:ext cx="5027523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</a:rPr>
              <a:t>110 USD Bn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2000" y="2272792"/>
          <a:ext cx="106676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539"/>
                <a:gridCol w="2133539"/>
                <a:gridCol w="2133539"/>
                <a:gridCol w="2133539"/>
                <a:gridCol w="2133539"/>
              </a:tblGrid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Global 市场 (USD Bn)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85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92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110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China 市场 (USD Bn)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市场与趋势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809752"/>
            <a:ext cx="10576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NVMe server adoption 快速上升，NVMe-oF 從少量部署走向规模化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2000" y="1431544"/>
          <a:ext cx="106676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539"/>
                <a:gridCol w="2133539"/>
                <a:gridCol w="2133539"/>
                <a:gridCol w="2133539"/>
                <a:gridCol w="2133539"/>
              </a:tblGrid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NVMe server (%)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30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52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65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NVMe-oF Deployments (%)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市场与趋势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PMem/SCM 與 介質份額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809752"/>
            <a:ext cx="10576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PMem 在低延遲場景增長顯著，但受成本/容量限制；建議在元數據/日志加速場景試點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市场与趋势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硬件層創新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NVMe 工程實踐與建議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336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並行訓練</a:t>
            </a:r>
          </a:p>
        </p:txBody>
      </p:sp>
      <p:sp>
        <p:nvSpPr>
          <p:cNvPr id="9" name="Rectangle 8"/>
          <p:cNvSpPr/>
          <p:nvPr/>
        </p:nvSpPr>
        <p:spPr>
          <a:xfrm>
            <a:off x="908304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304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推薦協議: NVMe/TCP / RDMA
網絡要點: 100/200GbE leaf-spine
驗證指標: IO 並發、隊列延遲、丟包率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55867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6763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低延遲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0731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0731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推薦協議: RDMA
驗證指標: P99 延遲、QDepth
回退策略: 本地 NVMe/實例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硬件层创新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PMem 與 CXL 的應用與限制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336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PMem (持久內存)</a:t>
            </a:r>
          </a:p>
        </p:txBody>
      </p:sp>
      <p:sp>
        <p:nvSpPr>
          <p:cNvPr id="9" name="Rectangle 8"/>
          <p:cNvSpPr/>
          <p:nvPr/>
        </p:nvSpPr>
        <p:spPr>
          <a:xfrm>
            <a:off x="908304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304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適用: 元數據/日志加速
優點: 低 P99 延遲
局限: 高成本、容量有限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55867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6763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CXL (遠內存 pooling)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0731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0731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適用: 大模型內存彈性
優點: 內存共享/擴展
局限: 生態成熟度、隔離/權限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硬件层创新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近數據處理（Computational Storage）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336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邊緣流式預處理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908304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304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用例: 濾波/壓縮/解析
驗證點: 端到端延遲、正確性
限制: 設備異構、編程模型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55867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6763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大規模日志/壓縮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0731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0731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用例: 設備側壓縮/索引
驗證點: 吞吐 &amp; 減少主機 IO
回退: 主機執行路徑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硬件层创新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系統與雲原生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雲原生存儲採納指數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809752"/>
          <a:ext cx="1066769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539"/>
                <a:gridCol w="2133539"/>
                <a:gridCol w="2133539"/>
                <a:gridCol w="2133539"/>
                <a:gridCol w="2133539"/>
              </a:tblGrid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CSI 使用指數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35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50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65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系统与云原生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存儲架構對比：對象 / 並行文件 / 分層緩存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3464458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336" y="946912"/>
            <a:ext cx="2915818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對象存儲 (S3 兼容)</a:t>
            </a:r>
          </a:p>
        </p:txBody>
      </p:sp>
      <p:sp>
        <p:nvSpPr>
          <p:cNvPr id="9" name="Rectangle 8"/>
          <p:cNvSpPr/>
          <p:nvPr/>
        </p:nvSpPr>
        <p:spPr>
          <a:xfrm>
            <a:off x="908304" y="1294384"/>
            <a:ext cx="317185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304" y="1358392"/>
            <a:ext cx="3171850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優點: 彈性擴展、成本優勢
局限: 小對象/低延遲場景需緩存
典型場景: 數據湖/歸檔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3618" y="855472"/>
            <a:ext cx="3464458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55058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5954" y="946912"/>
            <a:ext cx="2915818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並行文件系統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9922" y="1294384"/>
            <a:ext cx="317185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9922" y="1358392"/>
            <a:ext cx="3171850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優點: 高帶寬並行 I/O
局限: 元數據瓶頸/運維複雜
典型場景: HPC/訓練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5236" y="855472"/>
            <a:ext cx="3464458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6676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7572" y="946912"/>
            <a:ext cx="2915818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分層緩存 (Alluxio 等)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1540" y="1294384"/>
            <a:ext cx="3171850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1540" y="1358392"/>
            <a:ext cx="3171850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優點: 提高並行讀性能
局限: 一致性/緩存失效
典型場景: 訓練/分析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系统与云原生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數據保護、合規與不可變備份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730087" y="1502156"/>
            <a:ext cx="731520" cy="36576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200" y="1593596"/>
            <a:ext cx="97532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1867916"/>
            <a:ext cx="9753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>
                <a:solidFill>
                  <a:srgbClr val="0F172A"/>
                </a:solidFill>
              </a:rPr>
              <a:t>加密（靜態/傳輸）、WORM 與不可變快照為防勒索基礎</a:t>
            </a:r>
          </a:p>
        </p:txBody>
      </p:sp>
      <p:sp>
        <p:nvSpPr>
          <p:cNvPr id="9" name="Rectangle 8"/>
          <p:cNvSpPr/>
          <p:nvPr/>
        </p:nvSpPr>
        <p:spPr>
          <a:xfrm>
            <a:off x="5730087" y="2873756"/>
            <a:ext cx="731520" cy="36576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2965196"/>
            <a:ext cx="97532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239516"/>
            <a:ext cx="9753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>
                <a:solidFill>
                  <a:srgbClr val="0F172A"/>
                </a:solidFill>
              </a:rPr>
              <a:t>合規：中國市場對本地化與跨境控制要求高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30087" y="4245356"/>
            <a:ext cx="731520" cy="36576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4336796"/>
            <a:ext cx="975329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4611116"/>
            <a:ext cx="9753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>
                <a:solidFill>
                  <a:srgbClr val="0F172A"/>
                </a:solidFill>
              </a:rPr>
              <a:t>災備：異地多活與精細 RPO/RTO 設計必要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系统与云原生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面向 AI 的存儲演進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AI I/O 要求（Training vs Inference）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809752"/>
          <a:ext cx="106676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539"/>
                <a:gridCol w="2133539"/>
                <a:gridCol w="2133539"/>
                <a:gridCol w="2133539"/>
                <a:gridCol w="2133539"/>
              </a:tblGrid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2563EB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Training IOPS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500000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1000000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4000000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Training Bandwidth (GB/s)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160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Inference IOPS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50000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400000</a:t>
                      </a:r>
                    </a:p>
                  </a:txBody>
                  <a:tcPr>
                    <a:noFill/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  <a:tr h="502920"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</a:rPr>
                        <a:t>Inference Bandwidth (GB/s)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 wrap="square" lIns="73152" rIns="73152" tIns="36576" bIns="36576" anchor="ctr"/>
                    <a:lstStyle/>
                    <a:p>
                      <a:pPr algn="ctr"/>
                      <a:r>
                        <a:rPr sz="1100">
                          <a:solidFill>
                            <a:srgbClr val="0F172A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8FAFC"/>
                    </a:solidFill>
                    <a:lnL w="19050">
                      <a:solidFill>
                        <a:srgbClr val="D1D5DB"/>
                      </a:solidFill>
                    </a:lnL>
                    <a:lnR w="19050">
                      <a:solidFill>
                        <a:srgbClr val="D1D5DB"/>
                      </a:solidFill>
                    </a:lnR>
                    <a:lnT w="19050">
                      <a:solidFill>
                        <a:srgbClr val="D1D5DB"/>
                      </a:solidFill>
                    </a:lnT>
                    <a:lnB w="19050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面向 AI 的存储演进</a:t>
            </a:r>
          </a:p>
        </p:txBody>
      </p:sp>
      <p:sp>
        <p:nvSpPr>
          <p:cNvPr id="9" name="Rectangle 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855472"/>
            <a:ext cx="59446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建議：S3+並行文件系統+本地 NVMe cache 組合用於訓練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1294384"/>
            <a:ext cx="59446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0F172A"/>
                </a:solidFill>
              </a:rPr>
              <a:t>• 驗證點：緩存命中率、並行文件系統元數據擴展性</a:t>
            </a:r>
          </a:p>
        </p:txBody>
      </p:sp>
      <p:pic>
        <p:nvPicPr>
          <p:cNvPr id="8" name="Picture 7" descr="tmpb79obf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172" y="855472"/>
            <a:ext cx="4311523" cy="228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面向 AI 的存储演进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安全、可靠性與數據治理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S5 · 安全与治理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安全實踐與工程風險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6320" y="1913636"/>
            <a:ext cx="10119055" cy="7315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320" y="1913636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4920" y="2096516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4920" y="2096516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7840" y="2005076"/>
            <a:ext cx="91132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sz="2000">
                <a:solidFill>
                  <a:srgbClr val="0F172A"/>
                </a:solidFill>
              </a:rPr>
              <a:t>不可變備份 + 快照流水線為防勒索核心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6320" y="3010916"/>
            <a:ext cx="10119055" cy="7315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6320" y="3010916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64920" y="3193796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4920" y="3193796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7840" y="3102356"/>
            <a:ext cx="91132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sz="2000">
                <a:solidFill>
                  <a:srgbClr val="0F172A"/>
                </a:solidFill>
              </a:rPr>
              <a:t>合規：跨境傳輸策略與審計追蹤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6320" y="4108196"/>
            <a:ext cx="10119055" cy="7315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6320" y="4108196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64920" y="4291076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4920" y="4291076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7840" y="4199636"/>
            <a:ext cx="911321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sz="2000">
                <a:solidFill>
                  <a:srgbClr val="0F172A"/>
                </a:solidFill>
              </a:rPr>
              <a:t>運營：恢復演練與備份窗口成本需要權衡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安全与治理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19456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廠商案例研究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1679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65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35451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7336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19222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11108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02993" y="4937759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AWS：架構亮點與試點建議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336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架構概述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908304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304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亮點: S3 + EBS + 本地 NVMe 實例
場景: 訓練/高並發 DB
備註: 快照與跨區複製生態成熟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55867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6763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試點建議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0731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0731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建議: NVMe-oF 性能試點 + 快照/恢復成本評估
風險: 跨區流量成本
時間: 6–12 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厂商案例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阿里云（Pangu）— 架構與經驗要點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336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架構亮點</a:t>
            </a:r>
          </a:p>
        </p:txBody>
      </p:sp>
      <p:sp>
        <p:nvSpPr>
          <p:cNvPr id="9" name="Rectangle 8"/>
          <p:cNvSpPr/>
          <p:nvPr/>
        </p:nvSpPr>
        <p:spPr>
          <a:xfrm>
            <a:off x="908304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304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亮點: Pangu + SSD cache 分層
場景: 大規模分析/訓練
備註: 元數據擴展性強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55867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6763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試點建議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0731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0731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建議: 分層下沉成本驗證 + 元數據擴展性試驗
風險: 實現內部化優化難以外移
時間: 6–12 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厂商案例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華為云（硬件協同）— 要點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336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架構亮點</a:t>
            </a:r>
          </a:p>
        </p:txBody>
      </p:sp>
      <p:sp>
        <p:nvSpPr>
          <p:cNvPr id="9" name="Rectangle 8"/>
          <p:cNvSpPr/>
          <p:nvPr/>
        </p:nvSpPr>
        <p:spPr>
          <a:xfrm>
            <a:off x="908304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304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亮點: PMem + NVMe 層 + CXL 試點
場景: 低延遲事務/大模型內存彈性
備註: 硬件協同優勢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55867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6763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試點建議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0731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0731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建議: 在受控集群測試 PMem/CXL 可用性與回退策略
風險: 國際互操作與硬件支持
時間: 6–12 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厂商案例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8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6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Dell：企業混合雲與 NVMe 產品要點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336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架構亮點</a:t>
            </a:r>
          </a:p>
        </p:txBody>
      </p:sp>
      <p:sp>
        <p:nvSpPr>
          <p:cNvPr id="9" name="Rectangle 8"/>
          <p:cNvSpPr/>
          <p:nvPr/>
        </p:nvSpPr>
        <p:spPr>
          <a:xfrm>
            <a:off x="908304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8304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亮點: PowerMax / PowerScale NVMe 陣列
場景: 企業級事務與分析
備註: 端到端運維工具鏈成熟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855472"/>
            <a:ext cx="5265267" cy="2286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55867" y="92862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" lIns="1" rIns="1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6763" y="946912"/>
            <a:ext cx="4716627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600" b="1">
                <a:solidFill>
                  <a:srgbClr val="0F172A"/>
                </a:solidFill>
              </a:rPr>
              <a:t>試點建議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0731" y="1294384"/>
            <a:ext cx="4972659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0731" y="1358392"/>
            <a:ext cx="4972659" cy="1636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0F172A"/>
                </a:solidFill>
              </a:rPr>
              <a:t>建議: 驗證 NVMe 陣列性能 &amp; 快照恢復
風險: 高成本、運維資源需求
時間: 6–12 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厂商案例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