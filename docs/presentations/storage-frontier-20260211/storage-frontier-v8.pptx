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  <p:sldId id="270" r:id="rId22"/>
    <p:sldId id="271" r:id="rId23"/>
    <p:sldId id="272" r:id="rId24"/>
    <p:sldId id="273" r:id="rId25"/>
    <p:sldId id="274" r:id="rId26"/>
    <p:sldId id="275" r:id="rId27"/>
    <p:sldId id="276" r:id="rId28"/>
    <p:sldId id="277" r:id="rId29"/>
    <p:sldId id="278" r:id="rId30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Relationship Id="rId22" Type="http://schemas.openxmlformats.org/officeDocument/2006/relationships/slide" Target="slides/slide15.xml"/><Relationship Id="rId23" Type="http://schemas.openxmlformats.org/officeDocument/2006/relationships/slide" Target="slides/slide16.xml"/><Relationship Id="rId24" Type="http://schemas.openxmlformats.org/officeDocument/2006/relationships/slide" Target="slides/slide17.xml"/><Relationship Id="rId25" Type="http://schemas.openxmlformats.org/officeDocument/2006/relationships/slide" Target="slides/slide18.xml"/><Relationship Id="rId26" Type="http://schemas.openxmlformats.org/officeDocument/2006/relationships/slide" Target="slides/slide19.xml"/><Relationship Id="rId27" Type="http://schemas.openxmlformats.org/officeDocument/2006/relationships/slide" Target="slides/slide20.xml"/><Relationship Id="rId28" Type="http://schemas.openxmlformats.org/officeDocument/2006/relationships/slide" Target="slides/slide21.xml"/><Relationship Id="rId29" Type="http://schemas.openxmlformats.org/officeDocument/2006/relationships/slide" Target="slides/slide22.xml"/><Relationship Id="rId30" Type="http://schemas.openxmlformats.org/officeDocument/2006/relationships/slide" Target="slides/slide23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_rels/notesSlide1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.xml"/></Relationships>
</file>

<file path=ppt/notesSlides/_rels/notesSlide1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6.xml"/></Relationships>
</file>

<file path=ppt/notesSlides/_rels/notesSlide1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7.xml"/></Relationships>
</file>

<file path=ppt/notesSlides/_rels/notesSlide1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8.xml"/></Relationships>
</file>

<file path=ppt/notesSlides/_rels/notesSlide1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9.xml"/></Relationships>
</file>

<file path=ppt/notesSlides/_rels/notesSlide2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0.xml"/></Relationships>
</file>

<file path=ppt/notesSlides/_rels/notesSlide2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1.xml"/></Relationships>
</file>

<file path=ppt/notesSlides/_rels/notesSlide2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2.xml"/></Relationships>
</file>

<file path=ppt/notesSlides/_rels/notesSlide2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3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本次汇报聚焦 2023–2026 年间的技术与市场演进，并给出对企业/研究团队的短中长期建议。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用 30 秒概括结论，后续每节用 2–3 要点支撑。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每条结论配一行关键证据来源（CSV/报告）。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本节展示市场规模、云/企业分布与媒体份额的量化证据。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指出数据来源 (IDC/SNIA) 与估算注记；建议在讲稿中说明不确定性边界。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討論網絡（RDMA vs NVMe/TCP）與互操作性風險。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強調 PMem 的工程約束和試點驗證點（斷電恢復、一致性驗證）。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本節概括 NVMe、PMem、CXL、Computational Storage 的適用場景與工程要點。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對比不同場景下的網絡/QoS/回退策略，建議小規模互操作試驗。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建議在受控集群進行 CXL pooling/遷移延遲測試並記錄故障模式。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強調需保留主機回退路徑並優先在受控場景試點。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本節展示對象存儲、並行文件系統與雲原生存儲插件的趨勢與取捨。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說明 CSI 成熟度與運維挑戰，提出分階段遷移建議。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對比表用於幫助架構選擇（按工作負載特徵決策）。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建議按業務關鍵性分級備份策略並把恢復演練納常態運維。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本節給出訓練/推理的 I/O 特徵與組合實踐建議。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強調分層緩存 + NVMe-oF 的組合價值，並指出經濟性驗證點。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給出 POC 驗證清單（緩存命中率、峰值帶寬、成本對比）。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討論加密、審計、合規策略與災備設計。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建議分級治理並把恢復演練納入 SLO。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每家一頁要點化展示架構亮點、試點建議與風險。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对比 AWS（云原生存储生态）与 Dell（企业级硬件）的差异化优势。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对比阿里云（软件分层）与华为云（硬件协同）的差异化策略。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Relationship Id="rId3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Relationship Id="rId3" Type="http://schemas.openxmlformats.org/officeDocument/2006/relationships/notesSlide" Target="../notesSlides/notesSlide13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4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5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6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Relationship Id="rId3" Type="http://schemas.openxmlformats.org/officeDocument/2006/relationships/notesSlide" Target="../notesSlides/notesSlide1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8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9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0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1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2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3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599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676400" y="2057400"/>
            <a:ext cx="8838895" cy="7030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800" b="1">
                <a:solidFill>
                  <a:srgbClr val="FFFFFF"/>
                </a:solidFill>
                <a:latin typeface="Inter, Arial, sans-serif"/>
              </a:rPr>
              <a:t>存储行业前沿（2023–2026）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599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676400" y="1920240"/>
            <a:ext cx="8838895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800" b="1">
                <a:solidFill>
                  <a:srgbClr val="FFFFFF"/>
                </a:solidFill>
                <a:latin typeface="Inter, Arial, sans-serif"/>
              </a:rPr>
              <a:t>开场与关键结论</a:t>
            </a:r>
          </a:p>
        </p:txBody>
      </p:sp>
      <p:sp>
        <p:nvSpPr>
          <p:cNvPr id="3" name="Rectangle 2"/>
          <p:cNvSpPr/>
          <p:nvPr/>
        </p:nvSpPr>
        <p:spPr>
          <a:xfrm>
            <a:off x="5181447" y="2743200"/>
            <a:ext cx="1828800" cy="2743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133600" y="3086100"/>
            <a:ext cx="7924495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>
                <a:solidFill>
                  <a:srgbClr val="FFFFFF"/>
                </a:solidFill>
              </a:rPr>
              <a:t>存储行业进入“低延迟高带宽 + 智能分层 + 云原生整合”的过渡期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2438247" y="3543300"/>
            <a:ext cx="7315200" cy="45720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2621127" y="3616452"/>
            <a:ext cx="694944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>
                <a:solidFill>
                  <a:srgbClr val="16202A"/>
                </a:solidFill>
                <a:latin typeface="Inter, Arial, sans-serif"/>
              </a:rPr>
              <a:t>一行结论: 低延迟高带宽 + 智能分层 + 云原生整合</a:t>
            </a:r>
          </a:p>
        </p:txBody>
      </p:sp>
      <p:sp>
        <p:nvSpPr>
          <p:cNvPr id="7" name="Rectangle 6"/>
          <p:cNvSpPr/>
          <p:nvPr/>
        </p:nvSpPr>
        <p:spPr>
          <a:xfrm>
            <a:off x="4751679" y="5349240"/>
            <a:ext cx="337021" cy="7315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5143565" y="5349240"/>
            <a:ext cx="337021" cy="73152"/>
          </a:xfrm>
          <a:prstGeom prst="rect">
            <a:avLst/>
          </a:prstGeom>
          <a:solidFill>
            <a:srgbClr val="E8ED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5535451" y="5349240"/>
            <a:ext cx="337021" cy="73152"/>
          </a:xfrm>
          <a:prstGeom prst="rect">
            <a:avLst/>
          </a:prstGeom>
          <a:solidFill>
            <a:srgbClr val="E8ED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5927336" y="5349240"/>
            <a:ext cx="337021" cy="73152"/>
          </a:xfrm>
          <a:prstGeom prst="rect">
            <a:avLst/>
          </a:prstGeom>
          <a:solidFill>
            <a:srgbClr val="E8ED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319222" y="5349240"/>
            <a:ext cx="337021" cy="73152"/>
          </a:xfrm>
          <a:prstGeom prst="rect">
            <a:avLst/>
          </a:prstGeom>
          <a:solidFill>
            <a:srgbClr val="E8ED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6711108" y="5349240"/>
            <a:ext cx="337021" cy="73152"/>
          </a:xfrm>
          <a:prstGeom prst="rect">
            <a:avLst/>
          </a:prstGeom>
          <a:solidFill>
            <a:srgbClr val="E8ED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7102993" y="5349240"/>
            <a:ext cx="337021" cy="73152"/>
          </a:xfrm>
          <a:prstGeom prst="rect">
            <a:avLst/>
          </a:prstGeom>
          <a:solidFill>
            <a:srgbClr val="E8ED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83184"/>
          </a:xfrm>
          <a:prstGeom prst="rect">
            <a:avLst/>
          </a:prstGeom>
          <a:solidFill>
            <a:srgbClr val="00599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62000" y="54864"/>
            <a:ext cx="365760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 b="1">
                <a:solidFill>
                  <a:srgbClr val="FFFFFF"/>
                </a:solidFill>
                <a:latin typeface="Inter, Arial, sans-serif"/>
              </a:rPr>
              <a:t>Section S0 · 开场与结论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62000" y="201168"/>
            <a:ext cx="9753295" cy="3362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000" b="1">
                <a:solidFill>
                  <a:srgbClr val="FFFFFF"/>
                </a:solidFill>
                <a:latin typeface="Inter, Arial, sans-serif"/>
              </a:rPr>
              <a:t>关键结论与 KPIs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277295" y="201168"/>
            <a:ext cx="6400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 b="1">
                <a:solidFill>
                  <a:srgbClr val="FFFFFF"/>
                </a:solidFill>
                <a:latin typeface="Inter, Arial, sans-serif"/>
              </a:rPr>
              <a:t>3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560324"/>
            <a:ext cx="12191695" cy="2286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853440" y="999236"/>
            <a:ext cx="73152" cy="73152"/>
          </a:xfrm>
          <a:prstGeom prst="ellipse">
            <a:avLst/>
          </a:prstGeom>
          <a:solidFill>
            <a:srgbClr val="00599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36320" y="830072"/>
            <a:ext cx="10301935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sz="1400">
                <a:solidFill>
                  <a:srgbClr val="16202A"/>
                </a:solidFill>
                <a:latin typeface="Inter, Arial, sans-serif"/>
              </a:rPr>
              <a:t>全球市场从 ~</a:t>
            </a:r>
            <a:r>
              <a:rPr sz="1400" b="1">
                <a:solidFill>
                  <a:srgbClr val="00599C"/>
                </a:solidFill>
                <a:latin typeface="Inter, Arial, sans-serif"/>
              </a:rPr>
              <a:t>85 亿</a:t>
            </a:r>
            <a:r>
              <a:rPr sz="1400">
                <a:solidFill>
                  <a:srgbClr val="16202A"/>
                </a:solidFill>
                <a:latin typeface="Inter, Arial, sans-serif"/>
              </a:rPr>
              <a:t>美元增长到 ~</a:t>
            </a:r>
            <a:r>
              <a:rPr sz="1400" b="1">
                <a:solidFill>
                  <a:srgbClr val="00599C"/>
                </a:solidFill>
                <a:latin typeface="Inter, Arial, sans-serif"/>
              </a:rPr>
              <a:t>110 亿</a:t>
            </a:r>
            <a:r>
              <a:rPr sz="1400">
                <a:solidFill>
                  <a:srgbClr val="16202A"/>
                </a:solidFill>
                <a:latin typeface="Inter, Arial, sans-serif"/>
              </a:rPr>
              <a:t>美元（</a:t>
            </a:r>
            <a:r>
              <a:rPr sz="1400" b="1">
                <a:solidFill>
                  <a:srgbClr val="00599C"/>
                </a:solidFill>
                <a:latin typeface="Inter, Arial, sans-serif"/>
              </a:rPr>
              <a:t>2023</a:t>
            </a:r>
            <a:r>
              <a:rPr sz="1400">
                <a:solidFill>
                  <a:srgbClr val="16202A"/>
                </a:solidFill>
                <a:latin typeface="Inter, Arial, sans-serif"/>
              </a:rPr>
              <a:t>→</a:t>
            </a:r>
            <a:r>
              <a:rPr sz="1400" b="1">
                <a:solidFill>
                  <a:srgbClr val="00599C"/>
                </a:solidFill>
                <a:latin typeface="Inter, Arial, sans-serif"/>
              </a:rPr>
              <a:t>2026</a:t>
            </a:r>
            <a:r>
              <a:rPr sz="1400">
                <a:solidFill>
                  <a:srgbClr val="16202A"/>
                </a:solidFill>
                <a:latin typeface="Inter, Arial, sans-serif"/>
              </a:rPr>
              <a:t>）</a:t>
            </a:r>
          </a:p>
        </p:txBody>
      </p:sp>
      <p:sp>
        <p:nvSpPr>
          <p:cNvPr id="9" name="Oval 8"/>
          <p:cNvSpPr/>
          <p:nvPr/>
        </p:nvSpPr>
        <p:spPr>
          <a:xfrm>
            <a:off x="853440" y="1438148"/>
            <a:ext cx="73152" cy="73152"/>
          </a:xfrm>
          <a:prstGeom prst="ellipse">
            <a:avLst/>
          </a:prstGeom>
          <a:solidFill>
            <a:srgbClr val="00599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36320" y="1268984"/>
            <a:ext cx="10301935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sz="1400" b="1">
                <a:solidFill>
                  <a:srgbClr val="00599C"/>
                </a:solidFill>
                <a:latin typeface="Inter, Arial, sans-serif"/>
              </a:rPr>
              <a:t>NVMe</a:t>
            </a:r>
            <a:r>
              <a:rPr sz="1400">
                <a:solidFill>
                  <a:srgbClr val="16202A"/>
                </a:solidFill>
                <a:latin typeface="Inter, Arial, sans-serif"/>
              </a:rPr>
              <a:t>、</a:t>
            </a:r>
            <a:r>
              <a:rPr sz="1400" b="1">
                <a:solidFill>
                  <a:srgbClr val="00599C"/>
                </a:solidFill>
                <a:latin typeface="Inter, Arial, sans-serif"/>
              </a:rPr>
              <a:t>PMem</a:t>
            </a:r>
            <a:r>
              <a:rPr sz="1400">
                <a:solidFill>
                  <a:srgbClr val="16202A"/>
                </a:solidFill>
                <a:latin typeface="Inter, Arial, sans-serif"/>
              </a:rPr>
              <a:t>、</a:t>
            </a:r>
            <a:r>
              <a:rPr sz="1400" b="1">
                <a:solidFill>
                  <a:srgbClr val="00599C"/>
                </a:solidFill>
                <a:latin typeface="Inter, Arial, sans-serif"/>
              </a:rPr>
              <a:t>CXL</a:t>
            </a:r>
            <a:r>
              <a:rPr sz="1400">
                <a:solidFill>
                  <a:srgbClr val="16202A"/>
                </a:solidFill>
                <a:latin typeface="Inter, Arial, sans-serif"/>
              </a:rPr>
              <a:t> 与云原生将主导未来 </a:t>
            </a:r>
            <a:r>
              <a:rPr sz="1400" b="1">
                <a:solidFill>
                  <a:srgbClr val="00599C"/>
                </a:solidFill>
                <a:latin typeface="Inter, Arial, sans-serif"/>
              </a:rPr>
              <a:t>3 </a:t>
            </a:r>
            <a:r>
              <a:rPr sz="1400">
                <a:solidFill>
                  <a:srgbClr val="16202A"/>
                </a:solidFill>
                <a:latin typeface="Inter, Arial, sans-serif"/>
              </a:rPr>
              <a:t>年创新路径</a:t>
            </a:r>
          </a:p>
        </p:txBody>
      </p:sp>
      <p:sp>
        <p:nvSpPr>
          <p:cNvPr id="11" name="Oval 10"/>
          <p:cNvSpPr/>
          <p:nvPr/>
        </p:nvSpPr>
        <p:spPr>
          <a:xfrm>
            <a:off x="853440" y="1877059"/>
            <a:ext cx="73152" cy="73152"/>
          </a:xfrm>
          <a:prstGeom prst="ellipse">
            <a:avLst/>
          </a:prstGeom>
          <a:solidFill>
            <a:srgbClr val="00599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036320" y="1707896"/>
            <a:ext cx="10301935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sz="1400">
                <a:solidFill>
                  <a:srgbClr val="16202A"/>
                </a:solidFill>
                <a:latin typeface="Inter, Arial, sans-serif"/>
              </a:rPr>
              <a:t>中国市场受数据主权与合规驱动，本地化与混合云需求上升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53440" y="2283968"/>
            <a:ext cx="5173827" cy="960120"/>
          </a:xfrm>
          <a:prstGeom prst="roundRect">
            <a:avLst/>
          </a:prstGeom>
          <a:solidFill>
            <a:srgbClr val="D0E4F5"/>
          </a:solidFill>
          <a:ln>
            <a:noFill/>
          </a:ln>
          <a:effectLst>
            <a:outerShdw blurRad="76200" dist="25400" dir="5400000" algn="bl" rotWithShape="0">
              <a:srgbClr val="000000">
                <a:alpha val="2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963167" y="2357120"/>
            <a:ext cx="4954371" cy="34747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800" b="1">
                <a:solidFill>
                  <a:srgbClr val="00599C"/>
                </a:solidFill>
                <a:latin typeface="Inter, Arial, sans-serif"/>
              </a:rPr>
              <a:t>110 USD Bn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63167" y="2722880"/>
            <a:ext cx="4954371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300">
                <a:solidFill>
                  <a:srgbClr val="001D35"/>
                </a:solidFill>
                <a:latin typeface="Inter, Arial, sans-serif"/>
              </a:rPr>
              <a:t>Global (2026)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963167" y="2978912"/>
            <a:ext cx="4954371" cy="91440"/>
          </a:xfrm>
          <a:prstGeom prst="roundRect">
            <a:avLst/>
          </a:prstGeom>
          <a:solidFill>
            <a:srgbClr val="E8ED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ounded Rectangle 16"/>
          <p:cNvSpPr/>
          <p:nvPr/>
        </p:nvSpPr>
        <p:spPr>
          <a:xfrm>
            <a:off x="963167" y="2978912"/>
            <a:ext cx="4954371" cy="91440"/>
          </a:xfrm>
          <a:prstGeom prst="roundRect">
            <a:avLst/>
          </a:prstGeom>
          <a:solidFill>
            <a:srgbClr val="00599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ounded Rectangle 17"/>
          <p:cNvSpPr/>
          <p:nvPr/>
        </p:nvSpPr>
        <p:spPr>
          <a:xfrm>
            <a:off x="6164427" y="2283968"/>
            <a:ext cx="5173827" cy="960120"/>
          </a:xfrm>
          <a:prstGeom prst="roundRect">
            <a:avLst/>
          </a:prstGeom>
          <a:solidFill>
            <a:srgbClr val="D0E4F5"/>
          </a:solidFill>
          <a:ln>
            <a:noFill/>
          </a:ln>
          <a:effectLst>
            <a:outerShdw blurRad="76200" dist="25400" dir="5400000" algn="bl" rotWithShape="0">
              <a:srgbClr val="000000">
                <a:alpha val="2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274155" y="2357120"/>
            <a:ext cx="4954371" cy="34747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800" b="1">
                <a:solidFill>
                  <a:srgbClr val="00599C"/>
                </a:solidFill>
                <a:latin typeface="Inter, Arial, sans-serif"/>
              </a:rPr>
              <a:t>40 USD Bn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274155" y="2722880"/>
            <a:ext cx="4954371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300">
                <a:solidFill>
                  <a:srgbClr val="001D35"/>
                </a:solidFill>
                <a:latin typeface="Inter, Arial, sans-serif"/>
              </a:rPr>
              <a:t>China (2026)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274155" y="2978912"/>
            <a:ext cx="4954371" cy="91440"/>
          </a:xfrm>
          <a:prstGeom prst="roundRect">
            <a:avLst/>
          </a:prstGeom>
          <a:solidFill>
            <a:srgbClr val="E8ED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ounded Rectangle 21"/>
          <p:cNvSpPr/>
          <p:nvPr/>
        </p:nvSpPr>
        <p:spPr>
          <a:xfrm>
            <a:off x="6274155" y="2978912"/>
            <a:ext cx="1801589" cy="91440"/>
          </a:xfrm>
          <a:prstGeom prst="roundRect">
            <a:avLst/>
          </a:prstGeom>
          <a:solidFill>
            <a:srgbClr val="00599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0" y="6629400"/>
            <a:ext cx="12191695" cy="228600"/>
          </a:xfrm>
          <a:prstGeom prst="rect">
            <a:avLst/>
          </a:prstGeom>
          <a:solidFill>
            <a:srgbClr val="E8ED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762000" y="6656832"/>
            <a:ext cx="2743200" cy="173736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r>
              <a:rPr sz="1000" b="1">
                <a:solidFill>
                  <a:srgbClr val="00599C"/>
                </a:solidFill>
              </a:rPr>
              <a:t>开场与结论</a:t>
            </a:r>
          </a:p>
        </p:txBody>
      </p:sp>
      <p:sp>
        <p:nvSpPr>
          <p:cNvPr id="25" name="Rectangle 24"/>
          <p:cNvSpPr/>
          <p:nvPr/>
        </p:nvSpPr>
        <p:spPr>
          <a:xfrm>
            <a:off x="4742535" y="6716268"/>
            <a:ext cx="355309" cy="54864"/>
          </a:xfrm>
          <a:prstGeom prst="rect">
            <a:avLst/>
          </a:prstGeom>
          <a:solidFill>
            <a:srgbClr val="00599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5134421" y="6716268"/>
            <a:ext cx="355309" cy="54864"/>
          </a:xfrm>
          <a:prstGeom prst="rect">
            <a:avLst/>
          </a:prstGeom>
          <a:solidFill>
            <a:srgbClr val="72808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5526307" y="6716268"/>
            <a:ext cx="355309" cy="54864"/>
          </a:xfrm>
          <a:prstGeom prst="rect">
            <a:avLst/>
          </a:prstGeom>
          <a:solidFill>
            <a:srgbClr val="72808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5918192" y="6716268"/>
            <a:ext cx="355309" cy="54864"/>
          </a:xfrm>
          <a:prstGeom prst="rect">
            <a:avLst/>
          </a:prstGeom>
          <a:solidFill>
            <a:srgbClr val="72808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6310078" y="6716268"/>
            <a:ext cx="355309" cy="54864"/>
          </a:xfrm>
          <a:prstGeom prst="rect">
            <a:avLst/>
          </a:prstGeom>
          <a:solidFill>
            <a:srgbClr val="72808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6701964" y="6716268"/>
            <a:ext cx="355309" cy="54864"/>
          </a:xfrm>
          <a:prstGeom prst="rect">
            <a:avLst/>
          </a:prstGeom>
          <a:solidFill>
            <a:srgbClr val="72808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7093849" y="6716268"/>
            <a:ext cx="355309" cy="54864"/>
          </a:xfrm>
          <a:prstGeom prst="rect">
            <a:avLst/>
          </a:prstGeom>
          <a:solidFill>
            <a:srgbClr val="72808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10058095" y="6656832"/>
            <a:ext cx="1371600" cy="173736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r"/>
            <a:r>
              <a:rPr sz="1000">
                <a:solidFill>
                  <a:srgbClr val="42505D"/>
                </a:solidFill>
              </a:rPr>
              <a:t>3 / 23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B3A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676400" y="1920240"/>
            <a:ext cx="8838895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800" b="1">
                <a:solidFill>
                  <a:srgbClr val="FFFFFF"/>
                </a:solidFill>
                <a:latin typeface="Inter, Arial, sans-serif"/>
              </a:rPr>
              <a:t>市场与趋势</a:t>
            </a:r>
          </a:p>
        </p:txBody>
      </p:sp>
      <p:sp>
        <p:nvSpPr>
          <p:cNvPr id="3" name="Rectangle 2"/>
          <p:cNvSpPr/>
          <p:nvPr/>
        </p:nvSpPr>
        <p:spPr>
          <a:xfrm>
            <a:off x="5181447" y="2743200"/>
            <a:ext cx="1828800" cy="2743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133600" y="3086100"/>
            <a:ext cx="7924495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>
                <a:solidFill>
                  <a:srgbClr val="FFFFFF"/>
                </a:solidFill>
              </a:rPr>
              <a:t>市场规模、云/企业分布与媒体份额的量化证据</a:t>
            </a:r>
          </a:p>
        </p:txBody>
      </p:sp>
      <p:sp>
        <p:nvSpPr>
          <p:cNvPr id="5" name="Rectangle 4"/>
          <p:cNvSpPr/>
          <p:nvPr/>
        </p:nvSpPr>
        <p:spPr>
          <a:xfrm>
            <a:off x="4751679" y="5349240"/>
            <a:ext cx="337021" cy="7315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5143565" y="5349240"/>
            <a:ext cx="337021" cy="7315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5535451" y="5349240"/>
            <a:ext cx="337021" cy="73152"/>
          </a:xfrm>
          <a:prstGeom prst="rect">
            <a:avLst/>
          </a:prstGeom>
          <a:solidFill>
            <a:srgbClr val="E8ED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5927336" y="5349240"/>
            <a:ext cx="337021" cy="73152"/>
          </a:xfrm>
          <a:prstGeom prst="rect">
            <a:avLst/>
          </a:prstGeom>
          <a:solidFill>
            <a:srgbClr val="E8ED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6319222" y="5349240"/>
            <a:ext cx="337021" cy="73152"/>
          </a:xfrm>
          <a:prstGeom prst="rect">
            <a:avLst/>
          </a:prstGeom>
          <a:solidFill>
            <a:srgbClr val="E8ED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6711108" y="5349240"/>
            <a:ext cx="337021" cy="73152"/>
          </a:xfrm>
          <a:prstGeom prst="rect">
            <a:avLst/>
          </a:prstGeom>
          <a:solidFill>
            <a:srgbClr val="E8ED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7102993" y="5349240"/>
            <a:ext cx="337021" cy="73152"/>
          </a:xfrm>
          <a:prstGeom prst="rect">
            <a:avLst/>
          </a:prstGeom>
          <a:solidFill>
            <a:srgbClr val="E8ED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83184"/>
          </a:xfrm>
          <a:prstGeom prst="rect">
            <a:avLst/>
          </a:prstGeom>
          <a:solidFill>
            <a:srgbClr val="00B3A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62000" y="54864"/>
            <a:ext cx="365760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 b="1">
                <a:solidFill>
                  <a:srgbClr val="FFFFFF"/>
                </a:solidFill>
                <a:latin typeface="Inter, Arial, sans-serif"/>
              </a:rPr>
              <a:t>Section S1 · 市场与趋势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62000" y="201168"/>
            <a:ext cx="9753295" cy="3362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000" b="1">
                <a:solidFill>
                  <a:srgbClr val="FFFFFF"/>
                </a:solidFill>
                <a:latin typeface="Inter, Arial, sans-serif"/>
              </a:rPr>
              <a:t>市场规模：全球 vs 中国 (2023–2026)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277295" y="201168"/>
            <a:ext cx="6400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 b="1">
                <a:solidFill>
                  <a:srgbClr val="FFFFFF"/>
                </a:solidFill>
                <a:latin typeface="Inter, Arial, sans-serif"/>
              </a:rPr>
              <a:t>5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560324"/>
            <a:ext cx="12191695" cy="2286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762000" y="784352"/>
            <a:ext cx="5265267" cy="960120"/>
          </a:xfrm>
          <a:prstGeom prst="roundRect">
            <a:avLst/>
          </a:prstGeom>
          <a:solidFill>
            <a:srgbClr val="D0E4F5"/>
          </a:solidFill>
          <a:ln>
            <a:noFill/>
          </a:ln>
          <a:effectLst>
            <a:outerShdw blurRad="76200" dist="25400" dir="5400000" algn="bl" rotWithShape="0">
              <a:srgbClr val="000000">
                <a:alpha val="2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71728" y="857503"/>
            <a:ext cx="5045811" cy="34747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800" b="1">
                <a:solidFill>
                  <a:srgbClr val="00599C"/>
                </a:solidFill>
                <a:latin typeface="Inter, Arial, sans-serif"/>
              </a:rPr>
              <a:t>85 USD Bn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71728" y="1223264"/>
            <a:ext cx="5045811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300">
                <a:solidFill>
                  <a:srgbClr val="001D35"/>
                </a:solidFill>
                <a:latin typeface="Inter, Arial, sans-serif"/>
              </a:rPr>
              <a:t>Global 2023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71728" y="1479296"/>
            <a:ext cx="5045811" cy="91440"/>
          </a:xfrm>
          <a:prstGeom prst="roundRect">
            <a:avLst/>
          </a:prstGeom>
          <a:solidFill>
            <a:srgbClr val="E8ED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871728" y="1479296"/>
            <a:ext cx="3899036" cy="91440"/>
          </a:xfrm>
          <a:prstGeom prst="roundRect">
            <a:avLst/>
          </a:prstGeom>
          <a:solidFill>
            <a:srgbClr val="00599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6164427" y="784352"/>
            <a:ext cx="5265267" cy="960120"/>
          </a:xfrm>
          <a:prstGeom prst="roundRect">
            <a:avLst/>
          </a:prstGeom>
          <a:solidFill>
            <a:srgbClr val="D0E4F5"/>
          </a:solidFill>
          <a:ln>
            <a:noFill/>
          </a:ln>
          <a:effectLst>
            <a:outerShdw blurRad="76200" dist="25400" dir="5400000" algn="bl" rotWithShape="0">
              <a:srgbClr val="000000">
                <a:alpha val="2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274155" y="857503"/>
            <a:ext cx="5045811" cy="34747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800" b="1">
                <a:solidFill>
                  <a:srgbClr val="00599C"/>
                </a:solidFill>
                <a:latin typeface="Inter, Arial, sans-serif"/>
              </a:rPr>
              <a:t>110 USD Bn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274155" y="1223264"/>
            <a:ext cx="5045811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300">
                <a:solidFill>
                  <a:srgbClr val="001D35"/>
                </a:solidFill>
                <a:latin typeface="Inter, Arial, sans-serif"/>
              </a:rPr>
              <a:t>Global 2026 (proj)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274155" y="1479296"/>
            <a:ext cx="5045811" cy="91440"/>
          </a:xfrm>
          <a:prstGeom prst="roundRect">
            <a:avLst/>
          </a:prstGeom>
          <a:solidFill>
            <a:srgbClr val="E8ED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ounded Rectangle 15"/>
          <p:cNvSpPr/>
          <p:nvPr/>
        </p:nvSpPr>
        <p:spPr>
          <a:xfrm>
            <a:off x="6274155" y="1479296"/>
            <a:ext cx="5045811" cy="91440"/>
          </a:xfrm>
          <a:prstGeom prst="roundRect">
            <a:avLst/>
          </a:prstGeom>
          <a:solidFill>
            <a:srgbClr val="00599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7" name="Picture 16" descr="figure_marke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62000" y="1973072"/>
            <a:ext cx="10667695" cy="4564888"/>
          </a:xfrm>
          <a:prstGeom prst="rect">
            <a:avLst/>
          </a:prstGeom>
        </p:spPr>
      </p:pic>
      <p:sp>
        <p:nvSpPr>
          <p:cNvPr id="18" name="Rectangle 17"/>
          <p:cNvSpPr/>
          <p:nvPr/>
        </p:nvSpPr>
        <p:spPr>
          <a:xfrm>
            <a:off x="0" y="6629400"/>
            <a:ext cx="12191695" cy="228600"/>
          </a:xfrm>
          <a:prstGeom prst="rect">
            <a:avLst/>
          </a:prstGeom>
          <a:solidFill>
            <a:srgbClr val="E8ED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62000" y="6656832"/>
            <a:ext cx="2743200" cy="173736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r>
              <a:rPr sz="1000" b="1">
                <a:solidFill>
                  <a:srgbClr val="00B3A4"/>
                </a:solidFill>
              </a:rPr>
              <a:t>市场与趋势</a:t>
            </a:r>
          </a:p>
        </p:txBody>
      </p:sp>
      <p:sp>
        <p:nvSpPr>
          <p:cNvPr id="20" name="Rectangle 19"/>
          <p:cNvSpPr/>
          <p:nvPr/>
        </p:nvSpPr>
        <p:spPr>
          <a:xfrm>
            <a:off x="4742535" y="6716268"/>
            <a:ext cx="355309" cy="54864"/>
          </a:xfrm>
          <a:prstGeom prst="rect">
            <a:avLst/>
          </a:prstGeom>
          <a:solidFill>
            <a:srgbClr val="00B3A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5134421" y="6716268"/>
            <a:ext cx="355309" cy="54864"/>
          </a:xfrm>
          <a:prstGeom prst="rect">
            <a:avLst/>
          </a:prstGeom>
          <a:solidFill>
            <a:srgbClr val="00B3A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5526307" y="6716268"/>
            <a:ext cx="355309" cy="54864"/>
          </a:xfrm>
          <a:prstGeom prst="rect">
            <a:avLst/>
          </a:prstGeom>
          <a:solidFill>
            <a:srgbClr val="72808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5918192" y="6716268"/>
            <a:ext cx="355309" cy="54864"/>
          </a:xfrm>
          <a:prstGeom prst="rect">
            <a:avLst/>
          </a:prstGeom>
          <a:solidFill>
            <a:srgbClr val="72808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6310078" y="6716268"/>
            <a:ext cx="355309" cy="54864"/>
          </a:xfrm>
          <a:prstGeom prst="rect">
            <a:avLst/>
          </a:prstGeom>
          <a:solidFill>
            <a:srgbClr val="72808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6701964" y="6716268"/>
            <a:ext cx="355309" cy="54864"/>
          </a:xfrm>
          <a:prstGeom prst="rect">
            <a:avLst/>
          </a:prstGeom>
          <a:solidFill>
            <a:srgbClr val="72808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7093849" y="6716268"/>
            <a:ext cx="355309" cy="54864"/>
          </a:xfrm>
          <a:prstGeom prst="rect">
            <a:avLst/>
          </a:prstGeom>
          <a:solidFill>
            <a:srgbClr val="72808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10058095" y="6656832"/>
            <a:ext cx="1371600" cy="173736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r"/>
            <a:r>
              <a:rPr sz="1000">
                <a:solidFill>
                  <a:srgbClr val="42505D"/>
                </a:solidFill>
              </a:rPr>
              <a:t>5 / 23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83184"/>
          </a:xfrm>
          <a:prstGeom prst="rect">
            <a:avLst/>
          </a:prstGeom>
          <a:solidFill>
            <a:srgbClr val="00B3A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62000" y="54864"/>
            <a:ext cx="365760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 b="1">
                <a:solidFill>
                  <a:srgbClr val="FFFFFF"/>
                </a:solidFill>
                <a:latin typeface="Inter, Arial, sans-serif"/>
              </a:rPr>
              <a:t>Section S1 · 市场与趋势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62000" y="201168"/>
            <a:ext cx="9753295" cy="3362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000" b="1">
                <a:solidFill>
                  <a:srgbClr val="FFFFFF"/>
                </a:solidFill>
                <a:latin typeface="Inter, Arial, sans-serif"/>
              </a:rPr>
              <a:t>NVMe 与 NVMe-oF 采纳 (2023–2026)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277295" y="201168"/>
            <a:ext cx="6400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 b="1">
                <a:solidFill>
                  <a:srgbClr val="FFFFFF"/>
                </a:solidFill>
                <a:latin typeface="Inter, Arial, sans-serif"/>
              </a:rPr>
              <a:t>6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560324"/>
            <a:ext cx="12191695" cy="2286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762000" y="784352"/>
            <a:ext cx="10667695" cy="411480"/>
          </a:xfrm>
          <a:prstGeom prst="roundRect">
            <a:avLst/>
          </a:prstGeom>
          <a:solidFill>
            <a:srgbClr val="00B3A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44880" y="839216"/>
            <a:ext cx="10301935" cy="30175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1400" b="1">
                <a:solidFill>
                  <a:srgbClr val="FFFFFF"/>
                </a:solidFill>
                <a:latin typeface="Inter, Arial, sans-serif"/>
              </a:rPr>
              <a:t>💡 NVMe server adoption 快速上升，NVMe-oF 從少量部署走向规模化</a:t>
            </a:r>
          </a:p>
        </p:txBody>
      </p:sp>
      <p:pic>
        <p:nvPicPr>
          <p:cNvPr id="9" name="Picture 8" descr="figure_nvm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62000" y="1287272"/>
            <a:ext cx="10667695" cy="5159248"/>
          </a:xfrm>
          <a:prstGeom prst="rect">
            <a:avLst/>
          </a:prstGeom>
        </p:spPr>
      </p:pic>
      <p:sp>
        <p:nvSpPr>
          <p:cNvPr id="10" name="Rectangle 9"/>
          <p:cNvSpPr/>
          <p:nvPr/>
        </p:nvSpPr>
        <p:spPr>
          <a:xfrm>
            <a:off x="0" y="6629400"/>
            <a:ext cx="12191695" cy="228600"/>
          </a:xfrm>
          <a:prstGeom prst="rect">
            <a:avLst/>
          </a:prstGeom>
          <a:solidFill>
            <a:srgbClr val="E8ED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62000" y="6656832"/>
            <a:ext cx="2743200" cy="173736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r>
              <a:rPr sz="1000" b="1">
                <a:solidFill>
                  <a:srgbClr val="00B3A4"/>
                </a:solidFill>
              </a:rPr>
              <a:t>市场与趋势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742535" y="6716268"/>
            <a:ext cx="355309" cy="54864"/>
          </a:xfrm>
          <a:prstGeom prst="rect">
            <a:avLst/>
          </a:prstGeom>
          <a:solidFill>
            <a:srgbClr val="00B3A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5134421" y="6716268"/>
            <a:ext cx="355309" cy="54864"/>
          </a:xfrm>
          <a:prstGeom prst="rect">
            <a:avLst/>
          </a:prstGeom>
          <a:solidFill>
            <a:srgbClr val="00B3A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5526307" y="6716268"/>
            <a:ext cx="355309" cy="54864"/>
          </a:xfrm>
          <a:prstGeom prst="rect">
            <a:avLst/>
          </a:prstGeom>
          <a:solidFill>
            <a:srgbClr val="72808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5918192" y="6716268"/>
            <a:ext cx="355309" cy="54864"/>
          </a:xfrm>
          <a:prstGeom prst="rect">
            <a:avLst/>
          </a:prstGeom>
          <a:solidFill>
            <a:srgbClr val="72808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6310078" y="6716268"/>
            <a:ext cx="355309" cy="54864"/>
          </a:xfrm>
          <a:prstGeom prst="rect">
            <a:avLst/>
          </a:prstGeom>
          <a:solidFill>
            <a:srgbClr val="72808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6701964" y="6716268"/>
            <a:ext cx="355309" cy="54864"/>
          </a:xfrm>
          <a:prstGeom prst="rect">
            <a:avLst/>
          </a:prstGeom>
          <a:solidFill>
            <a:srgbClr val="72808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7093849" y="6716268"/>
            <a:ext cx="355309" cy="54864"/>
          </a:xfrm>
          <a:prstGeom prst="rect">
            <a:avLst/>
          </a:prstGeom>
          <a:solidFill>
            <a:srgbClr val="72808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10058095" y="6656832"/>
            <a:ext cx="1371600" cy="173736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r"/>
            <a:r>
              <a:rPr sz="1000">
                <a:solidFill>
                  <a:srgbClr val="42505D"/>
                </a:solidFill>
              </a:rPr>
              <a:t>6 / 23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83184"/>
          </a:xfrm>
          <a:prstGeom prst="rect">
            <a:avLst/>
          </a:prstGeom>
          <a:solidFill>
            <a:srgbClr val="00B3A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62000" y="54864"/>
            <a:ext cx="365760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 b="1">
                <a:solidFill>
                  <a:srgbClr val="FFFFFF"/>
                </a:solidFill>
                <a:latin typeface="Inter, Arial, sans-serif"/>
              </a:rPr>
              <a:t>Section S1 · 市场与趋势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62000" y="201168"/>
            <a:ext cx="9753295" cy="3362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000" b="1">
                <a:solidFill>
                  <a:srgbClr val="FFFFFF"/>
                </a:solidFill>
                <a:latin typeface="Inter, Arial, sans-serif"/>
              </a:rPr>
              <a:t>PMem/SCM 與 介質份額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277295" y="201168"/>
            <a:ext cx="6400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 b="1">
                <a:solidFill>
                  <a:srgbClr val="FFFFFF"/>
                </a:solidFill>
                <a:latin typeface="Inter, Arial, sans-serif"/>
              </a:rPr>
              <a:t>7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560324"/>
            <a:ext cx="12191695" cy="2286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762000" y="784352"/>
            <a:ext cx="10667695" cy="411480"/>
          </a:xfrm>
          <a:prstGeom prst="roundRect">
            <a:avLst/>
          </a:prstGeom>
          <a:solidFill>
            <a:srgbClr val="00B3A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44880" y="839216"/>
            <a:ext cx="10301935" cy="30175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1400" b="1">
                <a:solidFill>
                  <a:srgbClr val="FFFFFF"/>
                </a:solidFill>
                <a:latin typeface="Inter, Arial, sans-serif"/>
              </a:rPr>
              <a:t>💡 PMem 在低延遲場景增長顯著，但受成本/容量限制；建議在元數據/日志加速場景試點</a:t>
            </a:r>
          </a:p>
        </p:txBody>
      </p:sp>
      <p:pic>
        <p:nvPicPr>
          <p:cNvPr id="9" name="Picture 8" descr="figure_pmem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62000" y="1287272"/>
            <a:ext cx="10667695" cy="5159248"/>
          </a:xfrm>
          <a:prstGeom prst="rect">
            <a:avLst/>
          </a:prstGeom>
        </p:spPr>
      </p:pic>
      <p:sp>
        <p:nvSpPr>
          <p:cNvPr id="10" name="Rectangle 9"/>
          <p:cNvSpPr/>
          <p:nvPr/>
        </p:nvSpPr>
        <p:spPr>
          <a:xfrm>
            <a:off x="0" y="6629400"/>
            <a:ext cx="12191695" cy="228600"/>
          </a:xfrm>
          <a:prstGeom prst="rect">
            <a:avLst/>
          </a:prstGeom>
          <a:solidFill>
            <a:srgbClr val="E8ED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62000" y="6656832"/>
            <a:ext cx="2743200" cy="173736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r>
              <a:rPr sz="1000" b="1">
                <a:solidFill>
                  <a:srgbClr val="00B3A4"/>
                </a:solidFill>
              </a:rPr>
              <a:t>市场与趋势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742535" y="6716268"/>
            <a:ext cx="355309" cy="54864"/>
          </a:xfrm>
          <a:prstGeom prst="rect">
            <a:avLst/>
          </a:prstGeom>
          <a:solidFill>
            <a:srgbClr val="00B3A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5134421" y="6716268"/>
            <a:ext cx="355309" cy="54864"/>
          </a:xfrm>
          <a:prstGeom prst="rect">
            <a:avLst/>
          </a:prstGeom>
          <a:solidFill>
            <a:srgbClr val="00B3A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5526307" y="6716268"/>
            <a:ext cx="355309" cy="54864"/>
          </a:xfrm>
          <a:prstGeom prst="rect">
            <a:avLst/>
          </a:prstGeom>
          <a:solidFill>
            <a:srgbClr val="72808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5918192" y="6716268"/>
            <a:ext cx="355309" cy="54864"/>
          </a:xfrm>
          <a:prstGeom prst="rect">
            <a:avLst/>
          </a:prstGeom>
          <a:solidFill>
            <a:srgbClr val="72808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6310078" y="6716268"/>
            <a:ext cx="355309" cy="54864"/>
          </a:xfrm>
          <a:prstGeom prst="rect">
            <a:avLst/>
          </a:prstGeom>
          <a:solidFill>
            <a:srgbClr val="72808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6701964" y="6716268"/>
            <a:ext cx="355309" cy="54864"/>
          </a:xfrm>
          <a:prstGeom prst="rect">
            <a:avLst/>
          </a:prstGeom>
          <a:solidFill>
            <a:srgbClr val="72808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7093849" y="6716268"/>
            <a:ext cx="355309" cy="54864"/>
          </a:xfrm>
          <a:prstGeom prst="rect">
            <a:avLst/>
          </a:prstGeom>
          <a:solidFill>
            <a:srgbClr val="72808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10058095" y="6656832"/>
            <a:ext cx="1371600" cy="173736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r"/>
            <a:r>
              <a:rPr sz="1000">
                <a:solidFill>
                  <a:srgbClr val="42505D"/>
                </a:solidFill>
              </a:rPr>
              <a:t>7 / 23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D1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676400" y="1920240"/>
            <a:ext cx="8838895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800" b="1">
                <a:solidFill>
                  <a:srgbClr val="3A2F00"/>
                </a:solidFill>
                <a:latin typeface="Inter, Arial, sans-serif"/>
              </a:rPr>
              <a:t>硬件層創新</a:t>
            </a:r>
          </a:p>
        </p:txBody>
      </p:sp>
      <p:sp>
        <p:nvSpPr>
          <p:cNvPr id="3" name="Rectangle 2"/>
          <p:cNvSpPr/>
          <p:nvPr/>
        </p:nvSpPr>
        <p:spPr>
          <a:xfrm>
            <a:off x="5181447" y="2743200"/>
            <a:ext cx="1828800" cy="27432"/>
          </a:xfrm>
          <a:prstGeom prst="rect">
            <a:avLst/>
          </a:prstGeom>
          <a:solidFill>
            <a:srgbClr val="3A2F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2438247" y="3086100"/>
            <a:ext cx="7315200" cy="45720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2621127" y="3159252"/>
            <a:ext cx="694944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>
                <a:solidFill>
                  <a:srgbClr val="16202A"/>
                </a:solidFill>
                <a:latin typeface="Inter, Arial, sans-serif"/>
              </a:rPr>
              <a:t>要點: 概括 NVMe、PMem、CXL、Computational Storage 的適用場景與工程要點。</a:t>
            </a:r>
          </a:p>
        </p:txBody>
      </p:sp>
      <p:sp>
        <p:nvSpPr>
          <p:cNvPr id="6" name="Rectangle 5"/>
          <p:cNvSpPr/>
          <p:nvPr/>
        </p:nvSpPr>
        <p:spPr>
          <a:xfrm>
            <a:off x="4751679" y="5349240"/>
            <a:ext cx="337021" cy="73152"/>
          </a:xfrm>
          <a:prstGeom prst="rect">
            <a:avLst/>
          </a:prstGeom>
          <a:solidFill>
            <a:srgbClr val="3A2F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5143565" y="5349240"/>
            <a:ext cx="337021" cy="73152"/>
          </a:xfrm>
          <a:prstGeom prst="rect">
            <a:avLst/>
          </a:prstGeom>
          <a:solidFill>
            <a:srgbClr val="3A2F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5535451" y="5349240"/>
            <a:ext cx="337021" cy="73152"/>
          </a:xfrm>
          <a:prstGeom prst="rect">
            <a:avLst/>
          </a:prstGeom>
          <a:solidFill>
            <a:srgbClr val="3A2F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5927336" y="5349240"/>
            <a:ext cx="337021" cy="73152"/>
          </a:xfrm>
          <a:prstGeom prst="rect">
            <a:avLst/>
          </a:prstGeom>
          <a:solidFill>
            <a:srgbClr val="E8ED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6319222" y="5349240"/>
            <a:ext cx="337021" cy="73152"/>
          </a:xfrm>
          <a:prstGeom prst="rect">
            <a:avLst/>
          </a:prstGeom>
          <a:solidFill>
            <a:srgbClr val="E8ED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711108" y="5349240"/>
            <a:ext cx="337021" cy="73152"/>
          </a:xfrm>
          <a:prstGeom prst="rect">
            <a:avLst/>
          </a:prstGeom>
          <a:solidFill>
            <a:srgbClr val="E8ED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7102993" y="5349240"/>
            <a:ext cx="337021" cy="73152"/>
          </a:xfrm>
          <a:prstGeom prst="rect">
            <a:avLst/>
          </a:prstGeom>
          <a:solidFill>
            <a:srgbClr val="E8ED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83184"/>
          </a:xfrm>
          <a:prstGeom prst="rect">
            <a:avLst/>
          </a:prstGeom>
          <a:solidFill>
            <a:srgbClr val="FFD1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62000" y="54864"/>
            <a:ext cx="365760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 b="1">
                <a:solidFill>
                  <a:srgbClr val="3A2F00"/>
                </a:solidFill>
                <a:latin typeface="Inter, Arial, sans-serif"/>
              </a:rPr>
              <a:t>Section S2 · 硬件层创新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62000" y="201168"/>
            <a:ext cx="9753295" cy="3362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000" b="1">
                <a:solidFill>
                  <a:srgbClr val="3A2F00"/>
                </a:solidFill>
                <a:latin typeface="Inter, Arial, sans-serif"/>
              </a:rPr>
              <a:t>NVMe 工程實踐與建議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277295" y="201168"/>
            <a:ext cx="6400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 b="1">
                <a:solidFill>
                  <a:srgbClr val="3A2F00"/>
                </a:solidFill>
                <a:latin typeface="Inter, Arial, sans-serif"/>
              </a:rPr>
              <a:t>9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560324"/>
            <a:ext cx="12191695" cy="22860"/>
          </a:xfrm>
          <a:prstGeom prst="rect">
            <a:avLst/>
          </a:prstGeom>
          <a:solidFill>
            <a:srgbClr val="3A2F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762000" y="830072"/>
            <a:ext cx="5265267" cy="5570727"/>
          </a:xfrm>
          <a:prstGeom prst="roundRect">
            <a:avLst/>
          </a:prstGeom>
          <a:solidFill>
            <a:srgbClr val="E8EDF2"/>
          </a:solidFill>
          <a:ln>
            <a:noFill/>
          </a:ln>
          <a:effectLst>
            <a:outerShdw blurRad="76200" dist="25400" dir="5400000" algn="bl" rotWithShape="0">
              <a:srgbClr val="000000">
                <a:alpha val="2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62000" y="830072"/>
            <a:ext cx="5265267" cy="45720"/>
          </a:xfrm>
          <a:prstGeom prst="rect">
            <a:avLst/>
          </a:prstGeom>
          <a:solidFill>
            <a:srgbClr val="00599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71728" y="939799"/>
            <a:ext cx="5045811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800" b="1">
                <a:solidFill>
                  <a:srgbClr val="00599C"/>
                </a:solidFill>
                <a:latin typeface="Inter, Arial, sans-serif"/>
              </a:rPr>
              <a:t>並行訓練</a:t>
            </a:r>
          </a:p>
        </p:txBody>
      </p:sp>
      <p:sp>
        <p:nvSpPr>
          <p:cNvPr id="10" name="Rectangle 9"/>
          <p:cNvSpPr/>
          <p:nvPr/>
        </p:nvSpPr>
        <p:spPr>
          <a:xfrm>
            <a:off x="871728" y="1287272"/>
            <a:ext cx="5045811" cy="18288"/>
          </a:xfrm>
          <a:prstGeom prst="rect">
            <a:avLst/>
          </a:prstGeom>
          <a:solidFill>
            <a:srgbClr val="00599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71728" y="1332992"/>
            <a:ext cx="5045811" cy="497636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sz="1400">
                <a:solidFill>
                  <a:srgbClr val="16202A"/>
                </a:solidFill>
              </a:rPr>
              <a:t>推薦協議: NVMe/TCP / RDMA
網絡要點: 100/200GbE leaf-spine
驗證指標: IO 並發、隊列延遲、丟包率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164427" y="830072"/>
            <a:ext cx="5265267" cy="5570727"/>
          </a:xfrm>
          <a:prstGeom prst="roundRect">
            <a:avLst/>
          </a:prstGeom>
          <a:solidFill>
            <a:srgbClr val="D0E4F5"/>
          </a:solidFill>
          <a:ln>
            <a:noFill/>
          </a:ln>
          <a:effectLst>
            <a:outerShdw blurRad="76200" dist="25400" dir="5400000" algn="bl" rotWithShape="0">
              <a:srgbClr val="000000">
                <a:alpha val="2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164427" y="830072"/>
            <a:ext cx="5265267" cy="45720"/>
          </a:xfrm>
          <a:prstGeom prst="rect">
            <a:avLst/>
          </a:prstGeom>
          <a:solidFill>
            <a:srgbClr val="00B3A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274155" y="939799"/>
            <a:ext cx="5045811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800" b="1">
                <a:solidFill>
                  <a:srgbClr val="00599C"/>
                </a:solidFill>
                <a:latin typeface="Inter, Arial, sans-serif"/>
              </a:rPr>
              <a:t>低延遲 DB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274155" y="1287272"/>
            <a:ext cx="5045811" cy="18288"/>
          </a:xfrm>
          <a:prstGeom prst="rect">
            <a:avLst/>
          </a:prstGeom>
          <a:solidFill>
            <a:srgbClr val="00B3A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274155" y="1332992"/>
            <a:ext cx="5045811" cy="497636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sz="1400">
                <a:solidFill>
                  <a:srgbClr val="16202A"/>
                </a:solidFill>
              </a:rPr>
              <a:t>推薦協議: RDMA
驗證指標: P99 延遲、QDepth
回退策略: 本地 NVMe/實例</a:t>
            </a:r>
          </a:p>
        </p:txBody>
      </p:sp>
      <p:sp>
        <p:nvSpPr>
          <p:cNvPr id="17" name="Rectangle 16"/>
          <p:cNvSpPr/>
          <p:nvPr/>
        </p:nvSpPr>
        <p:spPr>
          <a:xfrm>
            <a:off x="0" y="6629400"/>
            <a:ext cx="12191695" cy="228600"/>
          </a:xfrm>
          <a:prstGeom prst="rect">
            <a:avLst/>
          </a:prstGeom>
          <a:solidFill>
            <a:srgbClr val="E8ED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62000" y="6656832"/>
            <a:ext cx="2743200" cy="173736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r>
              <a:rPr sz="1000" b="1">
                <a:solidFill>
                  <a:srgbClr val="FFD100"/>
                </a:solidFill>
              </a:rPr>
              <a:t>硬件层创新</a:t>
            </a:r>
          </a:p>
        </p:txBody>
      </p:sp>
      <p:sp>
        <p:nvSpPr>
          <p:cNvPr id="19" name="Rectangle 18"/>
          <p:cNvSpPr/>
          <p:nvPr/>
        </p:nvSpPr>
        <p:spPr>
          <a:xfrm>
            <a:off x="4742535" y="6716268"/>
            <a:ext cx="355309" cy="54864"/>
          </a:xfrm>
          <a:prstGeom prst="rect">
            <a:avLst/>
          </a:prstGeom>
          <a:solidFill>
            <a:srgbClr val="FFD1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5134421" y="6716268"/>
            <a:ext cx="355309" cy="54864"/>
          </a:xfrm>
          <a:prstGeom prst="rect">
            <a:avLst/>
          </a:prstGeom>
          <a:solidFill>
            <a:srgbClr val="FFD1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5526307" y="6716268"/>
            <a:ext cx="355309" cy="54864"/>
          </a:xfrm>
          <a:prstGeom prst="rect">
            <a:avLst/>
          </a:prstGeom>
          <a:solidFill>
            <a:srgbClr val="FFD1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5918192" y="6716268"/>
            <a:ext cx="355309" cy="54864"/>
          </a:xfrm>
          <a:prstGeom prst="rect">
            <a:avLst/>
          </a:prstGeom>
          <a:solidFill>
            <a:srgbClr val="72808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6310078" y="6716268"/>
            <a:ext cx="355309" cy="54864"/>
          </a:xfrm>
          <a:prstGeom prst="rect">
            <a:avLst/>
          </a:prstGeom>
          <a:solidFill>
            <a:srgbClr val="72808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6701964" y="6716268"/>
            <a:ext cx="355309" cy="54864"/>
          </a:xfrm>
          <a:prstGeom prst="rect">
            <a:avLst/>
          </a:prstGeom>
          <a:solidFill>
            <a:srgbClr val="72808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7093849" y="6716268"/>
            <a:ext cx="355309" cy="54864"/>
          </a:xfrm>
          <a:prstGeom prst="rect">
            <a:avLst/>
          </a:prstGeom>
          <a:solidFill>
            <a:srgbClr val="72808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10058095" y="6656832"/>
            <a:ext cx="1371600" cy="173736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r"/>
            <a:r>
              <a:rPr sz="1000">
                <a:solidFill>
                  <a:srgbClr val="42505D"/>
                </a:solidFill>
              </a:rPr>
              <a:t>9 / 23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83184"/>
          </a:xfrm>
          <a:prstGeom prst="rect">
            <a:avLst/>
          </a:prstGeom>
          <a:solidFill>
            <a:srgbClr val="FFD1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62000" y="54864"/>
            <a:ext cx="365760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 b="1">
                <a:solidFill>
                  <a:srgbClr val="3A2F00"/>
                </a:solidFill>
                <a:latin typeface="Inter, Arial, sans-serif"/>
              </a:rPr>
              <a:t>Section S2 · 硬件层创新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62000" y="201168"/>
            <a:ext cx="9753295" cy="3362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000" b="1">
                <a:solidFill>
                  <a:srgbClr val="3A2F00"/>
                </a:solidFill>
                <a:latin typeface="Inter, Arial, sans-serif"/>
              </a:rPr>
              <a:t>PMem 與 CXL 的應用與限制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277295" y="201168"/>
            <a:ext cx="6400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 b="1">
                <a:solidFill>
                  <a:srgbClr val="3A2F00"/>
                </a:solidFill>
                <a:latin typeface="Inter, Arial, sans-serif"/>
              </a:rPr>
              <a:t>10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560324"/>
            <a:ext cx="12191695" cy="22860"/>
          </a:xfrm>
          <a:prstGeom prst="rect">
            <a:avLst/>
          </a:prstGeom>
          <a:solidFill>
            <a:srgbClr val="3A2F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762000" y="830072"/>
            <a:ext cx="10667695" cy="2730499"/>
          </a:xfrm>
          <a:prstGeom prst="roundRect">
            <a:avLst/>
          </a:prstGeom>
          <a:solidFill>
            <a:srgbClr val="E8EDF2"/>
          </a:solidFill>
          <a:ln>
            <a:noFill/>
          </a:ln>
          <a:effectLst>
            <a:outerShdw blurRad="76200" dist="25400" dir="5400000" algn="bl" rotWithShape="0">
              <a:srgbClr val="000000">
                <a:alpha val="2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62000" y="830072"/>
            <a:ext cx="54864" cy="2730499"/>
          </a:xfrm>
          <a:prstGeom prst="rect">
            <a:avLst/>
          </a:prstGeom>
          <a:solidFill>
            <a:srgbClr val="00599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26591" y="903224"/>
            <a:ext cx="2066543" cy="2584195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1600" b="1">
                <a:solidFill>
                  <a:srgbClr val="00599C"/>
                </a:solidFill>
                <a:latin typeface="Inter, Arial, sans-serif"/>
              </a:rPr>
              <a:t>PMem (持久內存)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194304" y="884936"/>
            <a:ext cx="8125663" cy="2620771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lnSpc>
                <a:spcPct val="130000"/>
              </a:lnSpc>
            </a:pPr>
            <a:r>
              <a:rPr sz="1400">
                <a:solidFill>
                  <a:srgbClr val="16202A"/>
                </a:solidFill>
                <a:latin typeface="Inter, Arial, sans-serif"/>
              </a:rPr>
              <a:t>適用: 元數據/日志加速</a:t>
            </a:r>
          </a:p>
          <a:p>
            <a:pPr>
              <a:lnSpc>
                <a:spcPct val="130000"/>
              </a:lnSpc>
            </a:pPr>
            <a:r>
              <a:rPr sz="1400">
                <a:solidFill>
                  <a:srgbClr val="16202A"/>
                </a:solidFill>
                <a:latin typeface="Inter, Arial, sans-serif"/>
              </a:rPr>
              <a:t>優點: 低 P99 延遲</a:t>
            </a:r>
          </a:p>
          <a:p>
            <a:pPr>
              <a:lnSpc>
                <a:spcPct val="130000"/>
              </a:lnSpc>
            </a:pPr>
            <a:r>
              <a:rPr sz="1400">
                <a:solidFill>
                  <a:srgbClr val="16202A"/>
                </a:solidFill>
                <a:latin typeface="Inter, Arial, sans-serif"/>
              </a:rPr>
              <a:t>局限: 高成本、容量有限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62000" y="3670299"/>
            <a:ext cx="10667695" cy="2730499"/>
          </a:xfrm>
          <a:prstGeom prst="roundRect">
            <a:avLst/>
          </a:prstGeom>
          <a:solidFill>
            <a:srgbClr val="D0E4F5"/>
          </a:solidFill>
          <a:ln>
            <a:noFill/>
          </a:ln>
          <a:effectLst>
            <a:outerShdw blurRad="76200" dist="25400" dir="5400000" algn="bl" rotWithShape="0">
              <a:srgbClr val="000000">
                <a:alpha val="2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762000" y="3670299"/>
            <a:ext cx="54864" cy="2730499"/>
          </a:xfrm>
          <a:prstGeom prst="rect">
            <a:avLst/>
          </a:prstGeom>
          <a:solidFill>
            <a:srgbClr val="00B3A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26591" y="3743451"/>
            <a:ext cx="2066543" cy="2584195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1600" b="1">
                <a:solidFill>
                  <a:srgbClr val="00599C"/>
                </a:solidFill>
                <a:latin typeface="Inter, Arial, sans-serif"/>
              </a:rPr>
              <a:t>CXL (遠內存 pooling)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194304" y="3725163"/>
            <a:ext cx="8125663" cy="2620771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lnSpc>
                <a:spcPct val="130000"/>
              </a:lnSpc>
            </a:pPr>
            <a:r>
              <a:rPr sz="1400">
                <a:solidFill>
                  <a:srgbClr val="16202A"/>
                </a:solidFill>
                <a:latin typeface="Inter, Arial, sans-serif"/>
              </a:rPr>
              <a:t>適用: 大模型內存彈性</a:t>
            </a:r>
          </a:p>
          <a:p>
            <a:pPr>
              <a:lnSpc>
                <a:spcPct val="130000"/>
              </a:lnSpc>
            </a:pPr>
            <a:r>
              <a:rPr sz="1400">
                <a:solidFill>
                  <a:srgbClr val="16202A"/>
                </a:solidFill>
                <a:latin typeface="Inter, Arial, sans-serif"/>
              </a:rPr>
              <a:t>優點: 內存共享/擴展</a:t>
            </a:r>
          </a:p>
          <a:p>
            <a:pPr>
              <a:lnSpc>
                <a:spcPct val="130000"/>
              </a:lnSpc>
            </a:pPr>
            <a:r>
              <a:rPr sz="1400">
                <a:solidFill>
                  <a:srgbClr val="16202A"/>
                </a:solidFill>
                <a:latin typeface="Inter, Arial, sans-serif"/>
              </a:rPr>
              <a:t>局限: 生態成熟度、隔離/權限</a:t>
            </a:r>
          </a:p>
        </p:txBody>
      </p:sp>
      <p:sp>
        <p:nvSpPr>
          <p:cNvPr id="15" name="Rectangle 14"/>
          <p:cNvSpPr/>
          <p:nvPr/>
        </p:nvSpPr>
        <p:spPr>
          <a:xfrm>
            <a:off x="0" y="6629400"/>
            <a:ext cx="12191695" cy="228600"/>
          </a:xfrm>
          <a:prstGeom prst="rect">
            <a:avLst/>
          </a:prstGeom>
          <a:solidFill>
            <a:srgbClr val="E8ED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62000" y="6656832"/>
            <a:ext cx="2743200" cy="173736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r>
              <a:rPr sz="1000" b="1">
                <a:solidFill>
                  <a:srgbClr val="FFD100"/>
                </a:solidFill>
              </a:rPr>
              <a:t>硬件层创新</a:t>
            </a:r>
          </a:p>
        </p:txBody>
      </p:sp>
      <p:sp>
        <p:nvSpPr>
          <p:cNvPr id="17" name="Rectangle 16"/>
          <p:cNvSpPr/>
          <p:nvPr/>
        </p:nvSpPr>
        <p:spPr>
          <a:xfrm>
            <a:off x="4742535" y="6716268"/>
            <a:ext cx="355309" cy="54864"/>
          </a:xfrm>
          <a:prstGeom prst="rect">
            <a:avLst/>
          </a:prstGeom>
          <a:solidFill>
            <a:srgbClr val="FFD1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5134421" y="6716268"/>
            <a:ext cx="355309" cy="54864"/>
          </a:xfrm>
          <a:prstGeom prst="rect">
            <a:avLst/>
          </a:prstGeom>
          <a:solidFill>
            <a:srgbClr val="FFD1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5526307" y="6716268"/>
            <a:ext cx="355309" cy="54864"/>
          </a:xfrm>
          <a:prstGeom prst="rect">
            <a:avLst/>
          </a:prstGeom>
          <a:solidFill>
            <a:srgbClr val="FFD1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5918192" y="6716268"/>
            <a:ext cx="355309" cy="54864"/>
          </a:xfrm>
          <a:prstGeom prst="rect">
            <a:avLst/>
          </a:prstGeom>
          <a:solidFill>
            <a:srgbClr val="72808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6310078" y="6716268"/>
            <a:ext cx="355309" cy="54864"/>
          </a:xfrm>
          <a:prstGeom prst="rect">
            <a:avLst/>
          </a:prstGeom>
          <a:solidFill>
            <a:srgbClr val="72808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6701964" y="6716268"/>
            <a:ext cx="355309" cy="54864"/>
          </a:xfrm>
          <a:prstGeom prst="rect">
            <a:avLst/>
          </a:prstGeom>
          <a:solidFill>
            <a:srgbClr val="72808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7093849" y="6716268"/>
            <a:ext cx="355309" cy="54864"/>
          </a:xfrm>
          <a:prstGeom prst="rect">
            <a:avLst/>
          </a:prstGeom>
          <a:solidFill>
            <a:srgbClr val="72808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10058095" y="6656832"/>
            <a:ext cx="1371600" cy="173736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r"/>
            <a:r>
              <a:rPr sz="1000">
                <a:solidFill>
                  <a:srgbClr val="42505D"/>
                </a:solidFill>
              </a:rPr>
              <a:t>10 / 23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83184"/>
          </a:xfrm>
          <a:prstGeom prst="rect">
            <a:avLst/>
          </a:prstGeom>
          <a:solidFill>
            <a:srgbClr val="FFD1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62000" y="54864"/>
            <a:ext cx="365760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 b="1">
                <a:solidFill>
                  <a:srgbClr val="3A2F00"/>
                </a:solidFill>
                <a:latin typeface="Inter, Arial, sans-serif"/>
              </a:rPr>
              <a:t>Section S2 · 硬件层创新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62000" y="201168"/>
            <a:ext cx="9753295" cy="3362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000" b="1">
                <a:solidFill>
                  <a:srgbClr val="3A2F00"/>
                </a:solidFill>
                <a:latin typeface="Inter, Arial, sans-serif"/>
              </a:rPr>
              <a:t>近數據處理（Computational Storage）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277295" y="201168"/>
            <a:ext cx="6400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 b="1">
                <a:solidFill>
                  <a:srgbClr val="3A2F00"/>
                </a:solidFill>
                <a:latin typeface="Inter, Arial, sans-serif"/>
              </a:rPr>
              <a:t>11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560324"/>
            <a:ext cx="12191695" cy="22860"/>
          </a:xfrm>
          <a:prstGeom prst="rect">
            <a:avLst/>
          </a:prstGeom>
          <a:solidFill>
            <a:srgbClr val="3A2F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762000" y="830072"/>
            <a:ext cx="5265267" cy="5570727"/>
          </a:xfrm>
          <a:prstGeom prst="roundRect">
            <a:avLst/>
          </a:prstGeom>
          <a:solidFill>
            <a:srgbClr val="E8EDF2"/>
          </a:solidFill>
          <a:ln>
            <a:noFill/>
          </a:ln>
          <a:effectLst>
            <a:outerShdw blurRad="76200" dist="25400" dir="5400000" algn="bl" rotWithShape="0">
              <a:srgbClr val="000000">
                <a:alpha val="2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62000" y="830072"/>
            <a:ext cx="5265267" cy="45720"/>
          </a:xfrm>
          <a:prstGeom prst="rect">
            <a:avLst/>
          </a:prstGeom>
          <a:solidFill>
            <a:srgbClr val="00599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71728" y="939799"/>
            <a:ext cx="5045811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800" b="1">
                <a:solidFill>
                  <a:srgbClr val="00599C"/>
                </a:solidFill>
                <a:latin typeface="Inter, Arial, sans-serif"/>
              </a:rPr>
              <a:t>邊緣流式預處理</a:t>
            </a:r>
          </a:p>
        </p:txBody>
      </p:sp>
      <p:sp>
        <p:nvSpPr>
          <p:cNvPr id="10" name="Rectangle 9"/>
          <p:cNvSpPr/>
          <p:nvPr/>
        </p:nvSpPr>
        <p:spPr>
          <a:xfrm>
            <a:off x="871728" y="1287272"/>
            <a:ext cx="5045811" cy="18288"/>
          </a:xfrm>
          <a:prstGeom prst="rect">
            <a:avLst/>
          </a:prstGeom>
          <a:solidFill>
            <a:srgbClr val="00599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71728" y="1332992"/>
            <a:ext cx="5045811" cy="497636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sz="1400">
                <a:solidFill>
                  <a:srgbClr val="16202A"/>
                </a:solidFill>
              </a:rPr>
              <a:t>用例: 濾波/壓縮/解析
驗證點: 端到端延遲、正確性
限制: 設備異構、編程模型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164427" y="830072"/>
            <a:ext cx="5265267" cy="5570727"/>
          </a:xfrm>
          <a:prstGeom prst="roundRect">
            <a:avLst/>
          </a:prstGeom>
          <a:solidFill>
            <a:srgbClr val="D0E4F5"/>
          </a:solidFill>
          <a:ln>
            <a:noFill/>
          </a:ln>
          <a:effectLst>
            <a:outerShdw blurRad="76200" dist="25400" dir="5400000" algn="bl" rotWithShape="0">
              <a:srgbClr val="000000">
                <a:alpha val="2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164427" y="830072"/>
            <a:ext cx="5265267" cy="45720"/>
          </a:xfrm>
          <a:prstGeom prst="rect">
            <a:avLst/>
          </a:prstGeom>
          <a:solidFill>
            <a:srgbClr val="00B3A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274155" y="939799"/>
            <a:ext cx="5045811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800" b="1">
                <a:solidFill>
                  <a:srgbClr val="00599C"/>
                </a:solidFill>
                <a:latin typeface="Inter, Arial, sans-serif"/>
              </a:rPr>
              <a:t>大規模日志/壓縮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274155" y="1287272"/>
            <a:ext cx="5045811" cy="18288"/>
          </a:xfrm>
          <a:prstGeom prst="rect">
            <a:avLst/>
          </a:prstGeom>
          <a:solidFill>
            <a:srgbClr val="00B3A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274155" y="1332992"/>
            <a:ext cx="5045811" cy="497636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sz="1400">
                <a:solidFill>
                  <a:srgbClr val="16202A"/>
                </a:solidFill>
              </a:rPr>
              <a:t>用例: 設備側壓縮/索引
驗證點: 吞吐 &amp; 減少主機 IO
回退: 主機執行路徑</a:t>
            </a:r>
          </a:p>
        </p:txBody>
      </p:sp>
      <p:sp>
        <p:nvSpPr>
          <p:cNvPr id="17" name="Rectangle 16"/>
          <p:cNvSpPr/>
          <p:nvPr/>
        </p:nvSpPr>
        <p:spPr>
          <a:xfrm>
            <a:off x="0" y="6629400"/>
            <a:ext cx="12191695" cy="228600"/>
          </a:xfrm>
          <a:prstGeom prst="rect">
            <a:avLst/>
          </a:prstGeom>
          <a:solidFill>
            <a:srgbClr val="E8ED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62000" y="6656832"/>
            <a:ext cx="2743200" cy="173736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r>
              <a:rPr sz="1000" b="1">
                <a:solidFill>
                  <a:srgbClr val="FFD100"/>
                </a:solidFill>
              </a:rPr>
              <a:t>硬件层创新</a:t>
            </a:r>
          </a:p>
        </p:txBody>
      </p:sp>
      <p:sp>
        <p:nvSpPr>
          <p:cNvPr id="19" name="Rectangle 18"/>
          <p:cNvSpPr/>
          <p:nvPr/>
        </p:nvSpPr>
        <p:spPr>
          <a:xfrm>
            <a:off x="4742535" y="6716268"/>
            <a:ext cx="355309" cy="54864"/>
          </a:xfrm>
          <a:prstGeom prst="rect">
            <a:avLst/>
          </a:prstGeom>
          <a:solidFill>
            <a:srgbClr val="FFD1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5134421" y="6716268"/>
            <a:ext cx="355309" cy="54864"/>
          </a:xfrm>
          <a:prstGeom prst="rect">
            <a:avLst/>
          </a:prstGeom>
          <a:solidFill>
            <a:srgbClr val="FFD1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5526307" y="6716268"/>
            <a:ext cx="355309" cy="54864"/>
          </a:xfrm>
          <a:prstGeom prst="rect">
            <a:avLst/>
          </a:prstGeom>
          <a:solidFill>
            <a:srgbClr val="FFD1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5918192" y="6716268"/>
            <a:ext cx="355309" cy="54864"/>
          </a:xfrm>
          <a:prstGeom prst="rect">
            <a:avLst/>
          </a:prstGeom>
          <a:solidFill>
            <a:srgbClr val="72808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6310078" y="6716268"/>
            <a:ext cx="355309" cy="54864"/>
          </a:xfrm>
          <a:prstGeom prst="rect">
            <a:avLst/>
          </a:prstGeom>
          <a:solidFill>
            <a:srgbClr val="72808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6701964" y="6716268"/>
            <a:ext cx="355309" cy="54864"/>
          </a:xfrm>
          <a:prstGeom prst="rect">
            <a:avLst/>
          </a:prstGeom>
          <a:solidFill>
            <a:srgbClr val="72808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7093849" y="6716268"/>
            <a:ext cx="355309" cy="54864"/>
          </a:xfrm>
          <a:prstGeom prst="rect">
            <a:avLst/>
          </a:prstGeom>
          <a:solidFill>
            <a:srgbClr val="72808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10058095" y="6656832"/>
            <a:ext cx="1371600" cy="173736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r"/>
            <a:r>
              <a:rPr sz="1000">
                <a:solidFill>
                  <a:srgbClr val="42505D"/>
                </a:solidFill>
              </a:rPr>
              <a:t>11 / 23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599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676400" y="1920240"/>
            <a:ext cx="8838895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800" b="1">
                <a:solidFill>
                  <a:srgbClr val="FFFFFF"/>
                </a:solidFill>
                <a:latin typeface="Inter, Arial, sans-serif"/>
              </a:rPr>
              <a:t>系統與雲原生</a:t>
            </a:r>
          </a:p>
        </p:txBody>
      </p:sp>
      <p:sp>
        <p:nvSpPr>
          <p:cNvPr id="3" name="Rectangle 2"/>
          <p:cNvSpPr/>
          <p:nvPr/>
        </p:nvSpPr>
        <p:spPr>
          <a:xfrm>
            <a:off x="5181447" y="2743200"/>
            <a:ext cx="1828800" cy="2743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133600" y="3086100"/>
            <a:ext cx="7924495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>
                <a:solidFill>
                  <a:srgbClr val="FFFFFF"/>
                </a:solidFill>
              </a:rPr>
              <a:t>对象存储、并行文件系统与云原生存储的趋势与架构取舍</a:t>
            </a:r>
          </a:p>
        </p:txBody>
      </p:sp>
      <p:sp>
        <p:nvSpPr>
          <p:cNvPr id="5" name="Rectangle 4"/>
          <p:cNvSpPr/>
          <p:nvPr/>
        </p:nvSpPr>
        <p:spPr>
          <a:xfrm>
            <a:off x="4751679" y="5349240"/>
            <a:ext cx="337021" cy="7315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5143565" y="5349240"/>
            <a:ext cx="337021" cy="7315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5535451" y="5349240"/>
            <a:ext cx="337021" cy="7315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5927336" y="5349240"/>
            <a:ext cx="337021" cy="7315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6319222" y="5349240"/>
            <a:ext cx="337021" cy="73152"/>
          </a:xfrm>
          <a:prstGeom prst="rect">
            <a:avLst/>
          </a:prstGeom>
          <a:solidFill>
            <a:srgbClr val="E8ED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6711108" y="5349240"/>
            <a:ext cx="337021" cy="73152"/>
          </a:xfrm>
          <a:prstGeom prst="rect">
            <a:avLst/>
          </a:prstGeom>
          <a:solidFill>
            <a:srgbClr val="E8ED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7102993" y="5349240"/>
            <a:ext cx="337021" cy="73152"/>
          </a:xfrm>
          <a:prstGeom prst="rect">
            <a:avLst/>
          </a:prstGeom>
          <a:solidFill>
            <a:srgbClr val="E8ED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83184"/>
          </a:xfrm>
          <a:prstGeom prst="rect">
            <a:avLst/>
          </a:prstGeom>
          <a:solidFill>
            <a:srgbClr val="00599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62000" y="54864"/>
            <a:ext cx="365760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 b="1">
                <a:solidFill>
                  <a:srgbClr val="FFFFFF"/>
                </a:solidFill>
                <a:latin typeface="Inter, Arial, sans-serif"/>
              </a:rPr>
              <a:t>Section S3 · 系统与云原生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62000" y="201168"/>
            <a:ext cx="9753295" cy="3362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000" b="1">
                <a:solidFill>
                  <a:srgbClr val="FFFFFF"/>
                </a:solidFill>
                <a:latin typeface="Inter, Arial, sans-serif"/>
              </a:rPr>
              <a:t>雲原生存儲採納指數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277295" y="201168"/>
            <a:ext cx="6400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 b="1">
                <a:solidFill>
                  <a:srgbClr val="FFFFFF"/>
                </a:solidFill>
                <a:latin typeface="Inter, Arial, sans-serif"/>
              </a:rPr>
              <a:t>13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560324"/>
            <a:ext cx="12191695" cy="2286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7" name="Picture 6" descr="figure_cn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62000" y="784352"/>
            <a:ext cx="10667695" cy="5662168"/>
          </a:xfrm>
          <a:prstGeom prst="rect">
            <a:avLst/>
          </a:prstGeom>
        </p:spPr>
      </p:pic>
      <p:sp>
        <p:nvSpPr>
          <p:cNvPr id="8" name="Rectangle 7"/>
          <p:cNvSpPr/>
          <p:nvPr/>
        </p:nvSpPr>
        <p:spPr>
          <a:xfrm>
            <a:off x="0" y="6629400"/>
            <a:ext cx="12191695" cy="228600"/>
          </a:xfrm>
          <a:prstGeom prst="rect">
            <a:avLst/>
          </a:prstGeom>
          <a:solidFill>
            <a:srgbClr val="E8ED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62000" y="6656832"/>
            <a:ext cx="2743200" cy="173736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r>
              <a:rPr sz="1000" b="1">
                <a:solidFill>
                  <a:srgbClr val="00599C"/>
                </a:solidFill>
              </a:rPr>
              <a:t>系统与云原生</a:t>
            </a:r>
          </a:p>
        </p:txBody>
      </p:sp>
      <p:sp>
        <p:nvSpPr>
          <p:cNvPr id="10" name="Rectangle 9"/>
          <p:cNvSpPr/>
          <p:nvPr/>
        </p:nvSpPr>
        <p:spPr>
          <a:xfrm>
            <a:off x="4742535" y="6716268"/>
            <a:ext cx="355309" cy="54864"/>
          </a:xfrm>
          <a:prstGeom prst="rect">
            <a:avLst/>
          </a:prstGeom>
          <a:solidFill>
            <a:srgbClr val="00599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5134421" y="6716268"/>
            <a:ext cx="355309" cy="54864"/>
          </a:xfrm>
          <a:prstGeom prst="rect">
            <a:avLst/>
          </a:prstGeom>
          <a:solidFill>
            <a:srgbClr val="00599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5526307" y="6716268"/>
            <a:ext cx="355309" cy="54864"/>
          </a:xfrm>
          <a:prstGeom prst="rect">
            <a:avLst/>
          </a:prstGeom>
          <a:solidFill>
            <a:srgbClr val="00599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5918192" y="6716268"/>
            <a:ext cx="355309" cy="54864"/>
          </a:xfrm>
          <a:prstGeom prst="rect">
            <a:avLst/>
          </a:prstGeom>
          <a:solidFill>
            <a:srgbClr val="00599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6310078" y="6716268"/>
            <a:ext cx="355309" cy="54864"/>
          </a:xfrm>
          <a:prstGeom prst="rect">
            <a:avLst/>
          </a:prstGeom>
          <a:solidFill>
            <a:srgbClr val="72808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6701964" y="6716268"/>
            <a:ext cx="355309" cy="54864"/>
          </a:xfrm>
          <a:prstGeom prst="rect">
            <a:avLst/>
          </a:prstGeom>
          <a:solidFill>
            <a:srgbClr val="72808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7093849" y="6716268"/>
            <a:ext cx="355309" cy="54864"/>
          </a:xfrm>
          <a:prstGeom prst="rect">
            <a:avLst/>
          </a:prstGeom>
          <a:solidFill>
            <a:srgbClr val="72808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0058095" y="6656832"/>
            <a:ext cx="1371600" cy="173736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r"/>
            <a:r>
              <a:rPr sz="1000">
                <a:solidFill>
                  <a:srgbClr val="42505D"/>
                </a:solidFill>
              </a:rPr>
              <a:t>13 / 23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83184"/>
          </a:xfrm>
          <a:prstGeom prst="rect">
            <a:avLst/>
          </a:prstGeom>
          <a:solidFill>
            <a:srgbClr val="00599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62000" y="54864"/>
            <a:ext cx="365760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 b="1">
                <a:solidFill>
                  <a:srgbClr val="FFFFFF"/>
                </a:solidFill>
                <a:latin typeface="Inter, Arial, sans-serif"/>
              </a:rPr>
              <a:t>Section S3 · 系统与云原生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62000" y="201168"/>
            <a:ext cx="9753295" cy="3362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000" b="1">
                <a:solidFill>
                  <a:srgbClr val="FFFFFF"/>
                </a:solidFill>
                <a:latin typeface="Inter, Arial, sans-serif"/>
              </a:rPr>
              <a:t>存儲架構對比：對象 / 並行文件 / 分層緩存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277295" y="201168"/>
            <a:ext cx="6400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 b="1">
                <a:solidFill>
                  <a:srgbClr val="FFFFFF"/>
                </a:solidFill>
                <a:latin typeface="Inter, Arial, sans-serif"/>
              </a:rPr>
              <a:t>14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560324"/>
            <a:ext cx="12191695" cy="2286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762000" y="830072"/>
            <a:ext cx="3464458" cy="5570727"/>
          </a:xfrm>
          <a:prstGeom prst="roundRect">
            <a:avLst/>
          </a:prstGeom>
          <a:solidFill>
            <a:srgbClr val="E8EDF2"/>
          </a:solidFill>
          <a:ln>
            <a:noFill/>
          </a:ln>
          <a:effectLst>
            <a:outerShdw blurRad="76200" dist="25400" dir="5400000" algn="bl" rotWithShape="0">
              <a:srgbClr val="000000">
                <a:alpha val="2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62000" y="830072"/>
            <a:ext cx="3464458" cy="45720"/>
          </a:xfrm>
          <a:prstGeom prst="rect">
            <a:avLst/>
          </a:prstGeom>
          <a:solidFill>
            <a:srgbClr val="00599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71728" y="939799"/>
            <a:ext cx="324500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800" b="1">
                <a:solidFill>
                  <a:srgbClr val="00599C"/>
                </a:solidFill>
                <a:latin typeface="Inter, Arial, sans-serif"/>
              </a:rPr>
              <a:t>對象存儲 (S3 兼容)</a:t>
            </a:r>
          </a:p>
        </p:txBody>
      </p:sp>
      <p:sp>
        <p:nvSpPr>
          <p:cNvPr id="10" name="Rectangle 9"/>
          <p:cNvSpPr/>
          <p:nvPr/>
        </p:nvSpPr>
        <p:spPr>
          <a:xfrm>
            <a:off x="871728" y="1287272"/>
            <a:ext cx="3245002" cy="18288"/>
          </a:xfrm>
          <a:prstGeom prst="rect">
            <a:avLst/>
          </a:prstGeom>
          <a:solidFill>
            <a:srgbClr val="00599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71728" y="1332992"/>
            <a:ext cx="3245002" cy="497636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sz="1400">
                <a:solidFill>
                  <a:srgbClr val="16202A"/>
                </a:solidFill>
              </a:rPr>
              <a:t>優點: 彈性擴展、成本優勢
局限: 小對象/低延遲場景需緩存
典型場景: 數據湖/歸檔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363618" y="830072"/>
            <a:ext cx="3464458" cy="5570727"/>
          </a:xfrm>
          <a:prstGeom prst="roundRect">
            <a:avLst/>
          </a:prstGeom>
          <a:solidFill>
            <a:srgbClr val="D0E4F5"/>
          </a:solidFill>
          <a:ln>
            <a:noFill/>
          </a:ln>
          <a:effectLst>
            <a:outerShdw blurRad="76200" dist="25400" dir="5400000" algn="bl" rotWithShape="0">
              <a:srgbClr val="000000">
                <a:alpha val="2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4363618" y="830072"/>
            <a:ext cx="3464458" cy="45720"/>
          </a:xfrm>
          <a:prstGeom prst="rect">
            <a:avLst/>
          </a:prstGeom>
          <a:solidFill>
            <a:srgbClr val="00B3A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473346" y="939799"/>
            <a:ext cx="324500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800" b="1">
                <a:solidFill>
                  <a:srgbClr val="00599C"/>
                </a:solidFill>
                <a:latin typeface="Inter, Arial, sans-serif"/>
              </a:rPr>
              <a:t>並行文件系統</a:t>
            </a:r>
          </a:p>
        </p:txBody>
      </p:sp>
      <p:sp>
        <p:nvSpPr>
          <p:cNvPr id="15" name="Rectangle 14"/>
          <p:cNvSpPr/>
          <p:nvPr/>
        </p:nvSpPr>
        <p:spPr>
          <a:xfrm>
            <a:off x="4473346" y="1287272"/>
            <a:ext cx="3245002" cy="18288"/>
          </a:xfrm>
          <a:prstGeom prst="rect">
            <a:avLst/>
          </a:prstGeom>
          <a:solidFill>
            <a:srgbClr val="00B3A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473346" y="1332992"/>
            <a:ext cx="3245002" cy="497636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sz="1400">
                <a:solidFill>
                  <a:srgbClr val="16202A"/>
                </a:solidFill>
              </a:rPr>
              <a:t>優點: 高帶寬並行 I/O
局限: 元數據瓶頸/運維複雜
典型場景: HPC/訓練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7965236" y="830072"/>
            <a:ext cx="3464458" cy="5570727"/>
          </a:xfrm>
          <a:prstGeom prst="roundRect">
            <a:avLst/>
          </a:prstGeom>
          <a:solidFill>
            <a:srgbClr val="D8DDE3"/>
          </a:solidFill>
          <a:ln>
            <a:noFill/>
          </a:ln>
          <a:effectLst>
            <a:outerShdw blurRad="76200" dist="25400" dir="5400000" algn="bl" rotWithShape="0">
              <a:srgbClr val="000000">
                <a:alpha val="2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7965236" y="830072"/>
            <a:ext cx="3464458" cy="45720"/>
          </a:xfrm>
          <a:prstGeom prst="rect">
            <a:avLst/>
          </a:prstGeom>
          <a:solidFill>
            <a:srgbClr val="FFD1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074964" y="939799"/>
            <a:ext cx="324500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800" b="1">
                <a:solidFill>
                  <a:srgbClr val="00599C"/>
                </a:solidFill>
                <a:latin typeface="Inter, Arial, sans-serif"/>
              </a:rPr>
              <a:t>分層緩存 (Alluxio 等)</a:t>
            </a:r>
          </a:p>
        </p:txBody>
      </p:sp>
      <p:sp>
        <p:nvSpPr>
          <p:cNvPr id="20" name="Rectangle 19"/>
          <p:cNvSpPr/>
          <p:nvPr/>
        </p:nvSpPr>
        <p:spPr>
          <a:xfrm>
            <a:off x="8074964" y="1287272"/>
            <a:ext cx="3245002" cy="18288"/>
          </a:xfrm>
          <a:prstGeom prst="rect">
            <a:avLst/>
          </a:prstGeom>
          <a:solidFill>
            <a:srgbClr val="FFD1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074964" y="1332992"/>
            <a:ext cx="3245002" cy="497636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sz="1400">
                <a:solidFill>
                  <a:srgbClr val="16202A"/>
                </a:solidFill>
              </a:rPr>
              <a:t>優點: 提高並行讀性能
局限: 一致性/緩存失效
典型場景: 訓練/分析</a:t>
            </a:r>
          </a:p>
        </p:txBody>
      </p:sp>
      <p:sp>
        <p:nvSpPr>
          <p:cNvPr id="22" name="Rectangle 21"/>
          <p:cNvSpPr/>
          <p:nvPr/>
        </p:nvSpPr>
        <p:spPr>
          <a:xfrm>
            <a:off x="0" y="6629400"/>
            <a:ext cx="12191695" cy="228600"/>
          </a:xfrm>
          <a:prstGeom prst="rect">
            <a:avLst/>
          </a:prstGeom>
          <a:solidFill>
            <a:srgbClr val="E8ED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762000" y="6656832"/>
            <a:ext cx="2743200" cy="173736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r>
              <a:rPr sz="1000" b="1">
                <a:solidFill>
                  <a:srgbClr val="00599C"/>
                </a:solidFill>
              </a:rPr>
              <a:t>系统与云原生</a:t>
            </a:r>
          </a:p>
        </p:txBody>
      </p:sp>
      <p:sp>
        <p:nvSpPr>
          <p:cNvPr id="24" name="Rectangle 23"/>
          <p:cNvSpPr/>
          <p:nvPr/>
        </p:nvSpPr>
        <p:spPr>
          <a:xfrm>
            <a:off x="4742535" y="6716268"/>
            <a:ext cx="355309" cy="54864"/>
          </a:xfrm>
          <a:prstGeom prst="rect">
            <a:avLst/>
          </a:prstGeom>
          <a:solidFill>
            <a:srgbClr val="00599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5134421" y="6716268"/>
            <a:ext cx="355309" cy="54864"/>
          </a:xfrm>
          <a:prstGeom prst="rect">
            <a:avLst/>
          </a:prstGeom>
          <a:solidFill>
            <a:srgbClr val="00599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5526307" y="6716268"/>
            <a:ext cx="355309" cy="54864"/>
          </a:xfrm>
          <a:prstGeom prst="rect">
            <a:avLst/>
          </a:prstGeom>
          <a:solidFill>
            <a:srgbClr val="00599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5918192" y="6716268"/>
            <a:ext cx="355309" cy="54864"/>
          </a:xfrm>
          <a:prstGeom prst="rect">
            <a:avLst/>
          </a:prstGeom>
          <a:solidFill>
            <a:srgbClr val="00599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6310078" y="6716268"/>
            <a:ext cx="355309" cy="54864"/>
          </a:xfrm>
          <a:prstGeom prst="rect">
            <a:avLst/>
          </a:prstGeom>
          <a:solidFill>
            <a:srgbClr val="72808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6701964" y="6716268"/>
            <a:ext cx="355309" cy="54864"/>
          </a:xfrm>
          <a:prstGeom prst="rect">
            <a:avLst/>
          </a:prstGeom>
          <a:solidFill>
            <a:srgbClr val="72808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7093849" y="6716268"/>
            <a:ext cx="355309" cy="54864"/>
          </a:xfrm>
          <a:prstGeom prst="rect">
            <a:avLst/>
          </a:prstGeom>
          <a:solidFill>
            <a:srgbClr val="72808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10058095" y="6656832"/>
            <a:ext cx="1371600" cy="173736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r"/>
            <a:r>
              <a:rPr sz="1000">
                <a:solidFill>
                  <a:srgbClr val="42505D"/>
                </a:solidFill>
              </a:rPr>
              <a:t>14 / 23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83184"/>
          </a:xfrm>
          <a:prstGeom prst="rect">
            <a:avLst/>
          </a:prstGeom>
          <a:solidFill>
            <a:srgbClr val="00599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62000" y="54864"/>
            <a:ext cx="365760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 b="1">
                <a:solidFill>
                  <a:srgbClr val="FFFFFF"/>
                </a:solidFill>
                <a:latin typeface="Inter, Arial, sans-serif"/>
              </a:rPr>
              <a:t>Section S3 · 系统与云原生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62000" y="201168"/>
            <a:ext cx="9753295" cy="3362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000" b="1">
                <a:solidFill>
                  <a:srgbClr val="FFFFFF"/>
                </a:solidFill>
                <a:latin typeface="Inter, Arial, sans-serif"/>
              </a:rPr>
              <a:t>數據保護、合規與不可變備份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277295" y="201168"/>
            <a:ext cx="6400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 b="1">
                <a:solidFill>
                  <a:srgbClr val="FFFFFF"/>
                </a:solidFill>
                <a:latin typeface="Inter, Arial, sans-serif"/>
              </a:rPr>
              <a:t>15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560324"/>
            <a:ext cx="12191695" cy="2286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853440" y="3098800"/>
            <a:ext cx="73152" cy="73152"/>
          </a:xfrm>
          <a:prstGeom prst="ellipse">
            <a:avLst/>
          </a:prstGeom>
          <a:solidFill>
            <a:srgbClr val="00599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36320" y="2929636"/>
            <a:ext cx="10301935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sz="1400">
                <a:solidFill>
                  <a:srgbClr val="16202A"/>
                </a:solidFill>
                <a:latin typeface="Inter, Arial, sans-serif"/>
              </a:rPr>
              <a:t>加密（靜態/傳輸）、</a:t>
            </a:r>
            <a:r>
              <a:rPr sz="1400" b="1">
                <a:solidFill>
                  <a:srgbClr val="00599C"/>
                </a:solidFill>
                <a:latin typeface="Inter, Arial, sans-serif"/>
              </a:rPr>
              <a:t>WORM</a:t>
            </a:r>
            <a:r>
              <a:rPr sz="1400">
                <a:solidFill>
                  <a:srgbClr val="16202A"/>
                </a:solidFill>
                <a:latin typeface="Inter, Arial, sans-serif"/>
              </a:rPr>
              <a:t> 與不可變快照為防勒索基礎</a:t>
            </a:r>
          </a:p>
        </p:txBody>
      </p:sp>
      <p:sp>
        <p:nvSpPr>
          <p:cNvPr id="9" name="Oval 8"/>
          <p:cNvSpPr/>
          <p:nvPr/>
        </p:nvSpPr>
        <p:spPr>
          <a:xfrm>
            <a:off x="853440" y="3537712"/>
            <a:ext cx="73152" cy="73152"/>
          </a:xfrm>
          <a:prstGeom prst="ellipse">
            <a:avLst/>
          </a:prstGeom>
          <a:solidFill>
            <a:srgbClr val="00599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36320" y="3368548"/>
            <a:ext cx="10301935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sz="1400">
                <a:solidFill>
                  <a:srgbClr val="16202A"/>
                </a:solidFill>
                <a:latin typeface="Inter, Arial, sans-serif"/>
              </a:rPr>
              <a:t>合規：中國市場對本地化與跨境控制要求高</a:t>
            </a:r>
          </a:p>
        </p:txBody>
      </p:sp>
      <p:sp>
        <p:nvSpPr>
          <p:cNvPr id="11" name="Oval 10"/>
          <p:cNvSpPr/>
          <p:nvPr/>
        </p:nvSpPr>
        <p:spPr>
          <a:xfrm>
            <a:off x="853440" y="3976623"/>
            <a:ext cx="73152" cy="73152"/>
          </a:xfrm>
          <a:prstGeom prst="ellipse">
            <a:avLst/>
          </a:prstGeom>
          <a:solidFill>
            <a:srgbClr val="00599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036320" y="3807460"/>
            <a:ext cx="10301935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sz="1400">
                <a:solidFill>
                  <a:srgbClr val="16202A"/>
                </a:solidFill>
                <a:latin typeface="Inter, Arial, sans-serif"/>
              </a:rPr>
              <a:t>災備：異地多活與精細 </a:t>
            </a:r>
            <a:r>
              <a:rPr sz="1400" b="1">
                <a:solidFill>
                  <a:srgbClr val="00599C"/>
                </a:solidFill>
                <a:latin typeface="Inter, Arial, sans-serif"/>
              </a:rPr>
              <a:t>RPO/RTO</a:t>
            </a:r>
            <a:r>
              <a:rPr sz="1400">
                <a:solidFill>
                  <a:srgbClr val="16202A"/>
                </a:solidFill>
                <a:latin typeface="Inter, Arial, sans-serif"/>
              </a:rPr>
              <a:t> 設計必要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53440" y="4383532"/>
            <a:ext cx="10484815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 i="1">
                <a:solidFill>
                  <a:srgbClr val="42505D"/>
                </a:solidFill>
              </a:rPr>
              <a:t>… 详见 Speaker Notes</a:t>
            </a:r>
          </a:p>
        </p:txBody>
      </p:sp>
      <p:sp>
        <p:nvSpPr>
          <p:cNvPr id="14" name="Rectangle 13"/>
          <p:cNvSpPr/>
          <p:nvPr/>
        </p:nvSpPr>
        <p:spPr>
          <a:xfrm>
            <a:off x="0" y="6629400"/>
            <a:ext cx="12191695" cy="228600"/>
          </a:xfrm>
          <a:prstGeom prst="rect">
            <a:avLst/>
          </a:prstGeom>
          <a:solidFill>
            <a:srgbClr val="E8ED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62000" y="6656832"/>
            <a:ext cx="2743200" cy="173736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r>
              <a:rPr sz="1000" b="1">
                <a:solidFill>
                  <a:srgbClr val="00599C"/>
                </a:solidFill>
              </a:rPr>
              <a:t>系统与云原生</a:t>
            </a:r>
          </a:p>
        </p:txBody>
      </p:sp>
      <p:sp>
        <p:nvSpPr>
          <p:cNvPr id="16" name="Rectangle 15"/>
          <p:cNvSpPr/>
          <p:nvPr/>
        </p:nvSpPr>
        <p:spPr>
          <a:xfrm>
            <a:off x="4742535" y="6716268"/>
            <a:ext cx="355309" cy="54864"/>
          </a:xfrm>
          <a:prstGeom prst="rect">
            <a:avLst/>
          </a:prstGeom>
          <a:solidFill>
            <a:srgbClr val="00599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5134421" y="6716268"/>
            <a:ext cx="355309" cy="54864"/>
          </a:xfrm>
          <a:prstGeom prst="rect">
            <a:avLst/>
          </a:prstGeom>
          <a:solidFill>
            <a:srgbClr val="00599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5526307" y="6716268"/>
            <a:ext cx="355309" cy="54864"/>
          </a:xfrm>
          <a:prstGeom prst="rect">
            <a:avLst/>
          </a:prstGeom>
          <a:solidFill>
            <a:srgbClr val="00599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5918192" y="6716268"/>
            <a:ext cx="355309" cy="54864"/>
          </a:xfrm>
          <a:prstGeom prst="rect">
            <a:avLst/>
          </a:prstGeom>
          <a:solidFill>
            <a:srgbClr val="00599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6310078" y="6716268"/>
            <a:ext cx="355309" cy="54864"/>
          </a:xfrm>
          <a:prstGeom prst="rect">
            <a:avLst/>
          </a:prstGeom>
          <a:solidFill>
            <a:srgbClr val="72808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6701964" y="6716268"/>
            <a:ext cx="355309" cy="54864"/>
          </a:xfrm>
          <a:prstGeom prst="rect">
            <a:avLst/>
          </a:prstGeom>
          <a:solidFill>
            <a:srgbClr val="72808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7093849" y="6716268"/>
            <a:ext cx="355309" cy="54864"/>
          </a:xfrm>
          <a:prstGeom prst="rect">
            <a:avLst/>
          </a:prstGeom>
          <a:solidFill>
            <a:srgbClr val="72808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10058095" y="6656832"/>
            <a:ext cx="1371600" cy="173736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r"/>
            <a:r>
              <a:rPr sz="1000">
                <a:solidFill>
                  <a:srgbClr val="42505D"/>
                </a:solidFill>
              </a:rPr>
              <a:t>15 / 23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B3A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676400" y="1920240"/>
            <a:ext cx="8838895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800" b="1">
                <a:solidFill>
                  <a:srgbClr val="FFFFFF"/>
                </a:solidFill>
                <a:latin typeface="Inter, Arial, sans-serif"/>
              </a:rPr>
              <a:t>面向 AI 的存儲演進</a:t>
            </a:r>
          </a:p>
        </p:txBody>
      </p:sp>
      <p:sp>
        <p:nvSpPr>
          <p:cNvPr id="3" name="Rectangle 2"/>
          <p:cNvSpPr/>
          <p:nvPr/>
        </p:nvSpPr>
        <p:spPr>
          <a:xfrm>
            <a:off x="5181447" y="2743200"/>
            <a:ext cx="1828800" cy="2743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133600" y="3086100"/>
            <a:ext cx="7924495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>
                <a:solidFill>
                  <a:srgbClr val="FFFFFF"/>
                </a:solidFill>
              </a:rPr>
              <a:t>训练/推理的 I/O 特征与存储组合实践建议</a:t>
            </a:r>
          </a:p>
        </p:txBody>
      </p:sp>
      <p:sp>
        <p:nvSpPr>
          <p:cNvPr id="5" name="Rectangle 4"/>
          <p:cNvSpPr/>
          <p:nvPr/>
        </p:nvSpPr>
        <p:spPr>
          <a:xfrm>
            <a:off x="4751679" y="5349240"/>
            <a:ext cx="337021" cy="7315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5143565" y="5349240"/>
            <a:ext cx="337021" cy="7315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5535451" y="5349240"/>
            <a:ext cx="337021" cy="7315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5927336" y="5349240"/>
            <a:ext cx="337021" cy="7315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6319222" y="5349240"/>
            <a:ext cx="337021" cy="7315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6711108" y="5349240"/>
            <a:ext cx="337021" cy="73152"/>
          </a:xfrm>
          <a:prstGeom prst="rect">
            <a:avLst/>
          </a:prstGeom>
          <a:solidFill>
            <a:srgbClr val="E8ED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7102993" y="5349240"/>
            <a:ext cx="337021" cy="73152"/>
          </a:xfrm>
          <a:prstGeom prst="rect">
            <a:avLst/>
          </a:prstGeom>
          <a:solidFill>
            <a:srgbClr val="E8ED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83184"/>
          </a:xfrm>
          <a:prstGeom prst="rect">
            <a:avLst/>
          </a:prstGeom>
          <a:solidFill>
            <a:srgbClr val="00B3A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62000" y="54864"/>
            <a:ext cx="365760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 b="1">
                <a:solidFill>
                  <a:srgbClr val="FFFFFF"/>
                </a:solidFill>
                <a:latin typeface="Inter, Arial, sans-serif"/>
              </a:rPr>
              <a:t>Section S4 · 面向 AI 的存储演进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62000" y="201168"/>
            <a:ext cx="9753295" cy="3362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000" b="1">
                <a:solidFill>
                  <a:srgbClr val="FFFFFF"/>
                </a:solidFill>
                <a:latin typeface="Inter, Arial, sans-serif"/>
              </a:rPr>
              <a:t>AI I/O 要求（Training vs Inference）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277295" y="201168"/>
            <a:ext cx="6400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 b="1">
                <a:solidFill>
                  <a:srgbClr val="FFFFFF"/>
                </a:solidFill>
                <a:latin typeface="Inter, Arial, sans-serif"/>
              </a:rPr>
              <a:t>17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560324"/>
            <a:ext cx="12191695" cy="2286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7" name="Picture 6" descr="figure_ai_i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62000" y="784352"/>
            <a:ext cx="10667695" cy="5662168"/>
          </a:xfrm>
          <a:prstGeom prst="rect">
            <a:avLst/>
          </a:prstGeom>
        </p:spPr>
      </p:pic>
      <p:sp>
        <p:nvSpPr>
          <p:cNvPr id="8" name="Rectangle 7"/>
          <p:cNvSpPr/>
          <p:nvPr/>
        </p:nvSpPr>
        <p:spPr>
          <a:xfrm>
            <a:off x="0" y="6629400"/>
            <a:ext cx="12191695" cy="228600"/>
          </a:xfrm>
          <a:prstGeom prst="rect">
            <a:avLst/>
          </a:prstGeom>
          <a:solidFill>
            <a:srgbClr val="E8ED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62000" y="6656832"/>
            <a:ext cx="2743200" cy="173736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r>
              <a:rPr sz="1000" b="1">
                <a:solidFill>
                  <a:srgbClr val="00B3A4"/>
                </a:solidFill>
              </a:rPr>
              <a:t>面向 AI 的存储演进</a:t>
            </a:r>
          </a:p>
        </p:txBody>
      </p:sp>
      <p:sp>
        <p:nvSpPr>
          <p:cNvPr id="10" name="Rectangle 9"/>
          <p:cNvSpPr/>
          <p:nvPr/>
        </p:nvSpPr>
        <p:spPr>
          <a:xfrm>
            <a:off x="4742535" y="6716268"/>
            <a:ext cx="355309" cy="54864"/>
          </a:xfrm>
          <a:prstGeom prst="rect">
            <a:avLst/>
          </a:prstGeom>
          <a:solidFill>
            <a:srgbClr val="00B3A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5134421" y="6716268"/>
            <a:ext cx="355309" cy="54864"/>
          </a:xfrm>
          <a:prstGeom prst="rect">
            <a:avLst/>
          </a:prstGeom>
          <a:solidFill>
            <a:srgbClr val="00B3A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5526307" y="6716268"/>
            <a:ext cx="355309" cy="54864"/>
          </a:xfrm>
          <a:prstGeom prst="rect">
            <a:avLst/>
          </a:prstGeom>
          <a:solidFill>
            <a:srgbClr val="00B3A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5918192" y="6716268"/>
            <a:ext cx="355309" cy="54864"/>
          </a:xfrm>
          <a:prstGeom prst="rect">
            <a:avLst/>
          </a:prstGeom>
          <a:solidFill>
            <a:srgbClr val="00B3A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6310078" y="6716268"/>
            <a:ext cx="355309" cy="54864"/>
          </a:xfrm>
          <a:prstGeom prst="rect">
            <a:avLst/>
          </a:prstGeom>
          <a:solidFill>
            <a:srgbClr val="00B3A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6701964" y="6716268"/>
            <a:ext cx="355309" cy="54864"/>
          </a:xfrm>
          <a:prstGeom prst="rect">
            <a:avLst/>
          </a:prstGeom>
          <a:solidFill>
            <a:srgbClr val="72808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7093849" y="6716268"/>
            <a:ext cx="355309" cy="54864"/>
          </a:xfrm>
          <a:prstGeom prst="rect">
            <a:avLst/>
          </a:prstGeom>
          <a:solidFill>
            <a:srgbClr val="72808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0058095" y="6656832"/>
            <a:ext cx="1371600" cy="173736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r"/>
            <a:r>
              <a:rPr sz="1000">
                <a:solidFill>
                  <a:srgbClr val="42505D"/>
                </a:solidFill>
              </a:rPr>
              <a:t>17 / 23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83184"/>
          </a:xfrm>
          <a:prstGeom prst="rect">
            <a:avLst/>
          </a:prstGeom>
          <a:solidFill>
            <a:srgbClr val="00B3A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62000" y="54864"/>
            <a:ext cx="365760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 b="1">
                <a:solidFill>
                  <a:srgbClr val="FFFFFF"/>
                </a:solidFill>
                <a:latin typeface="Inter, Arial, sans-serif"/>
              </a:rPr>
              <a:t>Section S4 · 面向 AI 的存储演进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62000" y="201168"/>
            <a:ext cx="9753295" cy="3362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000" b="1">
                <a:solidFill>
                  <a:srgbClr val="FFFFFF"/>
                </a:solidFill>
                <a:latin typeface="Inter, Arial, sans-serif"/>
              </a:rPr>
              <a:t>AI 數據路徑設計 (對象 + 並行 FS + 緩存)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277295" y="201168"/>
            <a:ext cx="6400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 b="1">
                <a:solidFill>
                  <a:srgbClr val="FFFFFF"/>
                </a:solidFill>
                <a:latin typeface="Inter, Arial, sans-serif"/>
              </a:rPr>
              <a:t>18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560324"/>
            <a:ext cx="12191695" cy="2286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853440" y="921511"/>
            <a:ext cx="73152" cy="73152"/>
          </a:xfrm>
          <a:prstGeom prst="ellipse">
            <a:avLst/>
          </a:prstGeom>
          <a:solidFill>
            <a:srgbClr val="00B3A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36320" y="784352"/>
            <a:ext cx="10301935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>
                <a:solidFill>
                  <a:srgbClr val="16202A"/>
                </a:solidFill>
                <a:latin typeface="Inter, Arial, sans-serif"/>
              </a:rPr>
              <a:t>建議：S</a:t>
            </a:r>
            <a:r>
              <a:rPr sz="1400" b="1">
                <a:solidFill>
                  <a:srgbClr val="00599C"/>
                </a:solidFill>
                <a:latin typeface="Inter, Arial, sans-serif"/>
              </a:rPr>
              <a:t>3</a:t>
            </a:r>
            <a:r>
              <a:rPr sz="1400">
                <a:solidFill>
                  <a:srgbClr val="16202A"/>
                </a:solidFill>
                <a:latin typeface="Inter, Arial, sans-serif"/>
              </a:rPr>
              <a:t>+並行文件系統+本地 </a:t>
            </a:r>
            <a:r>
              <a:rPr sz="1400" b="1">
                <a:solidFill>
                  <a:srgbClr val="00599C"/>
                </a:solidFill>
                <a:latin typeface="Inter, Arial, sans-serif"/>
              </a:rPr>
              <a:t>NVMe cache</a:t>
            </a:r>
            <a:r>
              <a:rPr sz="1400">
                <a:solidFill>
                  <a:srgbClr val="16202A"/>
                </a:solidFill>
                <a:latin typeface="Inter, Arial, sans-serif"/>
              </a:rPr>
              <a:t> 組合用於訓練</a:t>
            </a:r>
          </a:p>
        </p:txBody>
      </p:sp>
      <p:sp>
        <p:nvSpPr>
          <p:cNvPr id="9" name="Oval 8"/>
          <p:cNvSpPr/>
          <p:nvPr/>
        </p:nvSpPr>
        <p:spPr>
          <a:xfrm>
            <a:off x="853440" y="1287271"/>
            <a:ext cx="73152" cy="73152"/>
          </a:xfrm>
          <a:prstGeom prst="ellipse">
            <a:avLst/>
          </a:prstGeom>
          <a:solidFill>
            <a:srgbClr val="00B3A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36320" y="1150112"/>
            <a:ext cx="10301935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>
                <a:solidFill>
                  <a:srgbClr val="16202A"/>
                </a:solidFill>
                <a:latin typeface="Inter, Arial, sans-serif"/>
              </a:rPr>
              <a:t>驗證點：緩存命中率、並行文件系統元數據擴展性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99160" y="3775456"/>
            <a:ext cx="2255443" cy="640080"/>
          </a:xfrm>
          <a:prstGeom prst="roundRect">
            <a:avLst/>
          </a:prstGeom>
          <a:solidFill>
            <a:srgbClr val="00599C"/>
          </a:solidFill>
          <a:ln w="19050">
            <a:solidFill>
              <a:srgbClr val="00599C"/>
            </a:solidFill>
          </a:ln>
          <a:effectLst>
            <a:outerShdw blurRad="76200" dist="25400" dir="5400000" algn="bl" rotWithShape="0">
              <a:srgbClr val="000000">
                <a:alpha val="2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000" b="1">
                <a:solidFill>
                  <a:srgbClr val="FFFFFF"/>
                </a:solidFill>
                <a:latin typeface="Inter, Arial, sans-serif"/>
              </a:rPr>
              <a:t>ObjectStorage</a:t>
            </a:r>
          </a:p>
        </p:txBody>
      </p:sp>
      <p:sp>
        <p:nvSpPr>
          <p:cNvPr id="12" name="Rectangle 11"/>
          <p:cNvSpPr/>
          <p:nvPr/>
        </p:nvSpPr>
        <p:spPr>
          <a:xfrm>
            <a:off x="3200323" y="4081780"/>
            <a:ext cx="320040" cy="27432"/>
          </a:xfrm>
          <a:prstGeom prst="rect">
            <a:avLst/>
          </a:prstGeom>
          <a:solidFill>
            <a:srgbClr val="42505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Isosceles Triangle 12"/>
          <p:cNvSpPr/>
          <p:nvPr/>
        </p:nvSpPr>
        <p:spPr>
          <a:xfrm rot="5400000">
            <a:off x="3474643" y="4040632"/>
            <a:ext cx="109728" cy="109728"/>
          </a:xfrm>
          <a:prstGeom prst="triangle">
            <a:avLst/>
          </a:prstGeom>
          <a:solidFill>
            <a:srgbClr val="42505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3611803" y="3775456"/>
            <a:ext cx="2255443" cy="640080"/>
          </a:xfrm>
          <a:prstGeom prst="roundRect">
            <a:avLst/>
          </a:prstGeom>
          <a:solidFill>
            <a:srgbClr val="00B3A4"/>
          </a:solidFill>
          <a:ln w="19050">
            <a:solidFill>
              <a:srgbClr val="00B3A4"/>
            </a:solidFill>
          </a:ln>
          <a:effectLst>
            <a:outerShdw blurRad="76200" dist="25400" dir="5400000" algn="bl" rotWithShape="0">
              <a:srgbClr val="000000">
                <a:alpha val="2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000" b="1">
                <a:solidFill>
                  <a:srgbClr val="FFFFFF"/>
                </a:solidFill>
                <a:latin typeface="Inter, Arial, sans-serif"/>
              </a:rPr>
              <a:t>Alluxio/Local NVMe Cache</a:t>
            </a:r>
          </a:p>
        </p:txBody>
      </p:sp>
      <p:sp>
        <p:nvSpPr>
          <p:cNvPr id="15" name="Rectangle 14"/>
          <p:cNvSpPr/>
          <p:nvPr/>
        </p:nvSpPr>
        <p:spPr>
          <a:xfrm>
            <a:off x="5912967" y="4081780"/>
            <a:ext cx="320040" cy="27432"/>
          </a:xfrm>
          <a:prstGeom prst="rect">
            <a:avLst/>
          </a:prstGeom>
          <a:solidFill>
            <a:srgbClr val="42505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Isosceles Triangle 15"/>
          <p:cNvSpPr/>
          <p:nvPr/>
        </p:nvSpPr>
        <p:spPr>
          <a:xfrm rot="5400000">
            <a:off x="6187287" y="4040632"/>
            <a:ext cx="109728" cy="109728"/>
          </a:xfrm>
          <a:prstGeom prst="triangle">
            <a:avLst/>
          </a:prstGeom>
          <a:solidFill>
            <a:srgbClr val="42505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ounded Rectangle 16"/>
          <p:cNvSpPr/>
          <p:nvPr/>
        </p:nvSpPr>
        <p:spPr>
          <a:xfrm>
            <a:off x="6324447" y="3775456"/>
            <a:ext cx="2255443" cy="640080"/>
          </a:xfrm>
          <a:prstGeom prst="roundRect">
            <a:avLst/>
          </a:prstGeom>
          <a:solidFill>
            <a:srgbClr val="FFD100"/>
          </a:solidFill>
          <a:ln w="19050">
            <a:solidFill>
              <a:srgbClr val="FFD100"/>
            </a:solidFill>
          </a:ln>
          <a:effectLst>
            <a:outerShdw blurRad="76200" dist="25400" dir="5400000" algn="bl" rotWithShape="0">
              <a:srgbClr val="000000">
                <a:alpha val="2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000" b="1">
                <a:solidFill>
                  <a:srgbClr val="FFFFFF"/>
                </a:solidFill>
                <a:latin typeface="Inter, Arial, sans-serif"/>
              </a:rPr>
              <a:t>ParallelFS</a:t>
            </a:r>
          </a:p>
        </p:txBody>
      </p:sp>
      <p:sp>
        <p:nvSpPr>
          <p:cNvPr id="18" name="Rectangle 17"/>
          <p:cNvSpPr/>
          <p:nvPr/>
        </p:nvSpPr>
        <p:spPr>
          <a:xfrm>
            <a:off x="8625611" y="4081780"/>
            <a:ext cx="320040" cy="27432"/>
          </a:xfrm>
          <a:prstGeom prst="rect">
            <a:avLst/>
          </a:prstGeom>
          <a:solidFill>
            <a:srgbClr val="42505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Isosceles Triangle 18"/>
          <p:cNvSpPr/>
          <p:nvPr/>
        </p:nvSpPr>
        <p:spPr>
          <a:xfrm rot="5400000">
            <a:off x="8899931" y="4040632"/>
            <a:ext cx="109728" cy="109728"/>
          </a:xfrm>
          <a:prstGeom prst="triangle">
            <a:avLst/>
          </a:prstGeom>
          <a:solidFill>
            <a:srgbClr val="42505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ounded Rectangle 19"/>
          <p:cNvSpPr/>
          <p:nvPr/>
        </p:nvSpPr>
        <p:spPr>
          <a:xfrm>
            <a:off x="9037091" y="3775456"/>
            <a:ext cx="2255443" cy="640080"/>
          </a:xfrm>
          <a:prstGeom prst="roundRect">
            <a:avLst/>
          </a:prstGeom>
          <a:solidFill>
            <a:srgbClr val="7F8DA6"/>
          </a:solidFill>
          <a:ln w="19050">
            <a:solidFill>
              <a:srgbClr val="7F8DA6"/>
            </a:solidFill>
          </a:ln>
          <a:effectLst>
            <a:outerShdw blurRad="76200" dist="25400" dir="5400000" algn="bl" rotWithShape="0">
              <a:srgbClr val="000000">
                <a:alpha val="2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000" b="1">
                <a:solidFill>
                  <a:srgbClr val="FFFFFF"/>
                </a:solidFill>
                <a:latin typeface="Inter, Arial, sans-serif"/>
              </a:rPr>
              <a:t>Compute</a:t>
            </a:r>
          </a:p>
        </p:txBody>
      </p:sp>
      <p:sp>
        <p:nvSpPr>
          <p:cNvPr id="21" name="Rectangle 20"/>
          <p:cNvSpPr/>
          <p:nvPr/>
        </p:nvSpPr>
        <p:spPr>
          <a:xfrm>
            <a:off x="0" y="6629400"/>
            <a:ext cx="12191695" cy="228600"/>
          </a:xfrm>
          <a:prstGeom prst="rect">
            <a:avLst/>
          </a:prstGeom>
          <a:solidFill>
            <a:srgbClr val="E8ED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762000" y="6656832"/>
            <a:ext cx="2743200" cy="173736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r>
              <a:rPr sz="1000" b="1">
                <a:solidFill>
                  <a:srgbClr val="00B3A4"/>
                </a:solidFill>
              </a:rPr>
              <a:t>面向 AI 的存储演进</a:t>
            </a:r>
          </a:p>
        </p:txBody>
      </p:sp>
      <p:sp>
        <p:nvSpPr>
          <p:cNvPr id="23" name="Rectangle 22"/>
          <p:cNvSpPr/>
          <p:nvPr/>
        </p:nvSpPr>
        <p:spPr>
          <a:xfrm>
            <a:off x="4742535" y="6716268"/>
            <a:ext cx="355309" cy="54864"/>
          </a:xfrm>
          <a:prstGeom prst="rect">
            <a:avLst/>
          </a:prstGeom>
          <a:solidFill>
            <a:srgbClr val="00B3A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5134421" y="6716268"/>
            <a:ext cx="355309" cy="54864"/>
          </a:xfrm>
          <a:prstGeom prst="rect">
            <a:avLst/>
          </a:prstGeom>
          <a:solidFill>
            <a:srgbClr val="00B3A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5526307" y="6716268"/>
            <a:ext cx="355309" cy="54864"/>
          </a:xfrm>
          <a:prstGeom prst="rect">
            <a:avLst/>
          </a:prstGeom>
          <a:solidFill>
            <a:srgbClr val="00B3A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5918192" y="6716268"/>
            <a:ext cx="355309" cy="54864"/>
          </a:xfrm>
          <a:prstGeom prst="rect">
            <a:avLst/>
          </a:prstGeom>
          <a:solidFill>
            <a:srgbClr val="00B3A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6310078" y="6716268"/>
            <a:ext cx="355309" cy="54864"/>
          </a:xfrm>
          <a:prstGeom prst="rect">
            <a:avLst/>
          </a:prstGeom>
          <a:solidFill>
            <a:srgbClr val="00B3A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6701964" y="6716268"/>
            <a:ext cx="355309" cy="54864"/>
          </a:xfrm>
          <a:prstGeom prst="rect">
            <a:avLst/>
          </a:prstGeom>
          <a:solidFill>
            <a:srgbClr val="72808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7093849" y="6716268"/>
            <a:ext cx="355309" cy="54864"/>
          </a:xfrm>
          <a:prstGeom prst="rect">
            <a:avLst/>
          </a:prstGeom>
          <a:solidFill>
            <a:srgbClr val="72808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10058095" y="6656832"/>
            <a:ext cx="1371600" cy="173736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r"/>
            <a:r>
              <a:rPr sz="1000">
                <a:solidFill>
                  <a:srgbClr val="42505D"/>
                </a:solidFill>
              </a:rPr>
              <a:t>18 / 23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D1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676400" y="1920240"/>
            <a:ext cx="8838895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800" b="1">
                <a:solidFill>
                  <a:srgbClr val="3A2F00"/>
                </a:solidFill>
                <a:latin typeface="Inter, Arial, sans-serif"/>
              </a:rPr>
              <a:t>安全、可靠性與數據治理</a:t>
            </a:r>
          </a:p>
        </p:txBody>
      </p:sp>
      <p:sp>
        <p:nvSpPr>
          <p:cNvPr id="3" name="Rectangle 2"/>
          <p:cNvSpPr/>
          <p:nvPr/>
        </p:nvSpPr>
        <p:spPr>
          <a:xfrm>
            <a:off x="5181447" y="2743200"/>
            <a:ext cx="1828800" cy="27432"/>
          </a:xfrm>
          <a:prstGeom prst="rect">
            <a:avLst/>
          </a:prstGeom>
          <a:solidFill>
            <a:srgbClr val="3A2F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133600" y="3086100"/>
            <a:ext cx="7924495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>
                <a:solidFill>
                  <a:srgbClr val="3A2F00"/>
                </a:solidFill>
              </a:rPr>
              <a:t>加密、审计、合规策略与灾备设计</a:t>
            </a:r>
          </a:p>
        </p:txBody>
      </p:sp>
      <p:sp>
        <p:nvSpPr>
          <p:cNvPr id="5" name="Rectangle 4"/>
          <p:cNvSpPr/>
          <p:nvPr/>
        </p:nvSpPr>
        <p:spPr>
          <a:xfrm>
            <a:off x="4751679" y="5349240"/>
            <a:ext cx="337021" cy="73152"/>
          </a:xfrm>
          <a:prstGeom prst="rect">
            <a:avLst/>
          </a:prstGeom>
          <a:solidFill>
            <a:srgbClr val="3A2F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5143565" y="5349240"/>
            <a:ext cx="337021" cy="73152"/>
          </a:xfrm>
          <a:prstGeom prst="rect">
            <a:avLst/>
          </a:prstGeom>
          <a:solidFill>
            <a:srgbClr val="3A2F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5535451" y="5349240"/>
            <a:ext cx="337021" cy="73152"/>
          </a:xfrm>
          <a:prstGeom prst="rect">
            <a:avLst/>
          </a:prstGeom>
          <a:solidFill>
            <a:srgbClr val="3A2F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5927336" y="5349240"/>
            <a:ext cx="337021" cy="73152"/>
          </a:xfrm>
          <a:prstGeom prst="rect">
            <a:avLst/>
          </a:prstGeom>
          <a:solidFill>
            <a:srgbClr val="3A2F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6319222" y="5349240"/>
            <a:ext cx="337021" cy="73152"/>
          </a:xfrm>
          <a:prstGeom prst="rect">
            <a:avLst/>
          </a:prstGeom>
          <a:solidFill>
            <a:srgbClr val="3A2F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6711108" y="5349240"/>
            <a:ext cx="337021" cy="73152"/>
          </a:xfrm>
          <a:prstGeom prst="rect">
            <a:avLst/>
          </a:prstGeom>
          <a:solidFill>
            <a:srgbClr val="3A2F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7102993" y="5349240"/>
            <a:ext cx="337021" cy="73152"/>
          </a:xfrm>
          <a:prstGeom prst="rect">
            <a:avLst/>
          </a:prstGeom>
          <a:solidFill>
            <a:srgbClr val="E8ED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83184"/>
          </a:xfrm>
          <a:prstGeom prst="rect">
            <a:avLst/>
          </a:prstGeom>
          <a:solidFill>
            <a:srgbClr val="FFD1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62000" y="54864"/>
            <a:ext cx="365760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 b="1">
                <a:solidFill>
                  <a:srgbClr val="3A2F00"/>
                </a:solidFill>
                <a:latin typeface="Inter, Arial, sans-serif"/>
              </a:rPr>
              <a:t>Section S5 · 安全与治理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62000" y="201168"/>
            <a:ext cx="9753295" cy="3362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000" b="1">
                <a:solidFill>
                  <a:srgbClr val="3A2F00"/>
                </a:solidFill>
                <a:latin typeface="Inter, Arial, sans-serif"/>
              </a:rPr>
              <a:t>安全實踐與工程風險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277295" y="201168"/>
            <a:ext cx="6400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 b="1">
                <a:solidFill>
                  <a:srgbClr val="3A2F00"/>
                </a:solidFill>
                <a:latin typeface="Inter, Arial, sans-serif"/>
              </a:rPr>
              <a:t>20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560324"/>
            <a:ext cx="12191695" cy="22860"/>
          </a:xfrm>
          <a:prstGeom prst="rect">
            <a:avLst/>
          </a:prstGeom>
          <a:solidFill>
            <a:srgbClr val="3A2F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853440" y="999236"/>
            <a:ext cx="73152" cy="73152"/>
          </a:xfrm>
          <a:prstGeom prst="ellipse">
            <a:avLst/>
          </a:prstGeom>
          <a:solidFill>
            <a:srgbClr val="FFD1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36320" y="830072"/>
            <a:ext cx="10301935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sz="1400">
                <a:solidFill>
                  <a:srgbClr val="16202A"/>
                </a:solidFill>
                <a:latin typeface="Inter, Arial, sans-serif"/>
              </a:rPr>
              <a:t>不可變備份 + 快照流水線為防勒索核心</a:t>
            </a:r>
          </a:p>
        </p:txBody>
      </p:sp>
      <p:sp>
        <p:nvSpPr>
          <p:cNvPr id="9" name="Oval 8"/>
          <p:cNvSpPr/>
          <p:nvPr/>
        </p:nvSpPr>
        <p:spPr>
          <a:xfrm>
            <a:off x="853440" y="1438148"/>
            <a:ext cx="73152" cy="73152"/>
          </a:xfrm>
          <a:prstGeom prst="ellipse">
            <a:avLst/>
          </a:prstGeom>
          <a:solidFill>
            <a:srgbClr val="FFD1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36320" y="1268984"/>
            <a:ext cx="10301935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sz="1400">
                <a:solidFill>
                  <a:srgbClr val="16202A"/>
                </a:solidFill>
                <a:latin typeface="Inter, Arial, sans-serif"/>
              </a:rPr>
              <a:t>合規：跨境傳輸策略與審計追蹤</a:t>
            </a:r>
          </a:p>
        </p:txBody>
      </p:sp>
      <p:sp>
        <p:nvSpPr>
          <p:cNvPr id="11" name="Oval 10"/>
          <p:cNvSpPr/>
          <p:nvPr/>
        </p:nvSpPr>
        <p:spPr>
          <a:xfrm>
            <a:off x="853440" y="1877059"/>
            <a:ext cx="73152" cy="73152"/>
          </a:xfrm>
          <a:prstGeom prst="ellipse">
            <a:avLst/>
          </a:prstGeom>
          <a:solidFill>
            <a:srgbClr val="FFD1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036320" y="1707896"/>
            <a:ext cx="10301935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sz="1400">
                <a:solidFill>
                  <a:srgbClr val="16202A"/>
                </a:solidFill>
                <a:latin typeface="Inter, Arial, sans-serif"/>
              </a:rPr>
              <a:t>運營：恢復演練與備份窗口成本需要權衡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53440" y="2283968"/>
            <a:ext cx="2935748" cy="347472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r>
              <a:rPr sz="1200" b="1">
                <a:solidFill>
                  <a:srgbClr val="16202A"/>
                </a:solidFill>
              </a:rPr>
              <a:t>风险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789188" y="2283968"/>
            <a:ext cx="1048481" cy="347472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r>
              <a:rPr sz="1200" b="1">
                <a:solidFill>
                  <a:srgbClr val="16202A"/>
                </a:solidFill>
              </a:rPr>
              <a:t>概率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837669" y="2283968"/>
            <a:ext cx="1048481" cy="347472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r>
              <a:rPr sz="1200" b="1">
                <a:solidFill>
                  <a:srgbClr val="16202A"/>
                </a:solidFill>
              </a:rPr>
              <a:t>影响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886151" y="2283968"/>
            <a:ext cx="5452103" cy="347472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r>
              <a:rPr sz="1200" b="1">
                <a:solidFill>
                  <a:srgbClr val="16202A"/>
                </a:solidFill>
              </a:rPr>
              <a:t>缓解措施</a:t>
            </a:r>
          </a:p>
        </p:txBody>
      </p:sp>
      <p:sp>
        <p:nvSpPr>
          <p:cNvPr id="17" name="Rectangle 16"/>
          <p:cNvSpPr/>
          <p:nvPr/>
        </p:nvSpPr>
        <p:spPr>
          <a:xfrm>
            <a:off x="853440" y="2613152"/>
            <a:ext cx="10484815" cy="25400"/>
          </a:xfrm>
          <a:prstGeom prst="rect">
            <a:avLst/>
          </a:prstGeom>
          <a:solidFill>
            <a:srgbClr val="00599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53440" y="2631440"/>
            <a:ext cx="2935748" cy="34747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1100">
                <a:solidFill>
                  <a:srgbClr val="16202A"/>
                </a:solidFill>
              </a:rPr>
              <a:t>⚠️ 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789188" y="2631440"/>
            <a:ext cx="1048481" cy="34747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1100" b="1">
                <a:solidFill>
                  <a:srgbClr val="BA1A1A"/>
                </a:solidFill>
              </a:rPr>
              <a:t>高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837669" y="2631440"/>
            <a:ext cx="1048481" cy="34747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1100" b="1">
                <a:solidFill>
                  <a:srgbClr val="BA1A1A"/>
                </a:solidFill>
              </a:rPr>
              <a:t>高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886151" y="2631440"/>
            <a:ext cx="5452103" cy="34747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1100">
                <a:solidFill>
                  <a:srgbClr val="16202A"/>
                </a:solidFill>
              </a:rPr>
              <a:t>按区域分级部署 + 合规审计自动化</a:t>
            </a:r>
          </a:p>
        </p:txBody>
      </p:sp>
      <p:sp>
        <p:nvSpPr>
          <p:cNvPr id="22" name="Rectangle 21"/>
          <p:cNvSpPr/>
          <p:nvPr/>
        </p:nvSpPr>
        <p:spPr>
          <a:xfrm>
            <a:off x="853440" y="2978912"/>
            <a:ext cx="10484815" cy="347472"/>
          </a:xfrm>
          <a:prstGeom prst="rect">
            <a:avLst/>
          </a:prstGeom>
          <a:solidFill>
            <a:srgbClr val="E8ED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853440" y="2978912"/>
            <a:ext cx="2935748" cy="34747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1100">
                <a:solidFill>
                  <a:srgbClr val="16202A"/>
                </a:solidFill>
              </a:rPr>
              <a:t>⚠️ 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3789188" y="2978912"/>
            <a:ext cx="1048481" cy="34747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1100" b="1">
                <a:solidFill>
                  <a:srgbClr val="FFD100"/>
                </a:solidFill>
              </a:rPr>
              <a:t>中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837669" y="2978912"/>
            <a:ext cx="1048481" cy="34747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1100" b="1">
                <a:solidFill>
                  <a:srgbClr val="FFD100"/>
                </a:solidFill>
              </a:rPr>
              <a:t>中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886151" y="2978912"/>
            <a:ext cx="5452103" cy="34747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1100">
                <a:solidFill>
                  <a:srgbClr val="16202A"/>
                </a:solidFill>
              </a:rPr>
              <a:t>分层存储 + 冷热数据分级 + 成本监控告警</a:t>
            </a:r>
          </a:p>
        </p:txBody>
      </p:sp>
      <p:sp>
        <p:nvSpPr>
          <p:cNvPr id="27" name="Rectangle 26"/>
          <p:cNvSpPr/>
          <p:nvPr/>
        </p:nvSpPr>
        <p:spPr>
          <a:xfrm>
            <a:off x="0" y="6629400"/>
            <a:ext cx="12191695" cy="228600"/>
          </a:xfrm>
          <a:prstGeom prst="rect">
            <a:avLst/>
          </a:prstGeom>
          <a:solidFill>
            <a:srgbClr val="E8ED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762000" y="6656832"/>
            <a:ext cx="2743200" cy="173736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r>
              <a:rPr sz="1000" b="1">
                <a:solidFill>
                  <a:srgbClr val="FFD100"/>
                </a:solidFill>
              </a:rPr>
              <a:t>安全与治理</a:t>
            </a:r>
          </a:p>
        </p:txBody>
      </p:sp>
      <p:sp>
        <p:nvSpPr>
          <p:cNvPr id="29" name="Rectangle 28"/>
          <p:cNvSpPr/>
          <p:nvPr/>
        </p:nvSpPr>
        <p:spPr>
          <a:xfrm>
            <a:off x="4742535" y="6716268"/>
            <a:ext cx="355309" cy="54864"/>
          </a:xfrm>
          <a:prstGeom prst="rect">
            <a:avLst/>
          </a:prstGeom>
          <a:solidFill>
            <a:srgbClr val="FFD1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5134421" y="6716268"/>
            <a:ext cx="355309" cy="54864"/>
          </a:xfrm>
          <a:prstGeom prst="rect">
            <a:avLst/>
          </a:prstGeom>
          <a:solidFill>
            <a:srgbClr val="FFD1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5526307" y="6716268"/>
            <a:ext cx="355309" cy="54864"/>
          </a:xfrm>
          <a:prstGeom prst="rect">
            <a:avLst/>
          </a:prstGeom>
          <a:solidFill>
            <a:srgbClr val="FFD1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5918192" y="6716268"/>
            <a:ext cx="355309" cy="54864"/>
          </a:xfrm>
          <a:prstGeom prst="rect">
            <a:avLst/>
          </a:prstGeom>
          <a:solidFill>
            <a:srgbClr val="FFD1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6310078" y="6716268"/>
            <a:ext cx="355309" cy="54864"/>
          </a:xfrm>
          <a:prstGeom prst="rect">
            <a:avLst/>
          </a:prstGeom>
          <a:solidFill>
            <a:srgbClr val="FFD1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ectangle 33"/>
          <p:cNvSpPr/>
          <p:nvPr/>
        </p:nvSpPr>
        <p:spPr>
          <a:xfrm>
            <a:off x="6701964" y="6716268"/>
            <a:ext cx="355309" cy="54864"/>
          </a:xfrm>
          <a:prstGeom prst="rect">
            <a:avLst/>
          </a:prstGeom>
          <a:solidFill>
            <a:srgbClr val="FFD1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ectangle 34"/>
          <p:cNvSpPr/>
          <p:nvPr/>
        </p:nvSpPr>
        <p:spPr>
          <a:xfrm>
            <a:off x="7093849" y="6716268"/>
            <a:ext cx="355309" cy="54864"/>
          </a:xfrm>
          <a:prstGeom prst="rect">
            <a:avLst/>
          </a:prstGeom>
          <a:solidFill>
            <a:srgbClr val="72808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10058095" y="6656832"/>
            <a:ext cx="1371600" cy="173736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r"/>
            <a:r>
              <a:rPr sz="1000">
                <a:solidFill>
                  <a:srgbClr val="42505D"/>
                </a:solidFill>
              </a:rPr>
              <a:t>20 / 23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599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676400" y="1920240"/>
            <a:ext cx="8838895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800" b="1">
                <a:solidFill>
                  <a:srgbClr val="FFFFFF"/>
                </a:solidFill>
                <a:latin typeface="Inter, Arial, sans-serif"/>
              </a:rPr>
              <a:t>廠商案例研究</a:t>
            </a:r>
          </a:p>
        </p:txBody>
      </p:sp>
      <p:sp>
        <p:nvSpPr>
          <p:cNvPr id="3" name="Rectangle 2"/>
          <p:cNvSpPr/>
          <p:nvPr/>
        </p:nvSpPr>
        <p:spPr>
          <a:xfrm>
            <a:off x="5181447" y="2743200"/>
            <a:ext cx="1828800" cy="2743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133600" y="3086100"/>
            <a:ext cx="792449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i="1">
                <a:solidFill>
                  <a:srgbClr val="FFFFFF"/>
                </a:solidFill>
                <a:latin typeface="Inter, Arial, sans-serif"/>
              </a:rPr>
              <a:t>每家一頁要點化展示架構亮點、試點建議與風險</a:t>
            </a:r>
          </a:p>
        </p:txBody>
      </p:sp>
      <p:sp>
        <p:nvSpPr>
          <p:cNvPr id="5" name="Rectangle 4"/>
          <p:cNvSpPr/>
          <p:nvPr/>
        </p:nvSpPr>
        <p:spPr>
          <a:xfrm>
            <a:off x="4751679" y="5349240"/>
            <a:ext cx="337021" cy="7315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5143565" y="5349240"/>
            <a:ext cx="337021" cy="7315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5535451" y="5349240"/>
            <a:ext cx="337021" cy="7315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5927336" y="5349240"/>
            <a:ext cx="337021" cy="7315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6319222" y="5349240"/>
            <a:ext cx="337021" cy="7315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6711108" y="5349240"/>
            <a:ext cx="337021" cy="7315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7102993" y="5349240"/>
            <a:ext cx="337021" cy="7315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83184"/>
          </a:xfrm>
          <a:prstGeom prst="rect">
            <a:avLst/>
          </a:prstGeom>
          <a:solidFill>
            <a:srgbClr val="00599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62000" y="54864"/>
            <a:ext cx="365760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 b="1">
                <a:solidFill>
                  <a:srgbClr val="FFFFFF"/>
                </a:solidFill>
                <a:latin typeface="Inter, Arial, sans-serif"/>
              </a:rPr>
              <a:t>Section S6 · 厂商案例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62000" y="201168"/>
            <a:ext cx="9753295" cy="3362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000" b="1">
                <a:solidFill>
                  <a:srgbClr val="FFFFFF"/>
                </a:solidFill>
                <a:latin typeface="Inter, Arial, sans-serif"/>
              </a:rPr>
              <a:t>国际厂商案例：AWS vs Dell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277295" y="201168"/>
            <a:ext cx="6400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 b="1">
                <a:solidFill>
                  <a:srgbClr val="FFFFFF"/>
                </a:solidFill>
                <a:latin typeface="Inter, Arial, sans-serif"/>
              </a:rPr>
              <a:t>22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560324"/>
            <a:ext cx="12191695" cy="2286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762000" y="830072"/>
            <a:ext cx="5265267" cy="2533903"/>
          </a:xfrm>
          <a:prstGeom prst="roundRect">
            <a:avLst/>
          </a:prstGeom>
          <a:solidFill>
            <a:srgbClr val="E8EDF2"/>
          </a:solidFill>
          <a:ln>
            <a:noFill/>
          </a:ln>
          <a:effectLst>
            <a:outerShdw blurRad="76200" dist="25400" dir="5400000" algn="bl" rotWithShape="0">
              <a:srgbClr val="000000">
                <a:alpha val="2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62000" y="830072"/>
            <a:ext cx="5265267" cy="45720"/>
          </a:xfrm>
          <a:prstGeom prst="rect">
            <a:avLst/>
          </a:prstGeom>
          <a:solidFill>
            <a:srgbClr val="00599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71728" y="939799"/>
            <a:ext cx="5045811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800" b="1">
                <a:solidFill>
                  <a:srgbClr val="00599C"/>
                </a:solidFill>
                <a:latin typeface="Inter, Arial, sans-serif"/>
              </a:rPr>
              <a:t>AWS 架构</a:t>
            </a:r>
          </a:p>
        </p:txBody>
      </p:sp>
      <p:sp>
        <p:nvSpPr>
          <p:cNvPr id="10" name="Rectangle 9"/>
          <p:cNvSpPr/>
          <p:nvPr/>
        </p:nvSpPr>
        <p:spPr>
          <a:xfrm>
            <a:off x="871728" y="1287272"/>
            <a:ext cx="5045811" cy="18288"/>
          </a:xfrm>
          <a:prstGeom prst="rect">
            <a:avLst/>
          </a:prstGeom>
          <a:solidFill>
            <a:srgbClr val="00599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71728" y="1332992"/>
            <a:ext cx="5045811" cy="193954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sz="1400">
                <a:solidFill>
                  <a:srgbClr val="16202A"/>
                </a:solidFill>
              </a:rPr>
              <a:t>亮点: S3 + EBS + 本地 NVMe 实例
场景: 训练/高并发 DB
备注: 快照与跨区复制生态成熟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164427" y="830072"/>
            <a:ext cx="5265267" cy="2533903"/>
          </a:xfrm>
          <a:prstGeom prst="roundRect">
            <a:avLst/>
          </a:prstGeom>
          <a:solidFill>
            <a:srgbClr val="D0E4F5"/>
          </a:solidFill>
          <a:ln>
            <a:noFill/>
          </a:ln>
          <a:effectLst>
            <a:outerShdw blurRad="76200" dist="25400" dir="5400000" algn="bl" rotWithShape="0">
              <a:srgbClr val="000000">
                <a:alpha val="2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164427" y="830072"/>
            <a:ext cx="5265267" cy="45720"/>
          </a:xfrm>
          <a:prstGeom prst="rect">
            <a:avLst/>
          </a:prstGeom>
          <a:solidFill>
            <a:srgbClr val="00B3A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274155" y="939799"/>
            <a:ext cx="5045811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800" b="1">
                <a:solidFill>
                  <a:srgbClr val="00599C"/>
                </a:solidFill>
                <a:latin typeface="Inter, Arial, sans-serif"/>
              </a:rPr>
              <a:t>AWS 试点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274155" y="1287272"/>
            <a:ext cx="5045811" cy="18288"/>
          </a:xfrm>
          <a:prstGeom prst="rect">
            <a:avLst/>
          </a:prstGeom>
          <a:solidFill>
            <a:srgbClr val="00B3A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274155" y="1332992"/>
            <a:ext cx="5045811" cy="193954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sz="1400">
                <a:solidFill>
                  <a:srgbClr val="16202A"/>
                </a:solidFill>
              </a:rPr>
              <a:t>建议: NVMe-oF 性能试点 + 快照/恢复成本评估
风险: 跨区流量成本
时间: 6–12 月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762000" y="3501135"/>
            <a:ext cx="5265267" cy="2533903"/>
          </a:xfrm>
          <a:prstGeom prst="roundRect">
            <a:avLst/>
          </a:prstGeom>
          <a:solidFill>
            <a:srgbClr val="D8DDE3"/>
          </a:solidFill>
          <a:ln>
            <a:noFill/>
          </a:ln>
          <a:effectLst>
            <a:outerShdw blurRad="76200" dist="25400" dir="5400000" algn="bl" rotWithShape="0">
              <a:srgbClr val="000000">
                <a:alpha val="2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762000" y="3501135"/>
            <a:ext cx="5265267" cy="45720"/>
          </a:xfrm>
          <a:prstGeom prst="rect">
            <a:avLst/>
          </a:prstGeom>
          <a:solidFill>
            <a:srgbClr val="FFD1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71728" y="3610863"/>
            <a:ext cx="5045811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800" b="1">
                <a:solidFill>
                  <a:srgbClr val="00599C"/>
                </a:solidFill>
                <a:latin typeface="Inter, Arial, sans-serif"/>
              </a:rPr>
              <a:t>Dell 架构</a:t>
            </a:r>
          </a:p>
        </p:txBody>
      </p:sp>
      <p:sp>
        <p:nvSpPr>
          <p:cNvPr id="20" name="Rectangle 19"/>
          <p:cNvSpPr/>
          <p:nvPr/>
        </p:nvSpPr>
        <p:spPr>
          <a:xfrm>
            <a:off x="871728" y="3958335"/>
            <a:ext cx="5045811" cy="18288"/>
          </a:xfrm>
          <a:prstGeom prst="rect">
            <a:avLst/>
          </a:prstGeom>
          <a:solidFill>
            <a:srgbClr val="FFD1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71728" y="4004055"/>
            <a:ext cx="5045811" cy="193954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sz="1400">
                <a:solidFill>
                  <a:srgbClr val="16202A"/>
                </a:solidFill>
              </a:rPr>
              <a:t>亮点: PowerMax / PowerScale NVMe 阵列
场景: 企业级事务与分析
备注: 端到端运维工具链成熟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164427" y="3501135"/>
            <a:ext cx="5265267" cy="2533903"/>
          </a:xfrm>
          <a:prstGeom prst="roundRect">
            <a:avLst/>
          </a:prstGeom>
          <a:solidFill>
            <a:srgbClr val="E8EDF2"/>
          </a:solidFill>
          <a:ln>
            <a:noFill/>
          </a:ln>
          <a:effectLst>
            <a:outerShdw blurRad="76200" dist="25400" dir="5400000" algn="bl" rotWithShape="0">
              <a:srgbClr val="000000">
                <a:alpha val="2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6164427" y="3501135"/>
            <a:ext cx="5265267" cy="45720"/>
          </a:xfrm>
          <a:prstGeom prst="rect">
            <a:avLst/>
          </a:prstGeom>
          <a:solidFill>
            <a:srgbClr val="7F8D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274155" y="3610863"/>
            <a:ext cx="5045811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800" b="1">
                <a:solidFill>
                  <a:srgbClr val="00599C"/>
                </a:solidFill>
                <a:latin typeface="Inter, Arial, sans-serif"/>
              </a:rPr>
              <a:t>Dell 试点</a:t>
            </a:r>
          </a:p>
        </p:txBody>
      </p:sp>
      <p:sp>
        <p:nvSpPr>
          <p:cNvPr id="25" name="Rectangle 24"/>
          <p:cNvSpPr/>
          <p:nvPr/>
        </p:nvSpPr>
        <p:spPr>
          <a:xfrm>
            <a:off x="6274155" y="3958335"/>
            <a:ext cx="5045811" cy="18288"/>
          </a:xfrm>
          <a:prstGeom prst="rect">
            <a:avLst/>
          </a:prstGeom>
          <a:solidFill>
            <a:srgbClr val="7F8D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6274155" y="4004055"/>
            <a:ext cx="5045811" cy="193954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sz="1400">
                <a:solidFill>
                  <a:srgbClr val="16202A"/>
                </a:solidFill>
              </a:rPr>
              <a:t>建议: 验证 NVMe 阵列性能 &amp; 快照恢复
风险: 高成本、运维资源需求
时间: 6–12 月</a:t>
            </a:r>
          </a:p>
        </p:txBody>
      </p:sp>
      <p:sp>
        <p:nvSpPr>
          <p:cNvPr id="27" name="Oval 26"/>
          <p:cNvSpPr/>
          <p:nvPr/>
        </p:nvSpPr>
        <p:spPr>
          <a:xfrm>
            <a:off x="853440" y="6295643"/>
            <a:ext cx="73152" cy="73152"/>
          </a:xfrm>
          <a:prstGeom prst="ellipse">
            <a:avLst/>
          </a:prstGeom>
          <a:solidFill>
            <a:srgbClr val="00599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1036320" y="6172199"/>
            <a:ext cx="10301935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>
                <a:solidFill>
                  <a:srgbClr val="16202A"/>
                </a:solidFill>
                <a:latin typeface="Inter, Arial, sans-serif"/>
              </a:rPr>
              <a:t>两家国际厂商的存储架构亮点与试点建议对比</a:t>
            </a:r>
          </a:p>
        </p:txBody>
      </p:sp>
      <p:sp>
        <p:nvSpPr>
          <p:cNvPr id="29" name="Rectangle 28"/>
          <p:cNvSpPr/>
          <p:nvPr/>
        </p:nvSpPr>
        <p:spPr>
          <a:xfrm>
            <a:off x="0" y="6629400"/>
            <a:ext cx="12191695" cy="228600"/>
          </a:xfrm>
          <a:prstGeom prst="rect">
            <a:avLst/>
          </a:prstGeom>
          <a:solidFill>
            <a:srgbClr val="E8ED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762000" y="6656832"/>
            <a:ext cx="2743200" cy="173736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r>
              <a:rPr sz="1000" b="1">
                <a:solidFill>
                  <a:srgbClr val="00599C"/>
                </a:solidFill>
              </a:rPr>
              <a:t>厂商案例</a:t>
            </a:r>
          </a:p>
        </p:txBody>
      </p:sp>
      <p:sp>
        <p:nvSpPr>
          <p:cNvPr id="31" name="Rectangle 30"/>
          <p:cNvSpPr/>
          <p:nvPr/>
        </p:nvSpPr>
        <p:spPr>
          <a:xfrm>
            <a:off x="4742535" y="6716268"/>
            <a:ext cx="355309" cy="54864"/>
          </a:xfrm>
          <a:prstGeom prst="rect">
            <a:avLst/>
          </a:prstGeom>
          <a:solidFill>
            <a:srgbClr val="00599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5134421" y="6716268"/>
            <a:ext cx="355309" cy="54864"/>
          </a:xfrm>
          <a:prstGeom prst="rect">
            <a:avLst/>
          </a:prstGeom>
          <a:solidFill>
            <a:srgbClr val="00599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5526307" y="6716268"/>
            <a:ext cx="355309" cy="54864"/>
          </a:xfrm>
          <a:prstGeom prst="rect">
            <a:avLst/>
          </a:prstGeom>
          <a:solidFill>
            <a:srgbClr val="00599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ectangle 33"/>
          <p:cNvSpPr/>
          <p:nvPr/>
        </p:nvSpPr>
        <p:spPr>
          <a:xfrm>
            <a:off x="5918192" y="6716268"/>
            <a:ext cx="355309" cy="54864"/>
          </a:xfrm>
          <a:prstGeom prst="rect">
            <a:avLst/>
          </a:prstGeom>
          <a:solidFill>
            <a:srgbClr val="00599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ectangle 34"/>
          <p:cNvSpPr/>
          <p:nvPr/>
        </p:nvSpPr>
        <p:spPr>
          <a:xfrm>
            <a:off x="6310078" y="6716268"/>
            <a:ext cx="355309" cy="54864"/>
          </a:xfrm>
          <a:prstGeom prst="rect">
            <a:avLst/>
          </a:prstGeom>
          <a:solidFill>
            <a:srgbClr val="00599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ectangle 35"/>
          <p:cNvSpPr/>
          <p:nvPr/>
        </p:nvSpPr>
        <p:spPr>
          <a:xfrm>
            <a:off x="6701964" y="6716268"/>
            <a:ext cx="355309" cy="54864"/>
          </a:xfrm>
          <a:prstGeom prst="rect">
            <a:avLst/>
          </a:prstGeom>
          <a:solidFill>
            <a:srgbClr val="00599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ectangle 36"/>
          <p:cNvSpPr/>
          <p:nvPr/>
        </p:nvSpPr>
        <p:spPr>
          <a:xfrm>
            <a:off x="7093849" y="6716268"/>
            <a:ext cx="355309" cy="54864"/>
          </a:xfrm>
          <a:prstGeom prst="rect">
            <a:avLst/>
          </a:prstGeom>
          <a:solidFill>
            <a:srgbClr val="00599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10058095" y="6656832"/>
            <a:ext cx="1371600" cy="173736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r"/>
            <a:r>
              <a:rPr sz="1000">
                <a:solidFill>
                  <a:srgbClr val="42505D"/>
                </a:solidFill>
              </a:rPr>
              <a:t>22 / 23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83184"/>
          </a:xfrm>
          <a:prstGeom prst="rect">
            <a:avLst/>
          </a:prstGeom>
          <a:solidFill>
            <a:srgbClr val="00599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62000" y="54864"/>
            <a:ext cx="365760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 b="1">
                <a:solidFill>
                  <a:srgbClr val="FFFFFF"/>
                </a:solidFill>
                <a:latin typeface="Inter, Arial, sans-serif"/>
              </a:rPr>
              <a:t>Section S6 · 厂商案例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62000" y="201168"/>
            <a:ext cx="9753295" cy="3362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000" b="1">
                <a:solidFill>
                  <a:srgbClr val="FFFFFF"/>
                </a:solidFill>
                <a:latin typeface="Inter, Arial, sans-serif"/>
              </a:rPr>
              <a:t>国内厂商案例：阿里云 vs 华为云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277295" y="201168"/>
            <a:ext cx="6400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 b="1">
                <a:solidFill>
                  <a:srgbClr val="FFFFFF"/>
                </a:solidFill>
                <a:latin typeface="Inter, Arial, sans-serif"/>
              </a:rPr>
              <a:t>23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560324"/>
            <a:ext cx="12191695" cy="2286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762000" y="830072"/>
            <a:ext cx="10667695" cy="1218945"/>
          </a:xfrm>
          <a:prstGeom prst="roundRect">
            <a:avLst/>
          </a:prstGeom>
          <a:solidFill>
            <a:srgbClr val="E8EDF2"/>
          </a:solidFill>
          <a:ln>
            <a:noFill/>
          </a:ln>
          <a:effectLst>
            <a:outerShdw blurRad="76200" dist="25400" dir="5400000" algn="bl" rotWithShape="0">
              <a:srgbClr val="000000">
                <a:alpha val="2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62000" y="830072"/>
            <a:ext cx="54864" cy="1218945"/>
          </a:xfrm>
          <a:prstGeom prst="rect">
            <a:avLst/>
          </a:prstGeom>
          <a:solidFill>
            <a:srgbClr val="00599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26591" y="903224"/>
            <a:ext cx="2066543" cy="1072641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1600" b="1">
                <a:solidFill>
                  <a:srgbClr val="00599C"/>
                </a:solidFill>
                <a:latin typeface="Inter, Arial, sans-serif"/>
              </a:rPr>
              <a:t>阿里云 架构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194304" y="884936"/>
            <a:ext cx="8125663" cy="1109217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lnSpc>
                <a:spcPct val="130000"/>
              </a:lnSpc>
            </a:pPr>
            <a:r>
              <a:rPr sz="1400">
                <a:solidFill>
                  <a:srgbClr val="16202A"/>
                </a:solidFill>
                <a:latin typeface="Inter, Arial, sans-serif"/>
              </a:rPr>
              <a:t>亮点: Pangu + SSD cache 分层</a:t>
            </a:r>
          </a:p>
          <a:p>
            <a:pPr>
              <a:lnSpc>
                <a:spcPct val="130000"/>
              </a:lnSpc>
            </a:pPr>
            <a:r>
              <a:rPr sz="1400">
                <a:solidFill>
                  <a:srgbClr val="16202A"/>
                </a:solidFill>
                <a:latin typeface="Inter, Arial, sans-serif"/>
              </a:rPr>
              <a:t>场景: 大规模分析/训练</a:t>
            </a:r>
          </a:p>
          <a:p>
            <a:pPr>
              <a:lnSpc>
                <a:spcPct val="130000"/>
              </a:lnSpc>
            </a:pPr>
            <a:r>
              <a:rPr sz="1400">
                <a:solidFill>
                  <a:srgbClr val="16202A"/>
                </a:solidFill>
                <a:latin typeface="Inter, Arial, sans-serif"/>
              </a:rPr>
              <a:t>备注: 元数据扩展性强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62000" y="2158745"/>
            <a:ext cx="10667695" cy="1218945"/>
          </a:xfrm>
          <a:prstGeom prst="roundRect">
            <a:avLst/>
          </a:prstGeom>
          <a:solidFill>
            <a:srgbClr val="D0E4F5"/>
          </a:solidFill>
          <a:ln>
            <a:noFill/>
          </a:ln>
          <a:effectLst>
            <a:outerShdw blurRad="76200" dist="25400" dir="5400000" algn="bl" rotWithShape="0">
              <a:srgbClr val="000000">
                <a:alpha val="2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762000" y="2158745"/>
            <a:ext cx="54864" cy="1218945"/>
          </a:xfrm>
          <a:prstGeom prst="rect">
            <a:avLst/>
          </a:prstGeom>
          <a:solidFill>
            <a:srgbClr val="00B3A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26591" y="2231897"/>
            <a:ext cx="2066543" cy="1072641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1600" b="1">
                <a:solidFill>
                  <a:srgbClr val="00599C"/>
                </a:solidFill>
                <a:latin typeface="Inter, Arial, sans-serif"/>
              </a:rPr>
              <a:t>阿里云 试点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194304" y="2213609"/>
            <a:ext cx="8125663" cy="1109217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lnSpc>
                <a:spcPct val="130000"/>
              </a:lnSpc>
            </a:pPr>
            <a:r>
              <a:rPr sz="1400">
                <a:solidFill>
                  <a:srgbClr val="16202A"/>
                </a:solidFill>
                <a:latin typeface="Inter, Arial, sans-serif"/>
              </a:rPr>
              <a:t>建议: 分层下沉成本验证 + 元数据扩展性试验</a:t>
            </a:r>
          </a:p>
          <a:p>
            <a:pPr>
              <a:lnSpc>
                <a:spcPct val="130000"/>
              </a:lnSpc>
            </a:pPr>
            <a:r>
              <a:rPr sz="1400">
                <a:solidFill>
                  <a:srgbClr val="16202A"/>
                </a:solidFill>
                <a:latin typeface="Inter, Arial, sans-serif"/>
              </a:rPr>
              <a:t>风险: 实现内部化优化难以外移</a:t>
            </a:r>
          </a:p>
          <a:p>
            <a:pPr>
              <a:lnSpc>
                <a:spcPct val="130000"/>
              </a:lnSpc>
            </a:pPr>
            <a:r>
              <a:rPr sz="1400">
                <a:solidFill>
                  <a:srgbClr val="16202A"/>
                </a:solidFill>
                <a:latin typeface="Inter, Arial, sans-serif"/>
              </a:rPr>
              <a:t>时间: 6–12 月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762000" y="3487419"/>
            <a:ext cx="10667695" cy="1218945"/>
          </a:xfrm>
          <a:prstGeom prst="roundRect">
            <a:avLst/>
          </a:prstGeom>
          <a:solidFill>
            <a:srgbClr val="D8DDE3"/>
          </a:solidFill>
          <a:ln>
            <a:noFill/>
          </a:ln>
          <a:effectLst>
            <a:outerShdw blurRad="76200" dist="25400" dir="5400000" algn="bl" rotWithShape="0">
              <a:srgbClr val="000000">
                <a:alpha val="2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762000" y="3487419"/>
            <a:ext cx="54864" cy="1218945"/>
          </a:xfrm>
          <a:prstGeom prst="rect">
            <a:avLst/>
          </a:prstGeom>
          <a:solidFill>
            <a:srgbClr val="FFD1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926591" y="3560571"/>
            <a:ext cx="2066543" cy="1072641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1600" b="1">
                <a:solidFill>
                  <a:srgbClr val="00599C"/>
                </a:solidFill>
                <a:latin typeface="Inter, Arial, sans-serif"/>
              </a:rPr>
              <a:t>华为云 架构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194304" y="3542283"/>
            <a:ext cx="8125663" cy="1109217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lnSpc>
                <a:spcPct val="130000"/>
              </a:lnSpc>
            </a:pPr>
            <a:r>
              <a:rPr sz="1400">
                <a:solidFill>
                  <a:srgbClr val="16202A"/>
                </a:solidFill>
                <a:latin typeface="Inter, Arial, sans-serif"/>
              </a:rPr>
              <a:t>亮点: PMem + NVMe 层 + CXL 试点</a:t>
            </a:r>
          </a:p>
          <a:p>
            <a:pPr>
              <a:lnSpc>
                <a:spcPct val="130000"/>
              </a:lnSpc>
            </a:pPr>
            <a:r>
              <a:rPr sz="1400">
                <a:solidFill>
                  <a:srgbClr val="16202A"/>
                </a:solidFill>
                <a:latin typeface="Inter, Arial, sans-serif"/>
              </a:rPr>
              <a:t>场景: 低延迟事务/大模型内存弹性</a:t>
            </a:r>
          </a:p>
          <a:p>
            <a:pPr>
              <a:lnSpc>
                <a:spcPct val="130000"/>
              </a:lnSpc>
            </a:pPr>
            <a:r>
              <a:rPr sz="1400">
                <a:solidFill>
                  <a:srgbClr val="16202A"/>
                </a:solidFill>
                <a:latin typeface="Inter, Arial, sans-serif"/>
              </a:rPr>
              <a:t>备注: 硬件协同优势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762000" y="4816093"/>
            <a:ext cx="10667695" cy="1218945"/>
          </a:xfrm>
          <a:prstGeom prst="roundRect">
            <a:avLst/>
          </a:prstGeom>
          <a:solidFill>
            <a:srgbClr val="E8EDF2"/>
          </a:solidFill>
          <a:ln>
            <a:noFill/>
          </a:ln>
          <a:effectLst>
            <a:outerShdw blurRad="76200" dist="25400" dir="5400000" algn="bl" rotWithShape="0">
              <a:srgbClr val="000000">
                <a:alpha val="2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762000" y="4816093"/>
            <a:ext cx="54864" cy="1218945"/>
          </a:xfrm>
          <a:prstGeom prst="rect">
            <a:avLst/>
          </a:prstGeom>
          <a:solidFill>
            <a:srgbClr val="7F8D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926591" y="4889245"/>
            <a:ext cx="2066543" cy="1072641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1600" b="1">
                <a:solidFill>
                  <a:srgbClr val="00599C"/>
                </a:solidFill>
                <a:latin typeface="Inter, Arial, sans-serif"/>
              </a:rPr>
              <a:t>华为云 试点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194304" y="4870957"/>
            <a:ext cx="8125663" cy="1109217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lnSpc>
                <a:spcPct val="130000"/>
              </a:lnSpc>
            </a:pPr>
            <a:r>
              <a:rPr sz="1400">
                <a:solidFill>
                  <a:srgbClr val="16202A"/>
                </a:solidFill>
                <a:latin typeface="Inter, Arial, sans-serif"/>
              </a:rPr>
              <a:t>建议: 在受控集群测试 PMem/CXL 可用性与回退策略</a:t>
            </a:r>
          </a:p>
          <a:p>
            <a:pPr>
              <a:lnSpc>
                <a:spcPct val="130000"/>
              </a:lnSpc>
            </a:pPr>
            <a:r>
              <a:rPr sz="1400">
                <a:solidFill>
                  <a:srgbClr val="16202A"/>
                </a:solidFill>
                <a:latin typeface="Inter, Arial, sans-serif"/>
              </a:rPr>
              <a:t>风险: 国际互操作与硬件支持</a:t>
            </a:r>
          </a:p>
          <a:p>
            <a:pPr>
              <a:lnSpc>
                <a:spcPct val="130000"/>
              </a:lnSpc>
            </a:pPr>
            <a:r>
              <a:rPr sz="1400">
                <a:solidFill>
                  <a:srgbClr val="16202A"/>
                </a:solidFill>
                <a:latin typeface="Inter, Arial, sans-serif"/>
              </a:rPr>
              <a:t>时间: 6–12 月</a:t>
            </a:r>
          </a:p>
        </p:txBody>
      </p:sp>
      <p:sp>
        <p:nvSpPr>
          <p:cNvPr id="23" name="Oval 22"/>
          <p:cNvSpPr/>
          <p:nvPr/>
        </p:nvSpPr>
        <p:spPr>
          <a:xfrm>
            <a:off x="853440" y="6268211"/>
            <a:ext cx="73152" cy="73152"/>
          </a:xfrm>
          <a:prstGeom prst="ellipse">
            <a:avLst/>
          </a:prstGeom>
          <a:solidFill>
            <a:srgbClr val="00599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1036320" y="6144767"/>
            <a:ext cx="10301935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>
                <a:solidFill>
                  <a:srgbClr val="16202A"/>
                </a:solidFill>
                <a:latin typeface="Inter, Arial, sans-serif"/>
              </a:rPr>
              <a:t>两家国内厂商的存储架构亮点与试点建议对比</a:t>
            </a:r>
          </a:p>
        </p:txBody>
      </p:sp>
      <p:sp>
        <p:nvSpPr>
          <p:cNvPr id="25" name="Rectangle 24"/>
          <p:cNvSpPr/>
          <p:nvPr/>
        </p:nvSpPr>
        <p:spPr>
          <a:xfrm>
            <a:off x="0" y="6629400"/>
            <a:ext cx="12191695" cy="228600"/>
          </a:xfrm>
          <a:prstGeom prst="rect">
            <a:avLst/>
          </a:prstGeom>
          <a:solidFill>
            <a:srgbClr val="E8ED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762000" y="6656832"/>
            <a:ext cx="2743200" cy="173736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r>
              <a:rPr sz="1000" b="1">
                <a:solidFill>
                  <a:srgbClr val="00599C"/>
                </a:solidFill>
              </a:rPr>
              <a:t>厂商案例</a:t>
            </a:r>
          </a:p>
        </p:txBody>
      </p:sp>
      <p:sp>
        <p:nvSpPr>
          <p:cNvPr id="27" name="Rectangle 26"/>
          <p:cNvSpPr/>
          <p:nvPr/>
        </p:nvSpPr>
        <p:spPr>
          <a:xfrm>
            <a:off x="4742535" y="6716268"/>
            <a:ext cx="355309" cy="54864"/>
          </a:xfrm>
          <a:prstGeom prst="rect">
            <a:avLst/>
          </a:prstGeom>
          <a:solidFill>
            <a:srgbClr val="00599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5134421" y="6716268"/>
            <a:ext cx="355309" cy="54864"/>
          </a:xfrm>
          <a:prstGeom prst="rect">
            <a:avLst/>
          </a:prstGeom>
          <a:solidFill>
            <a:srgbClr val="00599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5526307" y="6716268"/>
            <a:ext cx="355309" cy="54864"/>
          </a:xfrm>
          <a:prstGeom prst="rect">
            <a:avLst/>
          </a:prstGeom>
          <a:solidFill>
            <a:srgbClr val="00599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5918192" y="6716268"/>
            <a:ext cx="355309" cy="54864"/>
          </a:xfrm>
          <a:prstGeom prst="rect">
            <a:avLst/>
          </a:prstGeom>
          <a:solidFill>
            <a:srgbClr val="00599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6310078" y="6716268"/>
            <a:ext cx="355309" cy="54864"/>
          </a:xfrm>
          <a:prstGeom prst="rect">
            <a:avLst/>
          </a:prstGeom>
          <a:solidFill>
            <a:srgbClr val="00599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6701964" y="6716268"/>
            <a:ext cx="355309" cy="54864"/>
          </a:xfrm>
          <a:prstGeom prst="rect">
            <a:avLst/>
          </a:prstGeom>
          <a:solidFill>
            <a:srgbClr val="00599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7093849" y="6716268"/>
            <a:ext cx="355309" cy="54864"/>
          </a:xfrm>
          <a:prstGeom prst="rect">
            <a:avLst/>
          </a:prstGeom>
          <a:solidFill>
            <a:srgbClr val="00599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10058095" y="6656832"/>
            <a:ext cx="1371600" cy="173736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r"/>
            <a:r>
              <a:rPr sz="1000">
                <a:solidFill>
                  <a:srgbClr val="42505D"/>
                </a:solidFill>
              </a:rPr>
              <a:t>23 / 23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