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本次汇报聚焦 2023–2026 年间的技术与市场演进，并给出对企业/研究团队的短中长期建议。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 30 秒概括结论，后续每节用 2–3 要点支撑。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每条结论配一行关键证据来源（CSV/报告）。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本节展示市场规模、云/企业分布与媒体份额的量化证据。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指出数据来源 (IDC/SNIA) 与估算注记；建议在讲稿中说明不确定性边界。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討論網絡（RDMA vs NVMe/TCP）與互操作性風險。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強調 PMem 的工程約束和試點驗證點（斷電恢復、一致性驗證）。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本節概括 NVMe、PMem、CXL、Computational Storage 的適用場景與工程要點。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對比不同場景下的網絡/QoS/回退策略，建議小規模互操作試驗。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建議在受控集群進行 CXL pooling/遷移延遲測試並記錄故障模式。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強調需保留主機回退路徑並優先在受控場景試點。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本節展示對象存儲、並行文件系統與雲原生存儲插件的趨勢與取捨。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說明 CSI 成熟度與運維挑戰，提出分階段遷移建議。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對比表用於幫助架構選擇（按工作負載特徵決策）。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建議按業務關鍵性分級備份策略並把恢復演練納常態運維。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本節給出訓練/推理的 I/O 特徵與組合實踐建議。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強調分層緩存 + NVMe-oF 的組合價值，並指出經濟性驗證點。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給出 POC 驗證清單（緩存命中率、峰值帶寬、成本對比）。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討論加密、審計、合規策略與災備設計。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建議分級治理並把恢復演練納入 SLO。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每家一頁要點化展示架構亮點、試點建議與風險。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对比 AWS（云原生存储生态）与 Dell（企业级硬件）的差异化优势。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对比阿里云（软件分层）与华为云（硬件协同）的差异化策略。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99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76400" y="2057400"/>
            <a:ext cx="8838895" cy="703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Inter, Arial, sans-serif"/>
              </a:rPr>
              <a:t>存储行业前沿（2023–2026）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99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76400" y="2194560"/>
            <a:ext cx="8838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Inter, Arial, sans-serif"/>
              </a:rPr>
              <a:t>开场与关键结论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33600" y="3429000"/>
            <a:ext cx="7924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FFFFFF"/>
                </a:solidFill>
              </a:rPr>
              <a:t>存储行业进入“低延迟高带宽 + 智能分层 + 云原生整合”的过渡期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1679" y="4937759"/>
            <a:ext cx="337021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43565" y="4937759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35451" y="4937759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27336" y="4937759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19222" y="4937759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11108" y="4937759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02993" y="4937759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8318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4864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Inter, Arial, sans-serif"/>
              </a:rPr>
              <a:t>Section S0 · 开场与结论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1168"/>
            <a:ext cx="9753295" cy="336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Inter, Arial, sans-serif"/>
              </a:rPr>
              <a:t>关键结论与 KPIs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20116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Inter, Arial, sans-serif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3440" y="830072"/>
            <a:ext cx="104848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• 全球市场从 ~85 亿美元增长到 ~110 亿美元（2023→2026）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3440" y="1268984"/>
            <a:ext cx="104848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• NVMe、PMem、CXL 与云原生将主导未来 3 年创新路径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40" y="1707896"/>
            <a:ext cx="104848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• 中国市场受数据主权与合规驱动，本地化与混合云需求上升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3440" y="2283968"/>
            <a:ext cx="5173827" cy="777240"/>
          </a:xfrm>
          <a:prstGeom prst="roundRect">
            <a:avLst/>
          </a:prstGeom>
          <a:solidFill>
            <a:srgbClr val="D0E4F5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3440" y="2283968"/>
            <a:ext cx="5173827" cy="36576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3167" y="2375408"/>
            <a:ext cx="4954371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01D35"/>
                </a:solidFill>
                <a:latin typeface="Inter, Arial, sans-serif"/>
              </a:rPr>
              <a:t>110 USD Bn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3167" y="2759456"/>
            <a:ext cx="4954371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001D35"/>
                </a:solidFill>
              </a:rPr>
              <a:t>Global (2026)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4427" y="2283968"/>
            <a:ext cx="5173827" cy="777240"/>
          </a:xfrm>
          <a:prstGeom prst="roundRect">
            <a:avLst/>
          </a:prstGeom>
          <a:solidFill>
            <a:srgbClr val="D0E4F5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64427" y="2283968"/>
            <a:ext cx="5173827" cy="36576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4155" y="2375408"/>
            <a:ext cx="4954371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01D35"/>
                </a:solidFill>
                <a:latin typeface="Inter, Arial, sans-serif"/>
              </a:rPr>
              <a:t>40 USD Bn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4155" y="2759456"/>
            <a:ext cx="4954371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001D35"/>
                </a:solidFill>
              </a:rPr>
              <a:t>China (2026)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00" b="1">
                <a:solidFill>
                  <a:srgbClr val="00599C"/>
                </a:solidFill>
              </a:rPr>
              <a:t>开场与结论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42535" y="6716268"/>
            <a:ext cx="355309" cy="5486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34421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526307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18192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10078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701964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093849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>
                <a:solidFill>
                  <a:srgbClr val="42505D"/>
                </a:solidFill>
              </a:rPr>
              <a:t>3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99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76400" y="2194560"/>
            <a:ext cx="8838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Inter, Arial, sans-serif"/>
              </a:rPr>
              <a:t>市场与趋势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33600" y="3429000"/>
            <a:ext cx="7924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FFFFFF"/>
                </a:solidFill>
              </a:rPr>
              <a:t>市场规模、云/企业分布与媒体份额的量化证据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1679" y="4937759"/>
            <a:ext cx="337021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43565" y="4937759"/>
            <a:ext cx="337021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35451" y="4937759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27336" y="4937759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19222" y="4937759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11108" y="4937759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02993" y="4937759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83184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4864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Inter, Arial, sans-serif"/>
              </a:rPr>
              <a:t>Section S1 · 市场与趋势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1168"/>
            <a:ext cx="9753295" cy="336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Inter, Arial, sans-serif"/>
              </a:rPr>
              <a:t>市场规模：全球 vs 中国 (2023–2026)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20116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Inter, Arial, sans-serif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784352"/>
            <a:ext cx="2597867" cy="777240"/>
          </a:xfrm>
          <a:prstGeom prst="roundRect">
            <a:avLst/>
          </a:prstGeom>
          <a:solidFill>
            <a:srgbClr val="D0E4F5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784352"/>
            <a:ext cx="2597867" cy="36576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1728" y="875792"/>
            <a:ext cx="2378411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01D35"/>
                </a:solidFill>
                <a:latin typeface="Inter, Arial, sans-serif"/>
              </a:rPr>
              <a:t>85 USD Bn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1728" y="1259840"/>
            <a:ext cx="2378411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001D35"/>
                </a:solidFill>
              </a:rPr>
              <a:t>Global 2023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7027" y="784352"/>
            <a:ext cx="2597867" cy="777240"/>
          </a:xfrm>
          <a:prstGeom prst="roundRect">
            <a:avLst/>
          </a:prstGeom>
          <a:solidFill>
            <a:srgbClr val="D0E4F5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97027" y="784352"/>
            <a:ext cx="2597867" cy="36576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6755" y="875792"/>
            <a:ext cx="2378411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01D35"/>
                </a:solidFill>
                <a:latin typeface="Inter, Arial, sans-serif"/>
              </a:rPr>
              <a:t>110 USD Bn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6755" y="1259840"/>
            <a:ext cx="2378411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001D35"/>
                </a:solidFill>
              </a:rPr>
              <a:t>Global 2026 (proj)</a:t>
            </a:r>
          </a:p>
        </p:txBody>
      </p:sp>
      <p:pic>
        <p:nvPicPr>
          <p:cNvPr id="14" name="Picture 13" descr="figure_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800" y="784352"/>
            <a:ext cx="5332895" cy="5753608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00" b="1">
                <a:solidFill>
                  <a:srgbClr val="00B3A4"/>
                </a:solidFill>
              </a:rPr>
              <a:t>市场与趋势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42535" y="6716268"/>
            <a:ext cx="355309" cy="54864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34421" y="6716268"/>
            <a:ext cx="355309" cy="54864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526307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18192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10078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701964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093849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>
                <a:solidFill>
                  <a:srgbClr val="42505D"/>
                </a:solidFill>
              </a:rPr>
              <a:t>5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83184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4864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Inter, Arial, sans-serif"/>
              </a:rPr>
              <a:t>Section S1 · 市场与趋势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1168"/>
            <a:ext cx="9753295" cy="336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Inter, Arial, sans-serif"/>
              </a:rPr>
              <a:t>NVMe 与 NVMe-oF 采纳 (2023–2026)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20116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Inter, Arial, sans-serif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7720" y="784352"/>
            <a:ext cx="52414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• NVMe server adoption 快速上升，NVMe-oF 從少量部署走向规模化</a:t>
            </a:r>
          </a:p>
        </p:txBody>
      </p:sp>
      <p:pic>
        <p:nvPicPr>
          <p:cNvPr id="7" name="Picture 6" descr="figure_nv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800" y="784352"/>
            <a:ext cx="5332895" cy="575360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00" b="1">
                <a:solidFill>
                  <a:srgbClr val="00B3A4"/>
                </a:solidFill>
              </a:rPr>
              <a:t>市场与趋势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42535" y="6716268"/>
            <a:ext cx="355309" cy="54864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34421" y="6716268"/>
            <a:ext cx="355309" cy="54864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526307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18192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10078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01964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93849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>
                <a:solidFill>
                  <a:srgbClr val="42505D"/>
                </a:solidFill>
              </a:rPr>
              <a:t>6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83184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4864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Inter, Arial, sans-serif"/>
              </a:rPr>
              <a:t>Section S1 · 市场与趋势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1168"/>
            <a:ext cx="9753295" cy="336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Inter, Arial, sans-serif"/>
              </a:rPr>
              <a:t>PMem/SCM 與 介質份額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20116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Inter, Arial, sans-serif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7720" y="784352"/>
            <a:ext cx="52414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• PMem 在低延遲場景增長顯著，但受成本/容量限制；建議在元數據/日志加速場景試點</a:t>
            </a:r>
          </a:p>
        </p:txBody>
      </p:sp>
      <p:pic>
        <p:nvPicPr>
          <p:cNvPr id="7" name="Picture 6" descr="figure_pm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800" y="784352"/>
            <a:ext cx="5332895" cy="575360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00" b="1">
                <a:solidFill>
                  <a:srgbClr val="00B3A4"/>
                </a:solidFill>
              </a:rPr>
              <a:t>市场与趋势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42535" y="6716268"/>
            <a:ext cx="355309" cy="54864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34421" y="6716268"/>
            <a:ext cx="355309" cy="54864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526307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18192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10078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01964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93849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>
                <a:solidFill>
                  <a:srgbClr val="42505D"/>
                </a:solidFill>
              </a:rPr>
              <a:t>7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99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76400" y="2194560"/>
            <a:ext cx="8838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Inter, Arial, sans-serif"/>
              </a:rPr>
              <a:t>硬件層創新</a:t>
            </a:r>
          </a:p>
        </p:txBody>
      </p:sp>
      <p:sp>
        <p:nvSpPr>
          <p:cNvPr id="3" name="Rectangle 2"/>
          <p:cNvSpPr/>
          <p:nvPr/>
        </p:nvSpPr>
        <p:spPr>
          <a:xfrm>
            <a:off x="4751679" y="4937759"/>
            <a:ext cx="337021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43565" y="4937759"/>
            <a:ext cx="337021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35451" y="4937759"/>
            <a:ext cx="337021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27336" y="4937759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19222" y="4937759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711108" y="4937759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02993" y="4937759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8318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4864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Inter, Arial, sans-serif"/>
              </a:rPr>
              <a:t>Section S2 · 硬件层创新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1168"/>
            <a:ext cx="9753295" cy="336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Inter, Arial, sans-serif"/>
              </a:rPr>
              <a:t>NVMe 工程實踐與建議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20116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Inter, Arial, sans-serif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830072"/>
            <a:ext cx="5265267" cy="5570727"/>
          </a:xfrm>
          <a:prstGeom prst="roundRect">
            <a:avLst/>
          </a:prstGeom>
          <a:solidFill>
            <a:srgbClr val="E8EDF2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830072"/>
            <a:ext cx="5265267" cy="45720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1728" y="939799"/>
            <a:ext cx="504581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6202A"/>
                </a:solidFill>
                <a:latin typeface="Inter, Arial, sans-serif"/>
              </a:rPr>
              <a:t>並行訓練</a:t>
            </a:r>
          </a:p>
        </p:txBody>
      </p:sp>
      <p:sp>
        <p:nvSpPr>
          <p:cNvPr id="9" name="Rectangle 8"/>
          <p:cNvSpPr/>
          <p:nvPr/>
        </p:nvSpPr>
        <p:spPr>
          <a:xfrm>
            <a:off x="871728" y="1287272"/>
            <a:ext cx="5045811" cy="18288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1728" y="1332992"/>
            <a:ext cx="5045811" cy="4976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推薦協議: NVMe/TCP / RDMA
網絡要點: 100/200GbE leaf-spine
驗證指標: IO 並發、隊列延遲、丟包率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4427" y="830072"/>
            <a:ext cx="5265267" cy="5570727"/>
          </a:xfrm>
          <a:prstGeom prst="roundRect">
            <a:avLst/>
          </a:prstGeom>
          <a:solidFill>
            <a:srgbClr val="D0E4F5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64427" y="830072"/>
            <a:ext cx="5265267" cy="45720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4155" y="939799"/>
            <a:ext cx="504581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6202A"/>
                </a:solidFill>
                <a:latin typeface="Inter, Arial, sans-serif"/>
              </a:rPr>
              <a:t>低延遲 DB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4155" y="1287272"/>
            <a:ext cx="5045811" cy="18288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4155" y="1332992"/>
            <a:ext cx="5045811" cy="4976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推薦協議: RDMA
驗證指標: P99 延遲、QDepth
回退策略: 本地 NVMe/實例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00" b="1">
                <a:solidFill>
                  <a:srgbClr val="FFD100"/>
                </a:solidFill>
              </a:rPr>
              <a:t>硬件层创新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42535" y="6716268"/>
            <a:ext cx="355309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34421" y="6716268"/>
            <a:ext cx="355309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526307" y="6716268"/>
            <a:ext cx="355309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18192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10078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1964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93849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>
                <a:solidFill>
                  <a:srgbClr val="42505D"/>
                </a:solidFill>
              </a:rPr>
              <a:t>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8318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4864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Inter, Arial, sans-serif"/>
              </a:rPr>
              <a:t>Section S2 · 硬件层创新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1168"/>
            <a:ext cx="9753295" cy="336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Inter, Arial, sans-serif"/>
              </a:rPr>
              <a:t>PMem 與 CXL 的應用與限制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20116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Inter, Arial, sans-serif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830072"/>
            <a:ext cx="5265267" cy="5570727"/>
          </a:xfrm>
          <a:prstGeom prst="roundRect">
            <a:avLst/>
          </a:prstGeom>
          <a:solidFill>
            <a:srgbClr val="E8EDF2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830072"/>
            <a:ext cx="5265267" cy="45720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1728" y="939799"/>
            <a:ext cx="504581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6202A"/>
                </a:solidFill>
                <a:latin typeface="Inter, Arial, sans-serif"/>
              </a:rPr>
              <a:t>PMem (持久內存)</a:t>
            </a:r>
          </a:p>
        </p:txBody>
      </p:sp>
      <p:sp>
        <p:nvSpPr>
          <p:cNvPr id="9" name="Rectangle 8"/>
          <p:cNvSpPr/>
          <p:nvPr/>
        </p:nvSpPr>
        <p:spPr>
          <a:xfrm>
            <a:off x="871728" y="1287272"/>
            <a:ext cx="5045811" cy="18288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1728" y="1332992"/>
            <a:ext cx="5045811" cy="4976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適用: 元數據/日志加速
優點: 低 P99 延遲
局限: 高成本、容量有限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4427" y="830072"/>
            <a:ext cx="5265267" cy="5570727"/>
          </a:xfrm>
          <a:prstGeom prst="roundRect">
            <a:avLst/>
          </a:prstGeom>
          <a:solidFill>
            <a:srgbClr val="D0E4F5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64427" y="830072"/>
            <a:ext cx="5265267" cy="45720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4155" y="939799"/>
            <a:ext cx="504581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6202A"/>
                </a:solidFill>
                <a:latin typeface="Inter, Arial, sans-serif"/>
              </a:rPr>
              <a:t>CXL (遠內存 pooling)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4155" y="1287272"/>
            <a:ext cx="5045811" cy="18288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4155" y="1332992"/>
            <a:ext cx="5045811" cy="4976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適用: 大模型內存彈性
優點: 內存共享/擴展
局限: 生態成熟度、隔離/權限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00" b="1">
                <a:solidFill>
                  <a:srgbClr val="FFD100"/>
                </a:solidFill>
              </a:rPr>
              <a:t>硬件层创新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42535" y="6716268"/>
            <a:ext cx="355309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34421" y="6716268"/>
            <a:ext cx="355309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526307" y="6716268"/>
            <a:ext cx="355309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18192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10078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1964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93849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>
                <a:solidFill>
                  <a:srgbClr val="42505D"/>
                </a:solidFill>
              </a:rPr>
              <a:t>10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8318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4864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Inter, Arial, sans-serif"/>
              </a:rPr>
              <a:t>Section S2 · 硬件层创新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1168"/>
            <a:ext cx="9753295" cy="336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Inter, Arial, sans-serif"/>
              </a:rPr>
              <a:t>近數據處理（Computational Storage）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20116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Inter, Arial, sans-serif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830072"/>
            <a:ext cx="5265267" cy="5570727"/>
          </a:xfrm>
          <a:prstGeom prst="roundRect">
            <a:avLst/>
          </a:prstGeom>
          <a:solidFill>
            <a:srgbClr val="E8EDF2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830072"/>
            <a:ext cx="5265267" cy="45720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1728" y="939799"/>
            <a:ext cx="504581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6202A"/>
                </a:solidFill>
                <a:latin typeface="Inter, Arial, sans-serif"/>
              </a:rPr>
              <a:t>邊緣流式預處理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871728" y="1287272"/>
            <a:ext cx="5045811" cy="18288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1728" y="1332992"/>
            <a:ext cx="5045811" cy="4976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用例: 濾波/壓縮/解析
驗證點: 端到端延遲、正確性
限制: 設備異構、編程模型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4427" y="830072"/>
            <a:ext cx="5265267" cy="5570727"/>
          </a:xfrm>
          <a:prstGeom prst="roundRect">
            <a:avLst/>
          </a:prstGeom>
          <a:solidFill>
            <a:srgbClr val="D0E4F5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64427" y="830072"/>
            <a:ext cx="5265267" cy="45720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4155" y="939799"/>
            <a:ext cx="504581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6202A"/>
                </a:solidFill>
                <a:latin typeface="Inter, Arial, sans-serif"/>
              </a:rPr>
              <a:t>大規模日志/壓縮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4155" y="1287272"/>
            <a:ext cx="5045811" cy="18288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4155" y="1332992"/>
            <a:ext cx="5045811" cy="4976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用例: 設備側壓縮/索引
驗證點: 吞吐 &amp; 減少主機 IO
回退: 主機執行路徑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00" b="1">
                <a:solidFill>
                  <a:srgbClr val="FFD100"/>
                </a:solidFill>
              </a:rPr>
              <a:t>硬件层创新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42535" y="6716268"/>
            <a:ext cx="355309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34421" y="6716268"/>
            <a:ext cx="355309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526307" y="6716268"/>
            <a:ext cx="355309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18192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10078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1964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93849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>
                <a:solidFill>
                  <a:srgbClr val="42505D"/>
                </a:solidFill>
              </a:rP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99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76400" y="2194560"/>
            <a:ext cx="8838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Inter, Arial, sans-serif"/>
              </a:rPr>
              <a:t>系統與雲原生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33600" y="3429000"/>
            <a:ext cx="7924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FFFFFF"/>
                </a:solidFill>
              </a:rPr>
              <a:t>对象存储、并行文件系统与云原生存储的趋势与架构取舍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1679" y="4937759"/>
            <a:ext cx="337021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43565" y="4937759"/>
            <a:ext cx="337021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35451" y="4937759"/>
            <a:ext cx="337021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27336" y="4937759"/>
            <a:ext cx="337021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19222" y="4937759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11108" y="4937759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02993" y="4937759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8318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4864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Inter, Arial, sans-serif"/>
              </a:rPr>
              <a:t>Section S3 · 系统与云原生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1168"/>
            <a:ext cx="9753295" cy="336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Inter, Arial, sans-serif"/>
              </a:rPr>
              <a:t>雲原生存儲採納指數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20116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Inter, Arial, sans-serif"/>
              </a:rPr>
              <a:t>13</a:t>
            </a:r>
          </a:p>
        </p:txBody>
      </p:sp>
      <p:pic>
        <p:nvPicPr>
          <p:cNvPr id="6" name="Picture 5" descr="figure_c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784352"/>
            <a:ext cx="10667695" cy="575360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00" b="1">
                <a:solidFill>
                  <a:srgbClr val="00599C"/>
                </a:solidFill>
              </a:rPr>
              <a:t>系统与云原生</a:t>
            </a:r>
          </a:p>
        </p:txBody>
      </p:sp>
      <p:sp>
        <p:nvSpPr>
          <p:cNvPr id="9" name="Rectangle 8"/>
          <p:cNvSpPr/>
          <p:nvPr/>
        </p:nvSpPr>
        <p:spPr>
          <a:xfrm>
            <a:off x="4742535" y="6716268"/>
            <a:ext cx="355309" cy="5486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34421" y="6716268"/>
            <a:ext cx="355309" cy="5486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26307" y="6716268"/>
            <a:ext cx="355309" cy="5486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18192" y="6716268"/>
            <a:ext cx="355309" cy="5486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10078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01964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93849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>
                <a:solidFill>
                  <a:srgbClr val="42505D"/>
                </a:solidFill>
              </a:rPr>
              <a:t>13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8318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4864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Inter, Arial, sans-serif"/>
              </a:rPr>
              <a:t>Section S3 · 系统与云原生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1168"/>
            <a:ext cx="9753295" cy="336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Inter, Arial, sans-serif"/>
              </a:rPr>
              <a:t>存儲架構對比：對象 / 並行文件 / 分層緩存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20116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Inter, Arial, sans-serif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830072"/>
            <a:ext cx="3464458" cy="5570727"/>
          </a:xfrm>
          <a:prstGeom prst="roundRect">
            <a:avLst/>
          </a:prstGeom>
          <a:solidFill>
            <a:srgbClr val="E8EDF2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830072"/>
            <a:ext cx="3464458" cy="45720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1728" y="939799"/>
            <a:ext cx="324500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6202A"/>
                </a:solidFill>
                <a:latin typeface="Inter, Arial, sans-serif"/>
              </a:rPr>
              <a:t>對象存儲 (S3 兼容)</a:t>
            </a:r>
          </a:p>
        </p:txBody>
      </p:sp>
      <p:sp>
        <p:nvSpPr>
          <p:cNvPr id="9" name="Rectangle 8"/>
          <p:cNvSpPr/>
          <p:nvPr/>
        </p:nvSpPr>
        <p:spPr>
          <a:xfrm>
            <a:off x="871728" y="1287272"/>
            <a:ext cx="3245002" cy="18288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1728" y="1332992"/>
            <a:ext cx="3245002" cy="4976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優點: 彈性擴展、成本優勢
局限: 小對象/低延遲場景需緩存
典型場景: 數據湖/歸檔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3618" y="830072"/>
            <a:ext cx="3464458" cy="5570727"/>
          </a:xfrm>
          <a:prstGeom prst="roundRect">
            <a:avLst/>
          </a:prstGeom>
          <a:solidFill>
            <a:srgbClr val="D0E4F5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63618" y="830072"/>
            <a:ext cx="3464458" cy="45720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3346" y="939799"/>
            <a:ext cx="324500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6202A"/>
                </a:solidFill>
                <a:latin typeface="Inter, Arial, sans-serif"/>
              </a:rPr>
              <a:t>並行文件系統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73346" y="1287272"/>
            <a:ext cx="3245002" cy="18288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73346" y="1332992"/>
            <a:ext cx="3245002" cy="4976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優點: 高帶寬並行 I/O
局限: 元數據瓶頸/運維複雜
典型場景: HPC/訓練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5236" y="830072"/>
            <a:ext cx="3464458" cy="5570727"/>
          </a:xfrm>
          <a:prstGeom prst="roundRect">
            <a:avLst/>
          </a:prstGeom>
          <a:solidFill>
            <a:srgbClr val="D8DDE3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5236" y="830072"/>
            <a:ext cx="3464458" cy="45720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74964" y="939799"/>
            <a:ext cx="324500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6202A"/>
                </a:solidFill>
                <a:latin typeface="Inter, Arial, sans-serif"/>
              </a:rPr>
              <a:t>分層緩存 (Alluxio 等)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74964" y="1287272"/>
            <a:ext cx="3245002" cy="18288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964" y="1332992"/>
            <a:ext cx="3245002" cy="4976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優點: 提高並行讀性能
局限: 一致性/緩存失效
典型場景: 訓練/分析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00" b="1">
                <a:solidFill>
                  <a:srgbClr val="00599C"/>
                </a:solidFill>
              </a:rPr>
              <a:t>系统与云原生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42535" y="6716268"/>
            <a:ext cx="355309" cy="5486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34421" y="6716268"/>
            <a:ext cx="355309" cy="5486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26307" y="6716268"/>
            <a:ext cx="355309" cy="5486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18192" y="6716268"/>
            <a:ext cx="355309" cy="5486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10078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701964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093849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>
                <a:solidFill>
                  <a:srgbClr val="42505D"/>
                </a:solidFill>
              </a:rPr>
              <a:t>14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8318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4864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Inter, Arial, sans-serif"/>
              </a:rPr>
              <a:t>Section S3 · 系统与云原生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1168"/>
            <a:ext cx="9753295" cy="336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Inter, Arial, sans-serif"/>
              </a:rPr>
              <a:t>數據保護、合規與不可變備份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20116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Inter, Arial, sans-serif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3440" y="2929636"/>
            <a:ext cx="104848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• 加密（靜態/傳輸）、WORM 與不可變快照為防勒索基礎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3440" y="3368548"/>
            <a:ext cx="104848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• 合規：中國市場對本地化與跨境控制要求高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40" y="3807460"/>
            <a:ext cx="104848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• 災備：異地多活與精細 RPO/RTO 設計必要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3440" y="4383532"/>
            <a:ext cx="104848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42505D"/>
                </a:solidFill>
              </a:rPr>
              <a:t>… 详见 Speaker Notes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00" b="1">
                <a:solidFill>
                  <a:srgbClr val="00599C"/>
                </a:solidFill>
              </a:rPr>
              <a:t>系统与云原生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42535" y="6716268"/>
            <a:ext cx="355309" cy="5486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34421" y="6716268"/>
            <a:ext cx="355309" cy="5486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26307" y="6716268"/>
            <a:ext cx="355309" cy="5486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18192" y="6716268"/>
            <a:ext cx="355309" cy="5486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10078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701964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093849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>
                <a:solidFill>
                  <a:srgbClr val="42505D"/>
                </a:solidFill>
              </a:rPr>
              <a:t>15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99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76400" y="2194560"/>
            <a:ext cx="8838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Inter, Arial, sans-serif"/>
              </a:rPr>
              <a:t>面向 AI 的存儲演進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33600" y="3429000"/>
            <a:ext cx="7924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FFFFFF"/>
                </a:solidFill>
              </a:rPr>
              <a:t>训练/推理的 I/O 特征与存储组合实践建议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1679" y="4937759"/>
            <a:ext cx="337021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43565" y="4937759"/>
            <a:ext cx="337021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35451" y="4937759"/>
            <a:ext cx="337021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27336" y="4937759"/>
            <a:ext cx="337021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19222" y="4937759"/>
            <a:ext cx="337021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11108" y="4937759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02993" y="4937759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83184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4864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Inter, Arial, sans-serif"/>
              </a:rPr>
              <a:t>Section S4 · 面向 AI 的存储演进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1168"/>
            <a:ext cx="9753295" cy="336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Inter, Arial, sans-serif"/>
              </a:rPr>
              <a:t>AI I/O 要求（Training vs Inference）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20116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Inter, Arial, sans-serif"/>
              </a:rPr>
              <a:t>17</a:t>
            </a:r>
          </a:p>
        </p:txBody>
      </p:sp>
      <p:pic>
        <p:nvPicPr>
          <p:cNvPr id="6" name="Picture 5" descr="figure_ai_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784352"/>
            <a:ext cx="10667695" cy="575360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00" b="1">
                <a:solidFill>
                  <a:srgbClr val="00B3A4"/>
                </a:solidFill>
              </a:rPr>
              <a:t>面向 AI 的存储演进</a:t>
            </a:r>
          </a:p>
        </p:txBody>
      </p:sp>
      <p:sp>
        <p:nvSpPr>
          <p:cNvPr id="9" name="Rectangle 8"/>
          <p:cNvSpPr/>
          <p:nvPr/>
        </p:nvSpPr>
        <p:spPr>
          <a:xfrm>
            <a:off x="4742535" y="6716268"/>
            <a:ext cx="355309" cy="54864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34421" y="6716268"/>
            <a:ext cx="355309" cy="54864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26307" y="6716268"/>
            <a:ext cx="355309" cy="54864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18192" y="6716268"/>
            <a:ext cx="355309" cy="54864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10078" y="6716268"/>
            <a:ext cx="355309" cy="54864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01964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93849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>
                <a:solidFill>
                  <a:srgbClr val="42505D"/>
                </a:solidFill>
              </a:rPr>
              <a:t>17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83184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4864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Inter, Arial, sans-serif"/>
              </a:rPr>
              <a:t>Section S4 · 面向 AI 的存储演进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1168"/>
            <a:ext cx="9753295" cy="336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Inter, Arial, sans-serif"/>
              </a:rPr>
              <a:t>AI 數據路徑設計 (對象 + 並行 FS + 緩存)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20116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Inter, Arial, sans-serif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3440" y="784352"/>
            <a:ext cx="1048481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202A"/>
                </a:solidFill>
              </a:rPr>
              <a:t>• 建議：S3+並行文件系統+本地 NVMe cache 組合用於訓練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3440" y="1150112"/>
            <a:ext cx="1048481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202A"/>
                </a:solidFill>
              </a:rPr>
              <a:t>• 驗證點：緩存命中率、並行文件系統元數據擴展性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653032"/>
            <a:ext cx="10667695" cy="3200400"/>
          </a:xfrm>
          <a:prstGeom prst="roundRect">
            <a:avLst/>
          </a:prstGeom>
          <a:solidFill>
            <a:srgbClr val="E8EDF2"/>
          </a:solidFill>
          <a:ln w="12700">
            <a:solidFill>
              <a:srgbClr val="7280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4880" y="2110232"/>
            <a:ext cx="103019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72808D"/>
                </a:solidFill>
                <a:latin typeface="Inter, Arial, sans-serif"/>
              </a:rPr>
              <a:t>graph LR; ObjectStorage--&gt;Cache[Alluxio/Local NVMe Cache]--&gt;ParallelFS; ParallelFS--&gt;Compute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00" b="1">
                <a:solidFill>
                  <a:srgbClr val="00B3A4"/>
                </a:solidFill>
              </a:rPr>
              <a:t>面向 AI 的存储演进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42535" y="6716268"/>
            <a:ext cx="355309" cy="54864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34421" y="6716268"/>
            <a:ext cx="355309" cy="54864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26307" y="6716268"/>
            <a:ext cx="355309" cy="54864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18192" y="6716268"/>
            <a:ext cx="355309" cy="54864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10078" y="6716268"/>
            <a:ext cx="355309" cy="54864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701964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093849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>
                <a:solidFill>
                  <a:srgbClr val="42505D"/>
                </a:solidFill>
              </a:rPr>
              <a:t>18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99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76400" y="2194560"/>
            <a:ext cx="8838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Inter, Arial, sans-serif"/>
              </a:rPr>
              <a:t>安全、可靠性與數據治理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33600" y="3429000"/>
            <a:ext cx="7924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FFFFFF"/>
                </a:solidFill>
              </a:rPr>
              <a:t>加密、审计、合规策略与灾备设计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1679" y="4937759"/>
            <a:ext cx="337021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43565" y="4937759"/>
            <a:ext cx="337021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35451" y="4937759"/>
            <a:ext cx="337021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27336" y="4937759"/>
            <a:ext cx="337021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19222" y="4937759"/>
            <a:ext cx="337021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11108" y="4937759"/>
            <a:ext cx="337021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02993" y="4937759"/>
            <a:ext cx="337021" cy="7315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8318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4864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Inter, Arial, sans-serif"/>
              </a:rPr>
              <a:t>Section S5 · 安全与治理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1168"/>
            <a:ext cx="9753295" cy="336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Inter, Arial, sans-serif"/>
              </a:rPr>
              <a:t>安全實踐與工程風險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20116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Inter, Arial, sans-serif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3440" y="830072"/>
            <a:ext cx="104848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• 不可變備份 + 快照流水線為防勒索核心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3440" y="1268984"/>
            <a:ext cx="104848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• 合規：跨境傳輸策略與審計追蹤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40" y="1707896"/>
            <a:ext cx="104848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• 運營：恢復演練與備份窗口成本需要權衡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3440" y="2283968"/>
            <a:ext cx="3669685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16202A"/>
                </a:solidFill>
              </a:rPr>
              <a:t>风险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3125" y="2283968"/>
            <a:ext cx="1258177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16202A"/>
                </a:solidFill>
              </a:rPr>
              <a:t>概率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81303" y="2283968"/>
            <a:ext cx="1258177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16202A"/>
                </a:solidFill>
              </a:rPr>
              <a:t>影响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39480" y="2283968"/>
            <a:ext cx="4298774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200" b="1">
                <a:solidFill>
                  <a:srgbClr val="16202A"/>
                </a:solidFill>
              </a:rPr>
              <a:t>缓解措施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3440" y="2613152"/>
            <a:ext cx="10484815" cy="25400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3440" y="2631440"/>
            <a:ext cx="3669685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3125" y="2631440"/>
            <a:ext cx="1258177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BA1A1A"/>
                </a:solidFill>
              </a:rPr>
              <a:t>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81303" y="2631440"/>
            <a:ext cx="1258177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BA1A1A"/>
                </a:solidFill>
              </a:rPr>
              <a:t>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39480" y="2631440"/>
            <a:ext cx="4298774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</a:rPr>
              <a:t>按区域分级部署 + 合规审计自动化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3440" y="2978912"/>
            <a:ext cx="10484815" cy="347472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3440" y="2978912"/>
            <a:ext cx="3669685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3125" y="2978912"/>
            <a:ext cx="1258177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FFD100"/>
                </a:solidFill>
              </a:rPr>
              <a:t>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81303" y="2978912"/>
            <a:ext cx="1258177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FFD100"/>
                </a:solidFill>
              </a:rPr>
              <a:t>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39480" y="2978912"/>
            <a:ext cx="4298774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16202A"/>
                </a:solidFill>
              </a:rPr>
              <a:t>分层存储 + 冷热数据分级 + 成本监控告警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00" b="1">
                <a:solidFill>
                  <a:srgbClr val="FFD100"/>
                </a:solidFill>
              </a:rPr>
              <a:t>安全与治理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42535" y="6716268"/>
            <a:ext cx="355309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34421" y="6716268"/>
            <a:ext cx="355309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526307" y="6716268"/>
            <a:ext cx="355309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918192" y="6716268"/>
            <a:ext cx="355309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10078" y="6716268"/>
            <a:ext cx="355309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01964" y="6716268"/>
            <a:ext cx="355309" cy="54864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093849" y="6716268"/>
            <a:ext cx="355309" cy="54864"/>
          </a:xfrm>
          <a:prstGeom prst="rect">
            <a:avLst/>
          </a:prstGeom>
          <a:solidFill>
            <a:srgbClr val="728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>
                <a:solidFill>
                  <a:srgbClr val="42505D"/>
                </a:solidFill>
              </a:rPr>
              <a:t>20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99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76400" y="2194560"/>
            <a:ext cx="8838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Inter, Arial, sans-serif"/>
              </a:rPr>
              <a:t>廠商案例研究</a:t>
            </a:r>
          </a:p>
        </p:txBody>
      </p:sp>
      <p:sp>
        <p:nvSpPr>
          <p:cNvPr id="3" name="Rectangle 2"/>
          <p:cNvSpPr/>
          <p:nvPr/>
        </p:nvSpPr>
        <p:spPr>
          <a:xfrm>
            <a:off x="4751679" y="4937759"/>
            <a:ext cx="337021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43565" y="4937759"/>
            <a:ext cx="337021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35451" y="4937759"/>
            <a:ext cx="337021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27336" y="4937759"/>
            <a:ext cx="337021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19222" y="4937759"/>
            <a:ext cx="337021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711108" y="4937759"/>
            <a:ext cx="337021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02993" y="4937759"/>
            <a:ext cx="337021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8318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4864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Inter, Arial, sans-serif"/>
              </a:rPr>
              <a:t>Section S6 · 厂商案例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1168"/>
            <a:ext cx="9753295" cy="336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Inter, Arial, sans-serif"/>
              </a:rPr>
              <a:t>国际厂商案例：AWS vs Dell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20116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Inter, Arial, sans-serif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830072"/>
            <a:ext cx="2564053" cy="5204967"/>
          </a:xfrm>
          <a:prstGeom prst="roundRect">
            <a:avLst/>
          </a:prstGeom>
          <a:solidFill>
            <a:srgbClr val="E8EDF2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830072"/>
            <a:ext cx="2564053" cy="45720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1728" y="939799"/>
            <a:ext cx="2344597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6202A"/>
                </a:solidFill>
                <a:latin typeface="Inter, Arial, sans-serif"/>
              </a:rPr>
              <a:t>AWS 架构</a:t>
            </a:r>
          </a:p>
        </p:txBody>
      </p:sp>
      <p:sp>
        <p:nvSpPr>
          <p:cNvPr id="9" name="Rectangle 8"/>
          <p:cNvSpPr/>
          <p:nvPr/>
        </p:nvSpPr>
        <p:spPr>
          <a:xfrm>
            <a:off x="871728" y="1287272"/>
            <a:ext cx="2344597" cy="18288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1728" y="1332992"/>
            <a:ext cx="2344597" cy="4610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亮点: S3 + EBS + 本地 NVMe 实例
场景: 训练/高并发 DB
备注: 快照与跨区复制生态成熟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3213" y="830072"/>
            <a:ext cx="2564053" cy="5204967"/>
          </a:xfrm>
          <a:prstGeom prst="roundRect">
            <a:avLst/>
          </a:prstGeom>
          <a:solidFill>
            <a:srgbClr val="D0E4F5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63213" y="830072"/>
            <a:ext cx="2564053" cy="45720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72941" y="939799"/>
            <a:ext cx="2344597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6202A"/>
                </a:solidFill>
                <a:latin typeface="Inter, Arial, sans-serif"/>
              </a:rPr>
              <a:t>AWS 试点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72941" y="1287272"/>
            <a:ext cx="2344597" cy="18288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2941" y="1332992"/>
            <a:ext cx="2344597" cy="4610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建议: NVMe-oF 性能试点 + 快照/恢复成本评估
风险: 跨区流量成本
时间: 6–12 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830072"/>
            <a:ext cx="2564053" cy="5204967"/>
          </a:xfrm>
          <a:prstGeom prst="roundRect">
            <a:avLst/>
          </a:prstGeom>
          <a:solidFill>
            <a:srgbClr val="D8DDE3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64427" y="830072"/>
            <a:ext cx="2564053" cy="45720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4155" y="939799"/>
            <a:ext cx="2344597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6202A"/>
                </a:solidFill>
                <a:latin typeface="Inter, Arial, sans-serif"/>
              </a:rPr>
              <a:t>Dell 架构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74155" y="1287272"/>
            <a:ext cx="2344597" cy="18288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4155" y="1332992"/>
            <a:ext cx="2344597" cy="4610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亮点: PowerMax / PowerScale NVMe 阵列
场景: 企业级事务与分析
备注: 端到端运维工具链成熟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65641" y="830072"/>
            <a:ext cx="2564053" cy="5204967"/>
          </a:xfrm>
          <a:prstGeom prst="roundRect">
            <a:avLst/>
          </a:prstGeom>
          <a:solidFill>
            <a:srgbClr val="E8EDF2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865641" y="830072"/>
            <a:ext cx="2564053" cy="45720"/>
          </a:xfrm>
          <a:prstGeom prst="rect">
            <a:avLst/>
          </a:prstGeom>
          <a:solidFill>
            <a:srgbClr val="7F8D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75369" y="939799"/>
            <a:ext cx="2344597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6202A"/>
                </a:solidFill>
                <a:latin typeface="Inter, Arial, sans-serif"/>
              </a:rPr>
              <a:t>Dell 试点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75369" y="1287272"/>
            <a:ext cx="2344597" cy="18288"/>
          </a:xfrm>
          <a:prstGeom prst="rect">
            <a:avLst/>
          </a:prstGeom>
          <a:solidFill>
            <a:srgbClr val="7F8D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75369" y="1332992"/>
            <a:ext cx="2344597" cy="4610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建议: 验证 NVMe 阵列性能 &amp; 快照恢复
风险: 高成本、运维资源需求
时间: 6–12 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440" y="6172199"/>
            <a:ext cx="10484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202A"/>
                </a:solidFill>
              </a:rPr>
              <a:t>• 两家国际厂商的存储架构亮点与试点建议对比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00" b="1">
                <a:solidFill>
                  <a:srgbClr val="00599C"/>
                </a:solidFill>
              </a:rPr>
              <a:t>厂商案例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42535" y="6716268"/>
            <a:ext cx="355309" cy="5486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34421" y="6716268"/>
            <a:ext cx="355309" cy="5486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526307" y="6716268"/>
            <a:ext cx="355309" cy="5486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918192" y="6716268"/>
            <a:ext cx="355309" cy="5486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10078" y="6716268"/>
            <a:ext cx="355309" cy="5486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01964" y="6716268"/>
            <a:ext cx="355309" cy="5486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093849" y="6716268"/>
            <a:ext cx="355309" cy="5486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>
                <a:solidFill>
                  <a:srgbClr val="42505D"/>
                </a:solidFill>
              </a:rPr>
              <a:t>22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8318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54864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Inter, Arial, sans-serif"/>
              </a:rPr>
              <a:t>Section S6 · 厂商案例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01168"/>
            <a:ext cx="9753295" cy="336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Inter, Arial, sans-serif"/>
              </a:rPr>
              <a:t>国内厂商案例：阿里云 vs 华为云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201168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FFFFF"/>
                </a:solidFill>
                <a:latin typeface="Inter, Arial, sans-serif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830072"/>
            <a:ext cx="2564053" cy="5204967"/>
          </a:xfrm>
          <a:prstGeom prst="roundRect">
            <a:avLst/>
          </a:prstGeom>
          <a:solidFill>
            <a:srgbClr val="E8EDF2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830072"/>
            <a:ext cx="2564053" cy="45720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1728" y="939799"/>
            <a:ext cx="2344597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6202A"/>
                </a:solidFill>
                <a:latin typeface="Inter, Arial, sans-serif"/>
              </a:rPr>
              <a:t>阿里云 架构</a:t>
            </a:r>
          </a:p>
        </p:txBody>
      </p:sp>
      <p:sp>
        <p:nvSpPr>
          <p:cNvPr id="9" name="Rectangle 8"/>
          <p:cNvSpPr/>
          <p:nvPr/>
        </p:nvSpPr>
        <p:spPr>
          <a:xfrm>
            <a:off x="871728" y="1287272"/>
            <a:ext cx="2344597" cy="18288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1728" y="1332992"/>
            <a:ext cx="2344597" cy="4610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亮点: Pangu + SSD cache 分层
场景: 大规模分析/训练
备注: 元数据扩展性强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3213" y="830072"/>
            <a:ext cx="2564053" cy="5204967"/>
          </a:xfrm>
          <a:prstGeom prst="roundRect">
            <a:avLst/>
          </a:prstGeom>
          <a:solidFill>
            <a:srgbClr val="D0E4F5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63213" y="830072"/>
            <a:ext cx="2564053" cy="45720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72941" y="939799"/>
            <a:ext cx="2344597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6202A"/>
                </a:solidFill>
                <a:latin typeface="Inter, Arial, sans-serif"/>
              </a:rPr>
              <a:t>阿里云 试点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72941" y="1287272"/>
            <a:ext cx="2344597" cy="18288"/>
          </a:xfrm>
          <a:prstGeom prst="rect">
            <a:avLst/>
          </a:prstGeom>
          <a:solidFill>
            <a:srgbClr val="00B3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2941" y="1332992"/>
            <a:ext cx="2344597" cy="4610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建议: 分层下沉成本验证 + 元数据扩展性试验
风险: 实现内部化优化难以外移
时间: 6–12 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830072"/>
            <a:ext cx="2564053" cy="5204967"/>
          </a:xfrm>
          <a:prstGeom prst="roundRect">
            <a:avLst/>
          </a:prstGeom>
          <a:solidFill>
            <a:srgbClr val="D8DDE3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64427" y="830072"/>
            <a:ext cx="2564053" cy="45720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4155" y="939799"/>
            <a:ext cx="2344597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6202A"/>
                </a:solidFill>
                <a:latin typeface="Inter, Arial, sans-serif"/>
              </a:rPr>
              <a:t>华为云 架构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74155" y="1287272"/>
            <a:ext cx="2344597" cy="18288"/>
          </a:xfrm>
          <a:prstGeom prst="rect">
            <a:avLst/>
          </a:prstGeom>
          <a:solidFill>
            <a:srgbClr val="FFD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4155" y="1332992"/>
            <a:ext cx="2344597" cy="4610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亮点: PMem + NVMe 层 + CXL 试点
场景: 低延迟事务/大模型内存弹性
备注: 硬件协同优势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65641" y="830072"/>
            <a:ext cx="2564053" cy="5204967"/>
          </a:xfrm>
          <a:prstGeom prst="roundRect">
            <a:avLst/>
          </a:prstGeom>
          <a:solidFill>
            <a:srgbClr val="E8EDF2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865641" y="830072"/>
            <a:ext cx="2564053" cy="45720"/>
          </a:xfrm>
          <a:prstGeom prst="rect">
            <a:avLst/>
          </a:prstGeom>
          <a:solidFill>
            <a:srgbClr val="7F8D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75369" y="939799"/>
            <a:ext cx="2344597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6202A"/>
                </a:solidFill>
                <a:latin typeface="Inter, Arial, sans-serif"/>
              </a:rPr>
              <a:t>华为云 试点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75369" y="1287272"/>
            <a:ext cx="2344597" cy="18288"/>
          </a:xfrm>
          <a:prstGeom prst="rect">
            <a:avLst/>
          </a:prstGeom>
          <a:solidFill>
            <a:srgbClr val="7F8D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75369" y="1332992"/>
            <a:ext cx="2344597" cy="4610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16202A"/>
                </a:solidFill>
              </a:rPr>
              <a:t>建议: 在受控集群测试 PMem/CXL 可用性与回退策略
风险: 国际互操作与硬件支持
时间: 6–12 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440" y="6172199"/>
            <a:ext cx="10484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202A"/>
                </a:solidFill>
              </a:rPr>
              <a:t>• 两家国内厂商的存储架构亮点与试点建议对比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000" b="1">
                <a:solidFill>
                  <a:srgbClr val="00599C"/>
                </a:solidFill>
              </a:rPr>
              <a:t>厂商案例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42535" y="6716268"/>
            <a:ext cx="355309" cy="5486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34421" y="6716268"/>
            <a:ext cx="355309" cy="5486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526307" y="6716268"/>
            <a:ext cx="355309" cy="5486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918192" y="6716268"/>
            <a:ext cx="355309" cy="5486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10078" y="6716268"/>
            <a:ext cx="355309" cy="5486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01964" y="6716268"/>
            <a:ext cx="355309" cy="5486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093849" y="6716268"/>
            <a:ext cx="355309" cy="54864"/>
          </a:xfrm>
          <a:prstGeom prst="rect">
            <a:avLst/>
          </a:prstGeom>
          <a:solidFill>
            <a:srgbClr val="005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>
                <a:solidFill>
                  <a:srgbClr val="42505D"/>
                </a:solidFill>
              </a:rPr>
              <a:t>23 /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