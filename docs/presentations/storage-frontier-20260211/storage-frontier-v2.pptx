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市场 (USD Bn)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92</c:v>
                </c:pt>
                <c:pt idx="2">
                  <c:v>100</c:v>
                </c:pt>
                <c:pt idx="3">
                  <c:v>110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China 市场 (USD Bn)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</c:v>
                </c:pt>
                <c:pt idx="1">
                  <c:v>32</c:v>
                </c:pt>
                <c:pt idx="2">
                  <c:v>36</c:v>
                </c:pt>
                <c:pt idx="3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NVMe server (%)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40</c:v>
                </c:pt>
                <c:pt idx="2">
                  <c:v>52</c:v>
                </c:pt>
                <c:pt idx="3">
                  <c:v>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NVMe-oF Deployments (%)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15</c:v>
                </c:pt>
                <c:pt idx="3">
                  <c:v>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PMem 市場 (USD M)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80</c:v>
                </c:pt>
                <c:pt idx="2">
                  <c:v>150</c:v>
                </c:pt>
                <c:pt idx="3">
                  <c:v>300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CSI 使用指數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50</c:v>
                </c:pt>
                <c:pt idx="3">
                  <c:v>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IOPS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Training Bandwidth (GB/s)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80</c:v>
                </c:pt>
                <c:pt idx="3">
                  <c:v>160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Inference IOPS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50000</c:v>
                </c:pt>
                <c:pt idx="1">
                  <c:v>100000</c:v>
                </c:pt>
                <c:pt idx="2">
                  <c:v>200000</c:v>
                </c:pt>
                <c:pt idx="3">
                  <c:v>400000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Inference Bandwidth (GB/s)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8</c:v>
                </c:pt>
                <c:pt idx="3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&quot;M&quot;" sourceLinked="0"/>
        <c:majorTickMark val="out"/>
        <c:minorTickMark val="none"/>
        <c:tickLblPos val="nextTo"/>
        <c:crossAx val="-2068027336"/>
        <c:crosses val="autoZero"/>
        <c:majorUnit val="1000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每条结论配一行关键证据来源（CSV/报告）。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指出数据来源 (IDC/SNIA) 与估算注记；建议在讲稿中说明不确定性边界。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 PMem 的工程約束和試點驗證點（斷電恢復、一致性驗證）。</a:t>
            </a:r>
          </a:p>
          <a:p>
            <a:r>
              <a:t>對比不同場景下的網絡/QoS/回退策略，建議小規模互操作試驗。</a:t>
            </a:r>
          </a:p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強調需保留主機回退路徑並優先在受控場景試點。</a:t>
            </a:r>
          </a:p>
          <a:p>
            <a:r>
              <a:t>說明 CSI 成熟度與運維挑戰，提出分階段遷移建議。</a:t>
            </a:r>
          </a:p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建議按業務關鍵性分級備份策略並把恢復演練納常態運維。</a:t>
            </a:r>
          </a:p>
          <a:p>
            <a:r>
              <a:t>強調分層緩存 + NVMe-oF 的組合價值，並指出經濟性驗證點。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  <a:p>
            <a:r>
              <a:t>建議分級治理並把恢復演練納入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 AWS（云原生存储生态）与 Dell（企业级硬件）的差异化优势。</a:t>
            </a:r>
          </a:p>
          <a:p>
            <a:r>
              <a:t>对比阿里云（软件分层）与华为云（硬件协同）的差异化策略。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508760"/>
            <a:ext cx="9753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Inter, Arial, sans-serif"/>
              </a:rPr>
              <a:t>存储行业前沿（2023–2026）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3520" y="2606040"/>
            <a:ext cx="9204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Inter, Arial, sans-serif"/>
              </a:rP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3093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Inter, Arial, sans-serif"/>
              </a:rPr>
              <a:t>2026-02-11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714500"/>
            <a:ext cx="9753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Inter, Arial, sans-serif"/>
              </a:rPr>
              <a:t>开场与关键结论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3520" y="2880360"/>
            <a:ext cx="9204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Inter, Arial, sans-serif"/>
              </a:rPr>
              <a:t>存储行业进入“低延迟高带宽 + 智能分层 + 云原生整合”的过渡期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3520" y="3657599"/>
            <a:ext cx="9204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Inter, Arial, sans-serif"/>
              </a:rPr>
              <a:t>一行结论: 低延迟高带宽 + 智能分层 + 云原生整合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S0 · 开场与结论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6032"/>
            <a:ext cx="97532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全球市场从 ~85 亿美元增长到 ~110 亿美元（2023→2026）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关键结论与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069848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1161288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1D35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545336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Global (2026)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4427" y="1069848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4155" y="1161288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1D35"/>
                </a:solidFill>
                <a:latin typeface="Inter, Arial, sans-serif"/>
              </a:rPr>
              <a:t>40 USD 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4155" y="1545336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China (2026)</a:t>
            </a:r>
          </a:p>
        </p:txBody>
      </p:sp>
      <p:sp>
        <p:nvSpPr>
          <p:cNvPr id="12" name="Oval 11"/>
          <p:cNvSpPr/>
          <p:nvPr/>
        </p:nvSpPr>
        <p:spPr>
          <a:xfrm>
            <a:off x="807720" y="2212848"/>
            <a:ext cx="128016" cy="128016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8888" y="2176272"/>
            <a:ext cx="10375087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NVMe、PMem、CXL 与云原生将主导未来 3 年创新路径</a:t>
            </a:r>
          </a:p>
        </p:txBody>
      </p:sp>
      <p:sp>
        <p:nvSpPr>
          <p:cNvPr id="14" name="Oval 13"/>
          <p:cNvSpPr/>
          <p:nvPr/>
        </p:nvSpPr>
        <p:spPr>
          <a:xfrm>
            <a:off x="807720" y="2990088"/>
            <a:ext cx="128016" cy="128016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8888" y="2953512"/>
            <a:ext cx="10375087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中国市场受数据主权与合规驱动，本地化与混合云需求上升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关键证据来源（CSV/报告）。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开场与结论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6032"/>
            <a:ext cx="97532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全球与中国市场增长显著，需差异化市场策略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市场规模：全球 vs 中国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1069848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1728" y="1161288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1D35"/>
                </a:solidFill>
                <a:latin typeface="Inter, Arial, sans-serif"/>
              </a:rPr>
              <a:t>85 USD 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728" y="1545336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Global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4427" y="1069848"/>
            <a:ext cx="5265267" cy="77724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4155" y="1161288"/>
            <a:ext cx="504581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1D35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4155" y="1545336"/>
            <a:ext cx="5045811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1D35"/>
                </a:solidFill>
              </a:rPr>
              <a:t>Global 2026 (proj)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62000" y="2075687"/>
          <a:ext cx="10667695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在高增长区域优先布局 NVMe 与云集成以获取市场优势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6032"/>
            <a:ext cx="97532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NVMe server adoption 快速上升，NVMe-oF 從少量部署走向规模化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62000" y="1069848"/>
          <a:ext cx="10667695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討論網絡（RDMA vs NVMe/TCP）與互操作性風險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硬件層創新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6032"/>
            <a:ext cx="97532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PMem 在低延遲場景將實現快速增長，建議試点验证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PMem/SCM 與 介質份額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62000" y="1069848"/>
          <a:ext cx="3200308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3962308" y="1069848"/>
            <a:ext cx="373369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5460" y="1106424"/>
            <a:ext cx="358738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並行訓練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6001" y="1069848"/>
            <a:ext cx="373369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69153" y="1106424"/>
            <a:ext cx="358738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低延遲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2308" y="1481328"/>
            <a:ext cx="3733693" cy="50863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96001" y="1481328"/>
            <a:ext cx="3733693" cy="50863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35460" y="1536192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NVMe/TCP / RDMA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9153" y="1536192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RDMA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5460" y="2044826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100/200GbE leaf-spine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9153" y="2044826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62308" y="2498598"/>
            <a:ext cx="3733693" cy="50863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001" y="2498598"/>
            <a:ext cx="3733693" cy="50863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35460" y="2553462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IO 並發、隊列延遲、丟包率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9153" y="2553462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P99 延遲、QDepth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5460" y="3062096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9153" y="3062096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本地 NVMe/實例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1429" y="1069848"/>
            <a:ext cx="9144" cy="2446020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2308" y="1476756"/>
            <a:ext cx="7467386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62308" y="3653027"/>
            <a:ext cx="373369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35460" y="3689603"/>
            <a:ext cx="358738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PMem (持久內存)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96001" y="3653027"/>
            <a:ext cx="373369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69153" y="3689603"/>
            <a:ext cx="358738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CXL (遠內存 pooling)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62308" y="4064507"/>
            <a:ext cx="3733693" cy="67817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96001" y="4064507"/>
            <a:ext cx="3733693" cy="67817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5460" y="4119371"/>
            <a:ext cx="3587389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元數據/日志加速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69153" y="4119371"/>
            <a:ext cx="3587389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大模型內存彈性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5460" y="4797551"/>
            <a:ext cx="3587389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低 P99 延遲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9153" y="4797551"/>
            <a:ext cx="3587389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內存共享/擴展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62308" y="5420867"/>
            <a:ext cx="3733693" cy="67817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96001" y="5420867"/>
            <a:ext cx="3733693" cy="67817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35460" y="5475731"/>
            <a:ext cx="3587389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高成本、容量有限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69153" y="5475731"/>
            <a:ext cx="3587389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生態成熟度、隔離/權限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1429" y="3653027"/>
            <a:ext cx="9144" cy="2446020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308" y="4059935"/>
            <a:ext cx="7467386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在日志与元数据场景开展 PMem 试点并记录恢复验证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系統與雲原生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6032"/>
            <a:ext cx="97532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邊緣流式預處理 vs 大規模日志/壓縮：关键差异与选型建议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近數據處理（Computational Storage）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62000" y="1069848"/>
          <a:ext cx="3200308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3962308" y="1069848"/>
            <a:ext cx="373369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5460" y="1106424"/>
            <a:ext cx="358738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邊緣流式預處理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6001" y="1069848"/>
            <a:ext cx="3733693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69153" y="1106424"/>
            <a:ext cx="3587389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大規模日志/壓縮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2308" y="1481328"/>
            <a:ext cx="3733693" cy="50863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96001" y="1481328"/>
            <a:ext cx="3733693" cy="50863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35460" y="1536192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濾波/壓縮/解析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9153" y="1536192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設備側壓縮/索引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5460" y="2044826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端到端延遲、正確性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9153" y="2044826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吞吐 &amp; 減少主機 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62308" y="2498598"/>
            <a:ext cx="3733693" cy="50863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001" y="2498598"/>
            <a:ext cx="3733693" cy="508634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35460" y="2553462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設備異構、編程模型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9153" y="2553462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5460" y="3062096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9153" y="3062096"/>
            <a:ext cx="3587389" cy="3989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主機執行路徑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91429" y="1069848"/>
            <a:ext cx="9144" cy="2446020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2308" y="1476756"/>
            <a:ext cx="7467386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62308" y="3653027"/>
            <a:ext cx="2489128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35460" y="3689603"/>
            <a:ext cx="2342824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對象存儲 (S3 兼容)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1437" y="3653027"/>
            <a:ext cx="2489128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4589" y="3689603"/>
            <a:ext cx="2342824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並行文件系統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566" y="3653027"/>
            <a:ext cx="2489128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3718" y="3689603"/>
            <a:ext cx="2342824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分層緩存 (Alluxio 等)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62308" y="4064507"/>
            <a:ext cx="2489128" cy="67817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51437" y="4064507"/>
            <a:ext cx="2489128" cy="67817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40566" y="4064507"/>
            <a:ext cx="2489128" cy="67817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35460" y="4119371"/>
            <a:ext cx="2342824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彈性擴展、成本優勢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4589" y="4119371"/>
            <a:ext cx="2342824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高帶寬並行 I/O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3718" y="4119371"/>
            <a:ext cx="2342824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提高並行讀性能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35460" y="4797551"/>
            <a:ext cx="2342824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小對象/低延遲場景需緩存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589" y="4797551"/>
            <a:ext cx="2342824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元數據瓶頸/運維複雜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3718" y="4797551"/>
            <a:ext cx="2342824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一致性/緩存失效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62308" y="5420867"/>
            <a:ext cx="2489128" cy="67817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51437" y="5420867"/>
            <a:ext cx="2489128" cy="67817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40566" y="5420867"/>
            <a:ext cx="2489128" cy="678179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5460" y="5475731"/>
            <a:ext cx="2342824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數據湖/歸檔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4589" y="5475731"/>
            <a:ext cx="2342824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HPC/訓練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3718" y="5475731"/>
            <a:ext cx="2342824" cy="5684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訓練/分析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865" y="3653027"/>
            <a:ext cx="9144" cy="2446020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35994" y="3653027"/>
            <a:ext cx="9144" cy="2446020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62308" y="4059935"/>
            <a:ext cx="7467386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需保留主機回退路徑並優先在受控場景試點。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面向 AI 的存儲演進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6032"/>
            <a:ext cx="97532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加密（靜態/傳輸）、WORM 與不可變快照為防勒索基礎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數據保護、合規與不可變備份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62000" y="1069848"/>
          <a:ext cx="6934001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Oval 6"/>
          <p:cNvSpPr/>
          <p:nvPr/>
        </p:nvSpPr>
        <p:spPr>
          <a:xfrm>
            <a:off x="7741721" y="110642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42889" y="1069848"/>
            <a:ext cx="344108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合規：中國市場對本地化與跨境控制要求高</a:t>
            </a:r>
          </a:p>
        </p:txBody>
      </p:sp>
      <p:sp>
        <p:nvSpPr>
          <p:cNvPr id="9" name="Oval 8"/>
          <p:cNvSpPr/>
          <p:nvPr/>
        </p:nvSpPr>
        <p:spPr>
          <a:xfrm>
            <a:off x="7741721" y="188366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42889" y="1847088"/>
            <a:ext cx="3441085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災備：異地多活與精細 RPO/RTO 設計必要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建議按業務關鍵性分級備份策略並把恢復演練納常態運維。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安全、可靠性與數據治理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6032"/>
            <a:ext cx="97532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建議：S3+並行文件系統+本地 NVMe cache 組合用於訓練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882015" y="2532887"/>
            <a:ext cx="1360124" cy="594360"/>
          </a:xfrm>
          <a:prstGeom prst="ellipse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>
                <a:solidFill>
                  <a:srgbClr val="FFFFFF"/>
                </a:solidFill>
              </a:rPr>
              <a:t>ObjectStorage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2169" y="2532887"/>
            <a:ext cx="1360124" cy="594360"/>
          </a:xfrm>
          <a:prstGeom prst="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>
                <a:solidFill>
                  <a:srgbClr val="FFFFFF"/>
                </a:solidFill>
              </a:rPr>
              <a:t>Alluxio/Local NVMe Cache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2323" y="2532887"/>
            <a:ext cx="1360124" cy="594360"/>
          </a:xfrm>
          <a:prstGeom prst="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>
                <a:solidFill>
                  <a:srgbClr val="FFFFFF"/>
                </a:solidFill>
              </a:rPr>
              <a:t>ParallelFS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82477" y="2532887"/>
            <a:ext cx="1360124" cy="59436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>
                <a:solidFill>
                  <a:srgbClr val="FFFFFF"/>
                </a:solidFill>
              </a:rPr>
              <a:t>Compute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2139" y="2830068"/>
            <a:ext cx="240030" cy="0"/>
          </a:xfrm>
          <a:prstGeom prst="line">
            <a:avLst/>
          </a:prstGeom>
          <a:ln w="19050">
            <a:solidFill>
              <a:srgbClr val="162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42293" y="2830068"/>
            <a:ext cx="240030" cy="0"/>
          </a:xfrm>
          <a:prstGeom prst="line">
            <a:avLst/>
          </a:prstGeom>
          <a:ln w="19050">
            <a:solidFill>
              <a:srgbClr val="162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2447" y="2830068"/>
            <a:ext cx="240030" cy="0"/>
          </a:xfrm>
          <a:prstGeom prst="line">
            <a:avLst/>
          </a:prstGeom>
          <a:ln w="19050">
            <a:solidFill>
              <a:srgbClr val="1620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208337" y="1106424"/>
            <a:ext cx="128016" cy="128016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9505" y="1069848"/>
            <a:ext cx="397447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驗證點：緩存命中率、並行文件系統元數據擴展性</a:t>
            </a:r>
          </a:p>
        </p:txBody>
      </p:sp>
      <p:sp>
        <p:nvSpPr>
          <p:cNvPr id="15" name="Oval 14"/>
          <p:cNvSpPr/>
          <p:nvPr/>
        </p:nvSpPr>
        <p:spPr>
          <a:xfrm>
            <a:off x="7208337" y="1883664"/>
            <a:ext cx="128016" cy="128016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9505" y="1847088"/>
            <a:ext cx="397447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合規：跨境傳輸策略與審計追蹤</a:t>
            </a:r>
          </a:p>
        </p:txBody>
      </p:sp>
      <p:sp>
        <p:nvSpPr>
          <p:cNvPr id="17" name="Oval 16"/>
          <p:cNvSpPr/>
          <p:nvPr/>
        </p:nvSpPr>
        <p:spPr>
          <a:xfrm>
            <a:off x="7208337" y="2660904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9505" y="2624328"/>
            <a:ext cx="397447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運營：恢復演練與備份窗口成本需要權衡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建議分級治理並把恢復演練納入 SLO。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廠商案例研究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6032"/>
            <a:ext cx="97532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Inter, Arial, sans-serif"/>
              </a:rPr>
              <a:t>对比 AWS（云原生存储生态）与 Dell（企业级硬件）的差异化优势</a:t>
            </a:r>
          </a:p>
          <a:p>
            <a:r>
              <a:rPr sz="1000">
                <a:solidFill>
                  <a:srgbClr val="42505D"/>
                </a:solidFill>
                <a:latin typeface="Inter, Arial, sans-serif"/>
              </a:rPr>
              <a:t>国际厂商案例：AWS vs 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1097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069848"/>
            <a:ext cx="1733500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5152" y="1106424"/>
            <a:ext cx="158719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AWS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95500" y="1069848"/>
            <a:ext cx="1733500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8652" y="1106424"/>
            <a:ext cx="158719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Dell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9000" y="1069848"/>
            <a:ext cx="1733500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2152" y="1106424"/>
            <a:ext cx="158719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阿里云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2501" y="1069848"/>
            <a:ext cx="1733500" cy="41148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653" y="1106424"/>
            <a:ext cx="1587196" cy="3383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Inter, Arial, sans-serif"/>
              </a:rPr>
              <a:t>华为云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148132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95500" y="148132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9000" y="148132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62501" y="148132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152" y="153619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S3 + EBS + 本地 NVMe 实例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8652" y="153619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PowerMax / PowerScale NVMe 阵列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2152" y="153619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Pangu + SSD cache 分层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653" y="153619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PMem + NVMe 层 + CXL 试点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230581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训练/高并发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8652" y="230581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企业级事务与分析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2152" y="230581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大规模分析/训练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653" y="230581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低延迟事务/大模型内存弹性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2000" y="302056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95500" y="302056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9000" y="302056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62501" y="302056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152" y="307543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快照与跨区复制生态成熟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8652" y="307543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端到端运维工具链成熟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2152" y="307543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元数据扩展性强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653" y="3075432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硬件协同优势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152" y="384505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NVMe-oF 性能试点 + 快照/恢复成本评估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8652" y="384505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验证 NVMe 阵列性能 &amp; 快照恢复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2152" y="384505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分层下沉成本验证 + 元数据扩展性试验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653" y="384505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在受控集群测试 PMem/CXL 可用性与回退策略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2000" y="455980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95500" y="455980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29000" y="455980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62501" y="4559808"/>
            <a:ext cx="1733500" cy="76962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152" y="461467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跨区流量成本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8652" y="461467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高成本、运维资源需求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2152" y="461467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实现内部化优化难以外移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653" y="461467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国际互操作与硬件支持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152" y="538429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6–12 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8652" y="538429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6–12 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02152" y="538429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6–12 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653" y="5384291"/>
            <a:ext cx="1587196" cy="659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  <a:latin typeface="Inter, Arial, sans-serif"/>
              </a:rPr>
              <a:t>6–12 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90928" y="1069848"/>
            <a:ext cx="9144" cy="5029200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24428" y="1069848"/>
            <a:ext cx="9144" cy="5029200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57929" y="1069848"/>
            <a:ext cx="9144" cy="5029200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62000" y="1476756"/>
            <a:ext cx="6934001" cy="914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696001" y="1069848"/>
            <a:ext cx="3733693" cy="68580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96001" y="1069848"/>
            <a:ext cx="36576" cy="68580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24017" y="1124712"/>
            <a:ext cx="353252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599C"/>
                </a:solidFill>
                <a:latin typeface="Inter, Arial, sans-serif"/>
              </a:rPr>
              <a:t>💡 AWS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24017" y="1325880"/>
            <a:ext cx="353252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建议：NVMe-oF 性能试点 + 快照/恢复成本评估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96001" y="1865376"/>
            <a:ext cx="3733693" cy="68580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96001" y="1865376"/>
            <a:ext cx="36576" cy="685800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24017" y="1920240"/>
            <a:ext cx="353252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A1A1A"/>
                </a:solidFill>
                <a:latin typeface="Inter, Arial, sans-serif"/>
              </a:rPr>
              <a:t>⚠ AWS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4017" y="2121408"/>
            <a:ext cx="353252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风险：跨区流量成本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96001" y="2660904"/>
            <a:ext cx="3733693" cy="685800"/>
          </a:xfrm>
          <a:prstGeom prst="roundRect">
            <a:avLst/>
          </a:prstGeom>
          <a:solidFill>
            <a:srgbClr val="D0E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696001" y="2660904"/>
            <a:ext cx="36576" cy="68580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24017" y="2715768"/>
            <a:ext cx="353252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0599C"/>
                </a:solidFill>
                <a:latin typeface="Inter, Arial, sans-serif"/>
              </a:rPr>
              <a:t>💡 AWS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24017" y="2916936"/>
            <a:ext cx="353252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备注：快照与跨区复制生态成熟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2000" y="6318503"/>
            <a:ext cx="10210495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Inter, Arial, sans-serif"/>
              </a:rPr>
              <a:t>💡 对比阿里云（软件分层）与华为云（硬件协同）的差异化策略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