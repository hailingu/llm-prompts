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市场 (USD Bn)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92</c:v>
                </c:pt>
                <c:pt idx="2">
                  <c:v>100</c:v>
                </c:pt>
                <c:pt idx="3">
                  <c:v>110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China 市场 (USD Bn)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32</c:v>
                </c:pt>
                <c:pt idx="2">
                  <c:v>36</c:v>
                </c:pt>
                <c:pt idx="3">
                  <c:v>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NVMe server (%)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40</c:v>
                </c:pt>
                <c:pt idx="2">
                  <c:v>52</c:v>
                </c:pt>
                <c:pt idx="3">
                  <c:v>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NVMe-oF Deployments (%)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15</c:v>
                </c:pt>
                <c:pt idx="3">
                  <c:v>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PMem 市場 (USD M)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80</c:v>
                </c:pt>
                <c:pt idx="2">
                  <c:v>150</c:v>
                </c:pt>
                <c:pt idx="3">
                  <c:v>300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CSI 使用指數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50</c:v>
                </c:pt>
                <c:pt idx="3">
                  <c:v>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IOPS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Training Bandwidth (GB/s)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80</c:v>
                </c:pt>
                <c:pt idx="3">
                  <c:v>160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Inference IOPS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50000</c:v>
                </c:pt>
                <c:pt idx="1">
                  <c:v>100000</c:v>
                </c:pt>
                <c:pt idx="2">
                  <c:v>200000</c:v>
                </c:pt>
                <c:pt idx="3">
                  <c:v>400000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Inference Bandwidth (GB/s)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本次汇报聚焦 2023–2026 年间的技术与市场演进，并给出对企业/研究团队的短中长期建议。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30 秒概括结论，后续每节用 2–3 要点支撑。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每条结论配一行关键证据来源（CSV/报告）。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本节展示市场规模、云/企业分布与媒体份额的量化证据。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指出数据来源 (IDC/SNIA) 与估算注记；建议在讲稿中说明不确定性边界。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討論網絡（RDMA vs NVMe/TCP）與互操作性風險。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 PMem 的工程約束和試點驗證點（斷電恢復、一致性驗證）。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本節概括 NVMe、PMem、CXL、Computational Storage 的適用場景與工程要點。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對比不同場景下的網絡/QoS/回退策略，建議小規模互操作試驗。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建議在受控集群進行 CXL pooling/遷移延遲測試並記錄故障模式。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強調需保留主機回退路徑並優先在受控場景試點。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本節展示對象存儲、並行文件系統與雲原生存儲插件的趨勢與取捨。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 CSI 成熟度與運維挑戰，提出分階段遷移建議。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對比表用於幫助架構選擇（按工作負載特徵決策）。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建議按業務關鍵性分級備份策略並把恢復演練納常態運維。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本節給出訓練/推理的 I/O 特徵與組合實踐建議。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強調分層緩存 + NVMe-oF 的組合價值，並指出經濟性驗證點。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給出 POC 驗證清單（緩存命中率、峰值帶寬、成本對比）。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討論加密、審計、合規策略與災備設計。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建議分級治理並把恢復演練納入 SLO。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每家一頁要點化展示架構亮點、試點建議與風險。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 AWS（云原生存储生态）与 Dell（企业级硬件）的差异化优势。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对比阿里云（软件分层）与华为云（硬件协同）的差异化策略。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508760"/>
            <a:ext cx="9753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Inter, Arial, sans-serif"/>
              </a:rPr>
              <a:t>存储行业前沿（2023–2026）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3520" y="2606040"/>
            <a:ext cx="9204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Inter, Arial, sans-serif"/>
              </a:rPr>
              <a:t>本次汇报聚焦 2023–2026 年间的技术与市场演进，并给出对企业/研究团队的短中长期建议。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3093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Inter, Arial, sans-serif"/>
              </a:rPr>
              <a:t>2026-02-11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714500"/>
            <a:ext cx="9753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, Arial, sans-serif"/>
              </a:rPr>
              <a:t>开场与关键结论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3520" y="2880360"/>
            <a:ext cx="9204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Inter, Arial, sans-serif"/>
              </a:rPr>
              <a:t>存储行业进入“低延迟高带宽 + 智能分层 + 云原生整合”的过渡期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3520" y="3657599"/>
            <a:ext cx="9204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Inter, Arial, sans-serif"/>
              </a:rPr>
              <a:t>一行结论: 低延迟高带宽 + 智能分层 + 云原生整合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S0 · 开场与结论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关键结论与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738632"/>
            <a:ext cx="5265267" cy="77724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830072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1D35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728" y="1214120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1D35"/>
                </a:solidFill>
              </a:rPr>
              <a:t>Global (2026)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4427" y="738632"/>
            <a:ext cx="5265267" cy="77724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4155" y="830072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1D35"/>
                </a:solidFill>
                <a:latin typeface="Inter, Arial, sans-serif"/>
              </a:rPr>
              <a:t>40 USD 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4155" y="1214120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1D35"/>
                </a:solidFill>
              </a:rPr>
              <a:t>China (2026)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40" y="1698752"/>
            <a:ext cx="10484815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• 全球市场从 ~85 亿美元增长到 ~110 亿美元（2023→2026）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2475992"/>
            <a:ext cx="10484815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• NVMe、PMem、CXL 与云原生将主导未来 3 年创新路径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40" y="3253232"/>
            <a:ext cx="10484815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• 中国市场受数据主权与合规驱动，本地化与混合云需求上升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开场与结论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714500"/>
            <a:ext cx="9753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, Arial, sans-serif"/>
              </a:rPr>
              <a:t>市场与趋势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3520" y="2880360"/>
            <a:ext cx="9204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Inter, Arial, sans-serif"/>
              </a:rPr>
              <a:t>市场规模、云/企业分布与媒体份额的量化证据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9728"/>
            <a:ext cx="9753295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Inter, Arial, sans-serif"/>
              </a:rPr>
              <a:t>全球与中国市场增长显著，需差异化市场策略</a:t>
            </a:r>
          </a:p>
          <a:p>
            <a:r>
              <a:rPr sz="1000">
                <a:solidFill>
                  <a:srgbClr val="42505D"/>
                </a:solidFill>
                <a:latin typeface="Inter, Arial, sans-serif"/>
              </a:rPr>
              <a:t>市场规模：全球 vs 中国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10972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1024127"/>
            <a:ext cx="5265267" cy="77724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1115568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1D35"/>
                </a:solidFill>
                <a:latin typeface="Inter, Arial, sans-serif"/>
              </a:rPr>
              <a:t>85 USD Bn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728" y="1499616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1D35"/>
                </a:solidFill>
              </a:rPr>
              <a:t>Global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4427" y="1024127"/>
            <a:ext cx="5265267" cy="77724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4155" y="1115568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1D35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4155" y="1499616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1D35"/>
                </a:solidFill>
              </a:rPr>
              <a:t>Global 2026 (proj)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62000" y="1984248"/>
          <a:ext cx="10667695" cy="43708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318503"/>
            <a:ext cx="10210495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Inter, Arial, sans-serif"/>
              </a:rPr>
              <a:t>💡 在高增长区域优先布局 NVMe 与云集成以获取市场优势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NVMe 与 NVMe-oF 采纳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38632"/>
            <a:ext cx="10484815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• NVMe server adoption 快速上升，NVMe-oF 從少量部署走向规模化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62000" y="1653032"/>
          <a:ext cx="10667695" cy="47020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9728"/>
            <a:ext cx="9753295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Inter, Arial, sans-serif"/>
              </a:rPr>
              <a:t>PMem 在低延遲場景將實現快速增長，建議試点验证</a:t>
            </a:r>
          </a:p>
          <a:p>
            <a:r>
              <a:rPr sz="1000">
                <a:solidFill>
                  <a:srgbClr val="42505D"/>
                </a:solidFill>
                <a:latin typeface="Inter, Arial, sans-serif"/>
              </a:rPr>
              <a:t>PMem/SCM 與 介質份額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10972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1024127"/>
            <a:ext cx="10484815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• PMem 在低延遲場景增長顯著，但受成本/容量限制；建議在元數據/日志加速場景試點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62000" y="1938528"/>
          <a:ext cx="10667695" cy="44165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318503"/>
            <a:ext cx="10210495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Inter, Arial, sans-serif"/>
              </a:rPr>
              <a:t>💡 在日志与元数据场景开展 PMem 试点并记录恢复验证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714500"/>
            <a:ext cx="9753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, Arial, sans-serif"/>
              </a:rPr>
              <a:t>硬件層創新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3520" y="3154679"/>
            <a:ext cx="9204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Inter, Arial, sans-serif"/>
              </a:rPr>
              <a:t>要點: 概括 NVMe、PMem、CXL、Computational Storage 的適用場景與工程要點。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NVMe 工程實踐與建議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738632"/>
            <a:ext cx="5333847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5152" y="775208"/>
            <a:ext cx="5187543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並行訓練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738632"/>
            <a:ext cx="5333847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8999" y="775208"/>
            <a:ext cx="5187543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低延遲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1150112"/>
            <a:ext cx="5333847" cy="125552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5847" y="1150112"/>
            <a:ext cx="5333847" cy="125552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152" y="1204976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NVMe/TCP / RDMA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8999" y="1204976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RDMA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" y="2460498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100/200GbE leaf-spine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8999" y="2460498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3661155"/>
            <a:ext cx="5333847" cy="125552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5847" y="3661155"/>
            <a:ext cx="5333847" cy="125552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152" y="3716019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IO 並發、隊列延遲、丟包率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8999" y="3716019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P99 延遲、QDepth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152" y="4971542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8999" y="4971542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本地 NVMe/實例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1275" y="738632"/>
            <a:ext cx="9144" cy="5433568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000" y="1145540"/>
            <a:ext cx="10667695" cy="914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PMem 與 CXL 的應用與限制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738632"/>
            <a:ext cx="5333847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5152" y="775208"/>
            <a:ext cx="5187543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PMem (持久內存)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738632"/>
            <a:ext cx="5333847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8999" y="775208"/>
            <a:ext cx="5187543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CXL (遠內存 pooling)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1150112"/>
            <a:ext cx="5333847" cy="167402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5847" y="1150112"/>
            <a:ext cx="5333847" cy="167402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152" y="1204976"/>
            <a:ext cx="5187543" cy="15643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元數據/日志加速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8999" y="1204976"/>
            <a:ext cx="5187543" cy="15643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大模型內存彈性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" y="2879005"/>
            <a:ext cx="5187543" cy="15643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低 P99 延遲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8999" y="2879005"/>
            <a:ext cx="5187543" cy="15643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內存共享/擴展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4498170"/>
            <a:ext cx="5333847" cy="167402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5847" y="4498170"/>
            <a:ext cx="5333847" cy="167402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152" y="4553034"/>
            <a:ext cx="5187543" cy="15643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高成本、容量有限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8999" y="4553034"/>
            <a:ext cx="5187543" cy="15643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生態成熟度、隔離/權限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1275" y="738632"/>
            <a:ext cx="9144" cy="5433568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2000" y="1145540"/>
            <a:ext cx="10667695" cy="914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近數據處理（Computational Storage）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738632"/>
            <a:ext cx="5333847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5152" y="775208"/>
            <a:ext cx="5187543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邊緣流式預處理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738632"/>
            <a:ext cx="5333847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8999" y="775208"/>
            <a:ext cx="5187543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大規模日志/壓縮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1150112"/>
            <a:ext cx="5333847" cy="125552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5847" y="1150112"/>
            <a:ext cx="5333847" cy="125552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152" y="1204976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濾波/壓縮/解析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8999" y="1204976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設備側壓縮/索引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" y="2460498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端到端延遲、正確性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8999" y="2460498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吞吐 &amp; 減少主機 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3661155"/>
            <a:ext cx="5333847" cy="125552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5847" y="3661155"/>
            <a:ext cx="5333847" cy="125552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152" y="3716019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設備異構、編程模型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8999" y="3716019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152" y="4971542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8999" y="4971542"/>
            <a:ext cx="5187543" cy="11457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主機執行路徑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1275" y="738632"/>
            <a:ext cx="9144" cy="5433568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000" y="1145540"/>
            <a:ext cx="10667695" cy="914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714500"/>
            <a:ext cx="9753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, Arial, sans-serif"/>
              </a:rPr>
              <a:t>系統與雲原生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3520" y="2880360"/>
            <a:ext cx="9204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Inter, Arial, sans-serif"/>
              </a:rPr>
              <a:t>对象存储、并行文件系统与云原生存储的趋势与架构取舍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9728"/>
            <a:ext cx="9753295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Inter, Arial, sans-serif"/>
              </a:rPr>
              <a:t>云原生存储采纳率快速提高，应制定分阶段迁移计划</a:t>
            </a:r>
          </a:p>
          <a:p>
            <a:r>
              <a:rPr sz="1000">
                <a:solidFill>
                  <a:srgbClr val="42505D"/>
                </a:solidFill>
                <a:latin typeface="Inter, Arial, sans-serif"/>
              </a:rPr>
              <a:t>雲原生存儲採納指數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10972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13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62000" y="978407"/>
          <a:ext cx="10667695" cy="5376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318503"/>
            <a:ext cx="10210495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Inter, Arial, sans-serif"/>
              </a:rPr>
              <a:t>💡 制定分阶段迁移计划，优先 CSI 兼容用例并测量运维成本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存儲架構對比：對象 / 並行文件 / 分層緩存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738632"/>
            <a:ext cx="3555898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5152" y="775208"/>
            <a:ext cx="3409594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對象存儲 (S3 兼容)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7898" y="738632"/>
            <a:ext cx="3555898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91050" y="775208"/>
            <a:ext cx="3409594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並行文件系統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73796" y="738632"/>
            <a:ext cx="3555898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46948" y="775208"/>
            <a:ext cx="3409594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分層緩存 (Alluxio 等)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1150112"/>
            <a:ext cx="3555898" cy="167402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7898" y="1150112"/>
            <a:ext cx="3555898" cy="167402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73796" y="1150112"/>
            <a:ext cx="3555898" cy="167402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152" y="1204976"/>
            <a:ext cx="3409594" cy="15643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彈性擴展、成本優勢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1050" y="1204976"/>
            <a:ext cx="3409594" cy="15643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高帶寬並行 I/O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6948" y="1204976"/>
            <a:ext cx="3409594" cy="15643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提高並行讀性能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" y="2879005"/>
            <a:ext cx="3409594" cy="15643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小對象/低延遲場景需緩存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1050" y="2879005"/>
            <a:ext cx="3409594" cy="15643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元數據瓶頸/運維複雜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46948" y="2879005"/>
            <a:ext cx="3409594" cy="15643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一致性/緩存失效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4498170"/>
            <a:ext cx="3555898" cy="167402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7898" y="4498170"/>
            <a:ext cx="3555898" cy="167402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73796" y="4498170"/>
            <a:ext cx="3555898" cy="167402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152" y="4553034"/>
            <a:ext cx="3409594" cy="15643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數據湖/歸檔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1050" y="4553034"/>
            <a:ext cx="3409594" cy="15643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HPC/訓練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6948" y="4553034"/>
            <a:ext cx="3409594" cy="15643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訓練/分析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3326" y="738632"/>
            <a:ext cx="9144" cy="5433568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9224" y="738632"/>
            <a:ext cx="9144" cy="5433568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2000" y="1145540"/>
            <a:ext cx="10667695" cy="914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數據保護、合規與不可變備份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38632"/>
            <a:ext cx="10484815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• 加密（靜態/傳輸）、WORM 與不可變快照為防勒索基礎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515872"/>
            <a:ext cx="10484815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• 合規：中國市場對本地化與跨境控制要求高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2293112"/>
            <a:ext cx="10484815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• 災備：異地多活與精細 RPO/RTO 設計必要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720" y="3207512"/>
            <a:ext cx="10576255" cy="5943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6592" y="3262376"/>
            <a:ext cx="10338511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8350F"/>
                </a:solidFill>
                <a:latin typeface="Inter, Arial, sans-serif"/>
              </a:rPr>
              <a:t>⚠ 備份成本: 不可變備份的容量與保留成本可能顯著上升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714500"/>
            <a:ext cx="9753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, Arial, sans-serif"/>
              </a:rPr>
              <a:t>面向 AI 的存儲演進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3520" y="2880360"/>
            <a:ext cx="9204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Inter, Arial, sans-serif"/>
              </a:rPr>
              <a:t>训练/推理的 I/O 特征与存储组合实践建议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AI I/O 要求（Training vs Inference）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17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62000" y="692912"/>
          <a:ext cx="10667695" cy="56621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面向 AI 的存储演进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AI 數據路徑設計 (對象 + 並行 FS + 緩存)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38632"/>
            <a:ext cx="10484815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• 建議：S3+並行文件系統+本地 NVMe cache 組合用於訓練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515872"/>
            <a:ext cx="10484815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• 驗證點：緩存命中率、並行文件系統元數據擴展性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430272"/>
            <a:ext cx="10667695" cy="32004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728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4880" y="2887472"/>
            <a:ext cx="103019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2808D"/>
                </a:solidFill>
                <a:latin typeface="Inter, Arial, sans-serif"/>
              </a:rPr>
              <a:t>graph LR; ObjectStorage--&gt;Cache[Alluxio/Local NVMe Cache]--&gt;ParallelFS; ParallelFS--&gt;Compute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面向 AI 的存储演进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714500"/>
            <a:ext cx="9753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, Arial, sans-serif"/>
              </a:rPr>
              <a:t>安全、可靠性與數據治理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3520" y="2880360"/>
            <a:ext cx="9204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Inter, Arial, sans-serif"/>
              </a:rPr>
              <a:t>加密、审计、合规策略与灾备设计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S5 · 安全与治理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安全實踐與工程風險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38632"/>
            <a:ext cx="10484815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• 不可變備份 + 快照流水線為防勒索核心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515872"/>
            <a:ext cx="10484815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• 合規：跨境傳輸策略與審計追蹤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2293112"/>
            <a:ext cx="10484815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• 運營：恢復演練與備份窗口成本需要權衡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720" y="3207512"/>
            <a:ext cx="10576255" cy="5943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6592" y="3262376"/>
            <a:ext cx="10338511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8350F"/>
                </a:solidFill>
                <a:latin typeface="Inter, Arial, sans-serif"/>
              </a:rPr>
              <a:t>⚠ 合規風險: 跨境數據傳輸與本地化要求導致架構複雜化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" y="3893311"/>
            <a:ext cx="10576255" cy="5943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592" y="3948175"/>
            <a:ext cx="10338511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8350F"/>
                </a:solidFill>
                <a:latin typeface="Inter, Arial, sans-serif"/>
              </a:rPr>
              <a:t>⚠ 成本風險: 高性能層的持續運行成本與備份成本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安全与治理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714500"/>
            <a:ext cx="9753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, Arial, sans-serif"/>
              </a:rPr>
              <a:t>廠商案例研究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国际厂商案例：AWS vs Dell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738632"/>
            <a:ext cx="2666923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5152" y="775208"/>
            <a:ext cx="2520619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AWS 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8923" y="738632"/>
            <a:ext cx="2666923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075" y="775208"/>
            <a:ext cx="2520619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AWS 试点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738632"/>
            <a:ext cx="2666923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8999" y="775208"/>
            <a:ext cx="2520619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Dell 架构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2771" y="738632"/>
            <a:ext cx="2666923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923" y="775208"/>
            <a:ext cx="2520619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Dell 试点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1150112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8923" y="1150112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47" y="1150112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2771" y="1150112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152" y="1204976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S3 + EBS + 本地 NVMe 实例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075" y="1204976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8999" y="1204976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PowerMax / PowerScale NVMe 阵列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5923" y="1204976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2041990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训练/高并发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075" y="2041990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8999" y="2041990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企业级事务与分析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5923" y="2041990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2824141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8923" y="2824141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5847" y="2824141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62771" y="2824141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152" y="2879005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快照与跨区复制生态成熟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075" y="2879005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8999" y="2879005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端到端运维工具链成熟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5923" y="2879005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152" y="371601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02075" y="371601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NVMe-oF 性能试点 + 快照/恢复成本评估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8999" y="371601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5923" y="371601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验证 NVMe 阵列性能 &amp; 快照恢复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2000" y="4498170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28923" y="4498170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95847" y="4498170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62771" y="4498170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5152" y="4553034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2075" y="4553034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跨区流量成本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68999" y="4553034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5923" y="4553034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高成本、运维资源需求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152" y="539004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02075" y="539004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6–12 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8999" y="539004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35923" y="539004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6–12 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24351" y="738632"/>
            <a:ext cx="9144" cy="5433568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91275" y="738632"/>
            <a:ext cx="9144" cy="5433568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58199" y="738632"/>
            <a:ext cx="9144" cy="5433568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62000" y="1145540"/>
            <a:ext cx="10667695" cy="914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厂商案例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国内厂商案例：阿里云 vs 华为云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738632"/>
            <a:ext cx="2666923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5152" y="775208"/>
            <a:ext cx="2520619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阿里云 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8923" y="738632"/>
            <a:ext cx="2666923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075" y="775208"/>
            <a:ext cx="2520619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阿里云 试点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738632"/>
            <a:ext cx="2666923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8999" y="775208"/>
            <a:ext cx="2520619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华为云 架构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2771" y="738632"/>
            <a:ext cx="2666923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923" y="775208"/>
            <a:ext cx="2520619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华为云 试点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1150112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8923" y="1150112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47" y="1150112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2771" y="1150112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152" y="1204976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Pangu + SSD cache 分层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075" y="1204976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8999" y="1204976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PMem + NVMe 层 + CXL 试点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5923" y="1204976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2041990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大规模分析/训练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075" y="2041990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8999" y="2041990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低延迟事务/大模型内存弹性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5923" y="2041990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2824141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8923" y="2824141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5847" y="2824141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62771" y="2824141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152" y="2879005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元数据扩展性强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075" y="2879005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8999" y="2879005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硬件协同优势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5923" y="2879005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152" y="371601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02075" y="371601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分层下沉成本验证 + 元数据扩展性试验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8999" y="371601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5923" y="371601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在受控集群测试 PMem/CXL 可用性与回退策略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2000" y="4498170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28923" y="4498170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95847" y="4498170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62771" y="4498170"/>
            <a:ext cx="2666923" cy="83701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5152" y="4553034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2075" y="4553034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实现内部化优化难以外移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68999" y="4553034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5923" y="4553034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国际互操作与硬件支持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152" y="539004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02075" y="539004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6–12 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8999" y="539004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35923" y="5390049"/>
            <a:ext cx="2520619" cy="7272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6–12 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24351" y="738632"/>
            <a:ext cx="9144" cy="5433568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91275" y="738632"/>
            <a:ext cx="9144" cy="5433568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58199" y="738632"/>
            <a:ext cx="9144" cy="5433568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62000" y="1145540"/>
            <a:ext cx="10667695" cy="914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厂商案例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