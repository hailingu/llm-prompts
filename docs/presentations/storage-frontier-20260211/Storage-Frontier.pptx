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本次汇报聚焦 2023–2026 年间的技术与市场演进，并给出对企业/研究团队的短中长期建议。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30 秒概括结论，后续每节用 2–3 要点支撑。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每条结论配一行关键证据来源（CSV/报告）。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本节展示市场规模、云/企业分布与媒体份额的量化证据。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指出数据来源 (IDC/SNIA) 与估算注记；建议在讲稿中说明不确定性边界。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討論網絡（RDMA vs NVMe/TCP）與互操作性風險。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 PMem 的工程約束和試點驗證點（斷電恢復、一致性驗證）。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本節概括 NVMe、PMem、CXL、Computational Storage 的適用場景與工程要點。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對比不同場景下的網絡/QoS/回退策略，建議小規模互操作試驗。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建議在受控集群進行 CXL pooling/遷移延遲測試並記錄故障模式。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強調需保留主機回退路徑並優先在受控場景試點。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本節展示對象存儲、並行文件系統與雲原生存儲插件的趨勢與取捨。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說明 CSI 成熟度與運維挑戰，提出分階段遷移建議。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對比表用於幫助架構選擇（按工作負載特徵決策）。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建議按業務關鍵性分級備份策略並把恢復演練納常態運維。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本節給出訓練/推理的 I/O 特徵與組合實踐建議。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強調分層緩存 + NVMe-oF 的組合價值，並指出經濟性驗證點。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給出 POC 驗證清單（緩存命中率、峰值帶寬、成本對比）。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討論加密、審計、合規策略與災備設計。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建議分級治理並把恢復演練納入 SLO。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每家一頁要點化展示架構亮點、試點建議與風險。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強調商業化服務成熟度與成本-性能權衡。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建議對 Pangu 的分層策略做成本-性能實驗並記錄運維複雜度。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建議與硬件合作夥伴確認支持矩陣並測試回退路徑。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推薦與廠商工程團隊聯合開展性能與恢復試驗。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057400"/>
            <a:ext cx="8838895" cy="70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存储行业前沿（2023–2026）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/>
              <a:t>关键趋势、厂商案例与可落地建议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i="1"/>
              <a:t>Author: markdown-writer-specialist    Date: 2026-02-11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开场与关键结论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33600" y="3429000"/>
            <a:ext cx="7924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存储行业进入“低延迟高带宽 + 智能分层 + 云原生整合”的过渡期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S0 · 开场与结论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关键结论与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855472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• 全球市场从 ~85 亿美元增长到 ~110 亿美元（2023→2026）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294384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• NVMe、PMem、CXL 与云原生将主导未来 3 年创新路径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" y="1733296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• 中国市场受数据主权与合规驱动，本地化与混合云需求上升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3440" y="2309368"/>
            <a:ext cx="5173827" cy="777240"/>
          </a:xfrm>
          <a:prstGeom prst="roundRect">
            <a:avLst/>
          </a:prstGeom>
          <a:solidFill>
            <a:srgbClr val="E6F0FF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3167" y="2400808"/>
            <a:ext cx="49543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110 USD Bn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3167" y="2784856"/>
            <a:ext cx="495437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>Global (2026)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2309368"/>
            <a:ext cx="5173827" cy="777240"/>
          </a:xfrm>
          <a:prstGeom prst="roundRect">
            <a:avLst/>
          </a:prstGeom>
          <a:solidFill>
            <a:srgbClr val="E6F0FF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4155" y="2400808"/>
            <a:ext cx="49543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40 USD 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4155" y="2784856"/>
            <a:ext cx="495437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>China (2026)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开场与结论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3 / 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104896"/>
            <a:ext cx="10332720" cy="7346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市场与趋势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市场规模：全球 vs 中国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809752"/>
            <a:ext cx="2541193" cy="777240"/>
          </a:xfrm>
          <a:prstGeom prst="roundRect">
            <a:avLst/>
          </a:prstGeom>
          <a:solidFill>
            <a:srgbClr val="E6F0FF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1728" y="901192"/>
            <a:ext cx="232173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85 USD Bn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728" y="1285240"/>
            <a:ext cx="2321737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>Global 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0353" y="809752"/>
            <a:ext cx="2541193" cy="777240"/>
          </a:xfrm>
          <a:prstGeom prst="roundRect">
            <a:avLst/>
          </a:prstGeom>
          <a:solidFill>
            <a:srgbClr val="E6F0FF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0081" y="901192"/>
            <a:ext cx="232173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110 USD Bn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0081" y="1285240"/>
            <a:ext cx="2321737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>Global 2026 (proj)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0147" y="809752"/>
          <a:ext cx="5219547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909"/>
                <a:gridCol w="1043909"/>
                <a:gridCol w="1043909"/>
                <a:gridCol w="1043909"/>
                <a:gridCol w="1043911"/>
              </a:tblGrid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</a:rPr>
                        <a:t>Global 市场 (USD Bn)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85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92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100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110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</a:rPr>
                        <a:t>China 市场 (USD Bn)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市场与趋势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5 / 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2336800"/>
            <a:ext cx="10332720" cy="15027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NVMe 与 NVMe-oF 采纳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720" y="809752"/>
            <a:ext cx="51281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• NVMe server adoption 快速上升，NVMe-oF 從少量部署走向规模化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0147" y="809752"/>
          <a:ext cx="5219547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909"/>
                <a:gridCol w="1043909"/>
                <a:gridCol w="1043909"/>
                <a:gridCol w="1043909"/>
                <a:gridCol w="1043911"/>
              </a:tblGrid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</a:rPr>
                        <a:t>NVMe server (%)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30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40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52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65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</a:rPr>
                        <a:t>NVMe-oF Deployments (%)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市场与趋势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6 / 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336800"/>
            <a:ext cx="10332720" cy="15027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PMem/SCM 與 介質份額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720" y="809752"/>
            <a:ext cx="51281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• PMem 在低延遲場景增長顯著，但受成本/容量限制；建議在元數據/日志加速場景試點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市场与趋势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7 / 25</a:t>
            </a:r>
          </a:p>
        </p:txBody>
      </p:sp>
      <p:pic>
        <p:nvPicPr>
          <p:cNvPr id="17" name="Picture 16" descr="figure_pm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5029200" cy="2514600"/>
          </a:xfrm>
          <a:prstGeom prst="rect">
            <a:avLst/>
          </a:prstGeom>
        </p:spPr>
      </p:pic>
      <p:pic>
        <p:nvPicPr>
          <p:cNvPr id="18" name="Picture 17" descr="figure_media_sh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828800"/>
            <a:ext cx="50292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硬件層創新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NVMe 工程實踐與建議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855472"/>
            <a:ext cx="5265267" cy="5545327"/>
          </a:xfrm>
          <a:prstGeom prst="roundRect">
            <a:avLst/>
          </a:prstGeom>
          <a:solidFill>
            <a:srgbClr val="F3F4F6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1728" y="946912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並行訓練</a:t>
            </a:r>
          </a:p>
        </p:txBody>
      </p:sp>
      <p:sp>
        <p:nvSpPr>
          <p:cNvPr id="8" name="Rectangle 7"/>
          <p:cNvSpPr/>
          <p:nvPr/>
        </p:nvSpPr>
        <p:spPr>
          <a:xfrm>
            <a:off x="871728" y="1294384"/>
            <a:ext cx="5045811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1358392"/>
            <a:ext cx="5045811" cy="495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推薦協議: NVMe/TCP / RDMA
網絡要點: 100/200GbE leaf-spine
驗證指標: IO 並發、隊列延遲、丟包率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4427" y="855472"/>
            <a:ext cx="5265267" cy="5545327"/>
          </a:xfrm>
          <a:prstGeom prst="roundRect">
            <a:avLst/>
          </a:prstGeom>
          <a:solidFill>
            <a:srgbClr val="F3F4F6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4155" y="946912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低延遲 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4155" y="1294384"/>
            <a:ext cx="5045811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4155" y="1358392"/>
            <a:ext cx="5045811" cy="495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推薦協議: RDMA
驗證指標: P99 延遲、QDepth
回退策略: 本地 NVMe/實例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硬件层创新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PMem 與 CXL 的應用與限制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855472"/>
            <a:ext cx="5265267" cy="5545327"/>
          </a:xfrm>
          <a:prstGeom prst="roundRect">
            <a:avLst/>
          </a:prstGeom>
          <a:solidFill>
            <a:srgbClr val="F3F4F6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1728" y="946912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PMem (持久內存)</a:t>
            </a:r>
          </a:p>
        </p:txBody>
      </p:sp>
      <p:sp>
        <p:nvSpPr>
          <p:cNvPr id="8" name="Rectangle 7"/>
          <p:cNvSpPr/>
          <p:nvPr/>
        </p:nvSpPr>
        <p:spPr>
          <a:xfrm>
            <a:off x="871728" y="1294384"/>
            <a:ext cx="5045811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1358392"/>
            <a:ext cx="5045811" cy="495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適用: 元數據/日志加速
優點: 低 P99 延遲
局限: 高成本、容量有限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4427" y="855472"/>
            <a:ext cx="5265267" cy="5545327"/>
          </a:xfrm>
          <a:prstGeom prst="roundRect">
            <a:avLst/>
          </a:prstGeom>
          <a:solidFill>
            <a:srgbClr val="F3F4F6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4155" y="946912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CXL (遠內存 pooling)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4155" y="1294384"/>
            <a:ext cx="5045811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4155" y="1358392"/>
            <a:ext cx="5045811" cy="495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適用: 大模型內存彈性
優點: 內存共享/擴展
局限: 生態成熟度、隔離/權限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硬件层创新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近數據處理（Computational Storage）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855472"/>
            <a:ext cx="5265267" cy="5545327"/>
          </a:xfrm>
          <a:prstGeom prst="roundRect">
            <a:avLst/>
          </a:prstGeom>
          <a:solidFill>
            <a:srgbClr val="F3F4F6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1728" y="946912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邊緣流式預處理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871728" y="1294384"/>
            <a:ext cx="5045811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1358392"/>
            <a:ext cx="5045811" cy="495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用例: 濾波/壓縮/解析
驗證點: 端到端延遲、正確性
限制: 設備異構、編程模型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4427" y="855472"/>
            <a:ext cx="5265267" cy="5545327"/>
          </a:xfrm>
          <a:prstGeom prst="roundRect">
            <a:avLst/>
          </a:prstGeom>
          <a:solidFill>
            <a:srgbClr val="F3F4F6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4155" y="946912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大規模日志/壓縮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4155" y="1294384"/>
            <a:ext cx="5045811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4155" y="1358392"/>
            <a:ext cx="5045811" cy="495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用例: 設備側壓縮/索引
驗證點: 吞吐 &amp; 減少主機 IO
回退: 主機執行路徑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硬件层创新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系統與雲原生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雲原生存儲採納指數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2000" y="809752"/>
          <a:ext cx="10667695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539"/>
                <a:gridCol w="2133539"/>
                <a:gridCol w="2133539"/>
                <a:gridCol w="2133539"/>
                <a:gridCol w="2133539"/>
              </a:tblGrid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</a:rPr>
                        <a:t>CSI 使用指數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20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35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50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65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系统与云原生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13 / 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1833880"/>
            <a:ext cx="10332720" cy="20056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存儲架構對比：對象 / 並行文件 / 分層緩存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855472"/>
            <a:ext cx="3464458" cy="5545327"/>
          </a:xfrm>
          <a:prstGeom prst="roundRect">
            <a:avLst/>
          </a:prstGeom>
          <a:solidFill>
            <a:srgbClr val="F3F4F6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1728" y="946912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對象存儲 (S3 兼容)</a:t>
            </a:r>
          </a:p>
        </p:txBody>
      </p:sp>
      <p:sp>
        <p:nvSpPr>
          <p:cNvPr id="8" name="Rectangle 7"/>
          <p:cNvSpPr/>
          <p:nvPr/>
        </p:nvSpPr>
        <p:spPr>
          <a:xfrm>
            <a:off x="871728" y="1294384"/>
            <a:ext cx="3245002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1358392"/>
            <a:ext cx="3245002" cy="495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優點: 彈性擴展、成本優勢
局限: 小對象/低延遲場景需緩存
典型場景: 數據湖/歸檔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3618" y="855472"/>
            <a:ext cx="3464458" cy="5545327"/>
          </a:xfrm>
          <a:prstGeom prst="roundRect">
            <a:avLst/>
          </a:prstGeom>
          <a:solidFill>
            <a:srgbClr val="F3F4F6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3346" y="946912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並行文件系統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3346" y="1294384"/>
            <a:ext cx="3245002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3346" y="1358392"/>
            <a:ext cx="3245002" cy="495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優點: 高帶寬並行 I/O
局限: 元數據瓶頸/運維複雜
典型場景: HPC/訓練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65236" y="855472"/>
            <a:ext cx="3464458" cy="5545327"/>
          </a:xfrm>
          <a:prstGeom prst="roundRect">
            <a:avLst/>
          </a:prstGeom>
          <a:solidFill>
            <a:srgbClr val="F3F4F6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964" y="946912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分層緩存 (Alluxio 等)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964" y="1294384"/>
            <a:ext cx="3245002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964" y="1358392"/>
            <a:ext cx="3245002" cy="495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優點: 提高並行讀性能
局限: 一致性/緩存失效
典型場景: 訓練/分析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系统与云原生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數據保護、合規與不可變備份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855472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• 加密（靜態/傳輸）、WORM 與不可變快照為防勒索基礎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294384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• 合規：中國市場對本地化與跨境控制要求高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" y="1733296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• 災備：異地多活與精細 RPO/RTO 設計必要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40" y="2309368"/>
            <a:ext cx="3669685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F172A"/>
                </a:solidFill>
              </a:rPr>
              <a:t>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3125" y="2309368"/>
            <a:ext cx="125817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F172A"/>
                </a:solidFill>
              </a:rPr>
              <a:t>概率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1303" y="2309368"/>
            <a:ext cx="125817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F172A"/>
                </a:solidFill>
              </a:rPr>
              <a:t>影响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9480" y="2309368"/>
            <a:ext cx="429877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F172A"/>
                </a:solidFill>
              </a:rPr>
              <a:t>缓解措施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3440" y="2638552"/>
            <a:ext cx="1048481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440" y="2656840"/>
            <a:ext cx="3669685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3125" y="2656840"/>
            <a:ext cx="125817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1303" y="2656840"/>
            <a:ext cx="125817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9480" y="2656840"/>
            <a:ext cx="429877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系统与云原生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15 / 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3022600"/>
            <a:ext cx="10332720" cy="8169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面向 AI 的存儲演進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S4 · 面向 AI 的存储演进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AI I/O 要求（Training vs Inference）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2000" y="809752"/>
          <a:ext cx="106676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539"/>
                <a:gridCol w="2133539"/>
                <a:gridCol w="2133539"/>
                <a:gridCol w="2133539"/>
                <a:gridCol w="2133539"/>
              </a:tblGrid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</a:rPr>
                        <a:t>Training IOPS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500000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1000000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2000000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4000000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</a:rPr>
                        <a:t>Training Bandwidth (GB/s)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160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</a:rPr>
                        <a:t>Inference IOPS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50000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100000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200000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400000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</a:rPr>
                        <a:t>Inference Bandwidth (GB/s)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面向 AI 的存储演进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17 / 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342640"/>
            <a:ext cx="10332720" cy="4969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S4 · 面向 AI 的存储演进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AI 數據路徑設計 (對象 + 並行 FS + 緩存)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855472"/>
            <a:ext cx="59446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• 建議：S3+並行文件系統+本地 NVMe cache 組合用於訓練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294384"/>
            <a:ext cx="59446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• 驗證點：緩存命中率、並行文件系統元數據擴展性</a:t>
            </a:r>
          </a:p>
        </p:txBody>
      </p:sp>
      <p:pic>
        <p:nvPicPr>
          <p:cNvPr id="8" name="Picture 7" descr="tmp756nc4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172" y="855472"/>
            <a:ext cx="4311523" cy="55453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面向 AI 的存储演进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安全、可靠性與數據治理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S5 · 安全与治理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安全實踐與工程風險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855472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• 不可變備份 + 快照流水線為防勒索核心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294384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• 合規：跨境傳輸策略與審計追蹤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" y="1733296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• 運營：恢復演練與備份窗口成本需要權衡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40" y="2309368"/>
            <a:ext cx="3669685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F172A"/>
                </a:solidFill>
              </a:rPr>
              <a:t>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3125" y="2309368"/>
            <a:ext cx="125817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F172A"/>
                </a:solidFill>
              </a:rPr>
              <a:t>概率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1303" y="2309368"/>
            <a:ext cx="125817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F172A"/>
                </a:solidFill>
              </a:rPr>
              <a:t>影响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9480" y="2309368"/>
            <a:ext cx="429877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F172A"/>
                </a:solidFill>
              </a:rPr>
              <a:t>缓解措施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3440" y="2638552"/>
            <a:ext cx="1048481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440" y="2656840"/>
            <a:ext cx="3669685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3125" y="2656840"/>
            <a:ext cx="125817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1303" y="2656840"/>
            <a:ext cx="125817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9480" y="2656840"/>
            <a:ext cx="429877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853440" y="3004312"/>
            <a:ext cx="10484815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440" y="3004312"/>
            <a:ext cx="3669685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125" y="3004312"/>
            <a:ext cx="125817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81303" y="3004312"/>
            <a:ext cx="125817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9480" y="3004312"/>
            <a:ext cx="429877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安全与治理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20 / 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3370072"/>
            <a:ext cx="10332720" cy="4694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廠商案例研究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AWS：架構亮點與試點建議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855472"/>
            <a:ext cx="5265267" cy="5545327"/>
          </a:xfrm>
          <a:prstGeom prst="roundRect">
            <a:avLst/>
          </a:prstGeom>
          <a:solidFill>
            <a:srgbClr val="F3F4F6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1728" y="946912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架構概述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871728" y="1294384"/>
            <a:ext cx="5045811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1358392"/>
            <a:ext cx="5045811" cy="495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亮點: S3 + EBS + 本地 NVMe 實例
場景: 訓練/高並發 DB
備註: 快照與跨區複製生態成熟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4427" y="855472"/>
            <a:ext cx="5265267" cy="5545327"/>
          </a:xfrm>
          <a:prstGeom prst="roundRect">
            <a:avLst/>
          </a:prstGeom>
          <a:solidFill>
            <a:srgbClr val="F3F4F6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4155" y="946912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試點建議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4155" y="1294384"/>
            <a:ext cx="5045811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4155" y="1358392"/>
            <a:ext cx="5045811" cy="495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建議: NVMe-oF 性能試點 + 快照/恢復成本評估
風險: 跨區流量成本
時間: 6–12 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厂商案例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阿里云（Pangu）— 架構與經驗要點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855472"/>
            <a:ext cx="5265267" cy="5545327"/>
          </a:xfrm>
          <a:prstGeom prst="roundRect">
            <a:avLst/>
          </a:prstGeom>
          <a:solidFill>
            <a:srgbClr val="F3F4F6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1728" y="946912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架構亮點</a:t>
            </a:r>
          </a:p>
        </p:txBody>
      </p:sp>
      <p:sp>
        <p:nvSpPr>
          <p:cNvPr id="8" name="Rectangle 7"/>
          <p:cNvSpPr/>
          <p:nvPr/>
        </p:nvSpPr>
        <p:spPr>
          <a:xfrm>
            <a:off x="871728" y="1294384"/>
            <a:ext cx="5045811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1358392"/>
            <a:ext cx="5045811" cy="495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亮點: Pangu + SSD cache 分層
場景: 大規模分析/訓練
備註: 元數據擴展性強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4427" y="855472"/>
            <a:ext cx="5265267" cy="5545327"/>
          </a:xfrm>
          <a:prstGeom prst="roundRect">
            <a:avLst/>
          </a:prstGeom>
          <a:solidFill>
            <a:srgbClr val="F3F4F6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4155" y="946912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試點建議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4155" y="1294384"/>
            <a:ext cx="5045811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4155" y="1358392"/>
            <a:ext cx="5045811" cy="495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建議: 分層下沉成本驗證 + 元數據擴展性試驗
風險: 實現內部化優化難以外移
時間: 6–12 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厂商案例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華為云（硬件協同）— 要點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855472"/>
            <a:ext cx="5265267" cy="5545327"/>
          </a:xfrm>
          <a:prstGeom prst="roundRect">
            <a:avLst/>
          </a:prstGeom>
          <a:solidFill>
            <a:srgbClr val="F3F4F6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1728" y="946912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架構亮點</a:t>
            </a:r>
          </a:p>
        </p:txBody>
      </p:sp>
      <p:sp>
        <p:nvSpPr>
          <p:cNvPr id="8" name="Rectangle 7"/>
          <p:cNvSpPr/>
          <p:nvPr/>
        </p:nvSpPr>
        <p:spPr>
          <a:xfrm>
            <a:off x="871728" y="1294384"/>
            <a:ext cx="5045811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1358392"/>
            <a:ext cx="5045811" cy="495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亮點: PMem + NVMe 層 + CXL 試點
場景: 低延遲事務/大模型內存彈性
備註: 硬件協同優勢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4427" y="855472"/>
            <a:ext cx="5265267" cy="5545327"/>
          </a:xfrm>
          <a:prstGeom prst="roundRect">
            <a:avLst/>
          </a:prstGeom>
          <a:solidFill>
            <a:srgbClr val="F3F4F6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4155" y="946912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試點建議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4155" y="1294384"/>
            <a:ext cx="5045811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4155" y="1358392"/>
            <a:ext cx="5045811" cy="495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建議: 在受控集群測試 PMem/CXL 可用性與回退策略
風險: 國際互操作與硬件支持
時間: 6–12 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厂商案例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Dell：企業混合雲與 NVMe 產品要點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855472"/>
            <a:ext cx="5265267" cy="5545327"/>
          </a:xfrm>
          <a:prstGeom prst="roundRect">
            <a:avLst/>
          </a:prstGeom>
          <a:solidFill>
            <a:srgbClr val="F3F4F6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1728" y="946912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架構亮點</a:t>
            </a:r>
          </a:p>
        </p:txBody>
      </p:sp>
      <p:sp>
        <p:nvSpPr>
          <p:cNvPr id="8" name="Rectangle 7"/>
          <p:cNvSpPr/>
          <p:nvPr/>
        </p:nvSpPr>
        <p:spPr>
          <a:xfrm>
            <a:off x="871728" y="1294384"/>
            <a:ext cx="5045811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1358392"/>
            <a:ext cx="5045811" cy="495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亮點: PowerMax / PowerScale NVMe 陣列
場景: 企業級事務與分析
備註: 端到端運維工具鏈成熟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4427" y="855472"/>
            <a:ext cx="5265267" cy="5545327"/>
          </a:xfrm>
          <a:prstGeom prst="roundRect">
            <a:avLst/>
          </a:prstGeom>
          <a:solidFill>
            <a:srgbClr val="F3F4F6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4155" y="946912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試點建議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4155" y="1294384"/>
            <a:ext cx="5045811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4155" y="1358392"/>
            <a:ext cx="5045811" cy="495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建議: 驗證 NVMe 陣列性能 &amp; 快照恢復
風險: 高成本、運維資源需求
時間: 6–12 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厂商案例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