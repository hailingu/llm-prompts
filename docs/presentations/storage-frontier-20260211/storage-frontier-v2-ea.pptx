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本次汇报聚焦 2023–2026 年间的技术与市场演进，并给出对企业/研究团队的短中长期建议。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30 秒概括结论，后续每节用 2–3 要点支撑。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本节展示市场规模、云/企业分布与媒体份额的量化证据。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討論網絡（RDMA vs NVMe/TCP）與互操作性風險。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本節概括 NVMe、PMem、CXL、Computational Storage 的適用場景與工程要點。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建議在受控集群進行 CXL pooling/遷移延遲測試並記錄故障模式。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本節展示對象存儲、並行文件系統與雲原生存儲插件的趨勢與取捨。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對比表用於幫助架構選擇（按工作負載特徵決策）。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本節給出訓練/推理的 I/O 特徵與組合實踐建議。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給出 POC 驗證清單（緩存命中率、峰值帶寬、成本對比）。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討論加密、審計、合規策略與災備設計。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每家一頁要點化展示架構亮點、試點建議與風險。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对比阿里云（软件分层）与华为云（硬件协同）的差异化策略。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057400"/>
            <a:ext cx="8838895" cy="70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存储行业前沿（2023–2026）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192024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开场与关键结论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274320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33600" y="3086100"/>
            <a:ext cx="7924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存储行业进入“低延迟高带宽 + 智能分层 + 云原生整合”的过渡期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38247" y="3543300"/>
            <a:ext cx="7315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21127" y="3616452"/>
            <a:ext cx="6949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202A"/>
                </a:solidFill>
                <a:latin typeface="Inter, Arial, sans-serif"/>
              </a:rPr>
              <a:t>一行结论: 低延迟高带宽 + 智能分层 + 云原生整合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1679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43565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35451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27336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19222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1108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2993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192024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市场与趋势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274320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33600" y="3086100"/>
            <a:ext cx="7924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市场规模、云/企业分布与媒体份额的量化证据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1679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65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35451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27336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9222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11108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02993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S1 · 市场与趋势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NVMe 与 NVMe-oF 采纳 (2023–2026)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0324"/>
            <a:ext cx="12191695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720" y="953516"/>
            <a:ext cx="73152" cy="73152"/>
          </a:xfrm>
          <a:prstGeom prst="ellipse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784352"/>
            <a:ext cx="103933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 b="1">
                <a:solidFill>
                  <a:srgbClr val="00599C"/>
                </a:solidFill>
                <a:latin typeface="Inter, Arial, sans-serif"/>
              </a:rPr>
              <a:t>NVMe server adoption</a:t>
            </a:r>
            <a:r>
              <a:rPr sz="1400">
                <a:solidFill>
                  <a:srgbClr val="16202A"/>
                </a:solidFill>
                <a:latin typeface="Inter, Arial, sans-serif"/>
              </a:rPr>
              <a:t> 快速上升，</a:t>
            </a:r>
            <a:r>
              <a:rPr sz="1400" b="1">
                <a:solidFill>
                  <a:srgbClr val="00599C"/>
                </a:solidFill>
                <a:latin typeface="Inter, Arial, sans-serif"/>
              </a:rPr>
              <a:t>NVMe-oF</a:t>
            </a:r>
            <a:r>
              <a:rPr sz="1400">
                <a:solidFill>
                  <a:srgbClr val="16202A"/>
                </a:solidFill>
                <a:latin typeface="Inter, Arial, sans-serif"/>
              </a:rPr>
              <a:t> 從少量部署走向规模化</a:t>
            </a:r>
          </a:p>
        </p:txBody>
      </p:sp>
      <p:sp>
        <p:nvSpPr>
          <p:cNvPr id="9" name="Oval 8"/>
          <p:cNvSpPr/>
          <p:nvPr/>
        </p:nvSpPr>
        <p:spPr>
          <a:xfrm>
            <a:off x="807720" y="1392428"/>
            <a:ext cx="73152" cy="73152"/>
          </a:xfrm>
          <a:prstGeom prst="ellipse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600" y="1223264"/>
            <a:ext cx="103933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 b="1">
                <a:solidFill>
                  <a:srgbClr val="00599C"/>
                </a:solidFill>
                <a:latin typeface="Inter, Arial, sans-serif"/>
              </a:rPr>
              <a:t>PMem</a:t>
            </a:r>
            <a:r>
              <a:rPr sz="1400">
                <a:solidFill>
                  <a:srgbClr val="16202A"/>
                </a:solidFill>
                <a:latin typeface="Inter, Arial, sans-serif"/>
              </a:rPr>
              <a:t> 在低延遲場景增長顯著，但受成本/容量限制；建議在元數據/日志加速場景試點</a:t>
            </a:r>
          </a:p>
        </p:txBody>
      </p:sp>
      <p:pic>
        <p:nvPicPr>
          <p:cNvPr id="11" name="Picture 10" descr="figure_nv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53616"/>
            <a:ext cx="10667695" cy="47843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3A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192024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硬件層創新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274320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38247" y="3086100"/>
            <a:ext cx="73152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21127" y="3159252"/>
            <a:ext cx="6949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202A"/>
                </a:solidFill>
                <a:latin typeface="Inter, Arial, sans-serif"/>
              </a:rPr>
              <a:t>要點: 概括 NVMe、PMem、CXL、Computational Storage 的適用場景與工程要點。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1679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43565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35451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27336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19222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1108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02993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S1 · 市场与趋势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PMem 與 CXL 的應用與限制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0324"/>
            <a:ext cx="12191695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000" y="830072"/>
            <a:ext cx="5265267" cy="2716783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830072"/>
            <a:ext cx="5265267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1728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PMem (持久內存)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1728" y="1287272"/>
            <a:ext cx="5045811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1728" y="1332992"/>
            <a:ext cx="5045811" cy="2122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適用: 元數據/日志加速
優點: 低 P99 延遲
局限: 高成本、容量有限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4427" y="830072"/>
            <a:ext cx="5265267" cy="2716783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427" y="830072"/>
            <a:ext cx="5265267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4155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CXL (遠內存 pooling)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4155" y="1287272"/>
            <a:ext cx="5045811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4155" y="1332992"/>
            <a:ext cx="5045811" cy="2122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適用: 大模型內存彈性
優點: 內存共享/擴展
局限: 生態成熟度、隔離/權限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3684015"/>
            <a:ext cx="5265267" cy="2716783"/>
          </a:xfrm>
          <a:prstGeom prst="roundRect">
            <a:avLst/>
          </a:prstGeom>
          <a:solidFill>
            <a:srgbClr val="D8DDE3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3684015"/>
            <a:ext cx="5265267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728" y="3793743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邊緣流式預處理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1728" y="4141215"/>
            <a:ext cx="5045811" cy="18288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" y="4186935"/>
            <a:ext cx="5045811" cy="2122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用例: 濾波/壓縮/解析
驗證點: 端到端延遲、正確性
限制: 設備異構、編程模型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4427" y="3684015"/>
            <a:ext cx="5265267" cy="2716783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4427" y="3684015"/>
            <a:ext cx="5265267" cy="45720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4155" y="3793743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大規模日志/壓縮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4155" y="4141215"/>
            <a:ext cx="5045811" cy="18288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4155" y="4186935"/>
            <a:ext cx="5045811" cy="2122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用例: 設備側壓縮/索引
驗證點: 吞吐 &amp; 減少主機 IO
回退: 主機執行路徑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3A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192024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系統與雲原生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274320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33600" y="3086100"/>
            <a:ext cx="7924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对象存储、并行文件系统与云原生存储的趋势与架构取舍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1679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65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35451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27336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9222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11108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02993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A2F00"/>
                </a:solidFill>
                <a:latin typeface="Inter, Arial, sans-serif"/>
              </a:rPr>
              <a:t>Section S2 · 硬件层创新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A2F00"/>
                </a:solidFill>
                <a:latin typeface="Inter, Arial, sans-serif"/>
              </a:rPr>
              <a:t>存儲架構對比：對象 / 並行文件 / 分層緩存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A2F00"/>
                </a:solidFill>
                <a:latin typeface="Inter, Arial, sans-serif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0324"/>
            <a:ext cx="12191695" cy="22860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000" y="830072"/>
            <a:ext cx="3464458" cy="557072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830072"/>
            <a:ext cx="3464458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1728" y="939799"/>
            <a:ext cx="324500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對象存儲 (S3 兼容)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1728" y="1287272"/>
            <a:ext cx="3245002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1728" y="1332992"/>
            <a:ext cx="3245002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優點: 彈性擴展、成本優勢
局限: 小對象/低延遲場景需緩存
典型場景: 數據湖/歸檔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3618" y="830072"/>
            <a:ext cx="3464458" cy="5570727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3618" y="830072"/>
            <a:ext cx="3464458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3346" y="939799"/>
            <a:ext cx="324500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並行文件系統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73346" y="1287272"/>
            <a:ext cx="3245002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3346" y="1332992"/>
            <a:ext cx="3245002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優點: 高帶寬並行 I/O
局限: 元數據瓶頸/運維複雜
典型場景: HPC/訓練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5236" y="830072"/>
            <a:ext cx="3464458" cy="5570727"/>
          </a:xfrm>
          <a:prstGeom prst="roundRect">
            <a:avLst/>
          </a:prstGeom>
          <a:solidFill>
            <a:srgbClr val="D8DDE3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5236" y="830072"/>
            <a:ext cx="3464458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4964" y="939799"/>
            <a:ext cx="324500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分層緩存 (Alluxio 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964" y="1287272"/>
            <a:ext cx="3245002" cy="18288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964" y="1332992"/>
            <a:ext cx="3245002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優點: 提高並行讀性能
局限: 一致性/緩存失效
典型場景: 訓練/分析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192024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A2F00"/>
                </a:solidFill>
                <a:latin typeface="Inter, Arial, sans-serif"/>
              </a:rPr>
              <a:t>面向 AI 的存儲演進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2743200"/>
            <a:ext cx="1828800" cy="2743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33600" y="3086100"/>
            <a:ext cx="7924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3A2F00"/>
                </a:solidFill>
              </a:rPr>
              <a:t>训练/推理的 I/O 特征与存储组合实践建议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1679" y="5349240"/>
            <a:ext cx="337021" cy="7315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65" y="5349240"/>
            <a:ext cx="337021" cy="7315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35451" y="5349240"/>
            <a:ext cx="337021" cy="7315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27336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9222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11108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02993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A2F00"/>
                </a:solidFill>
                <a:latin typeface="Inter, Arial, sans-serif"/>
              </a:rPr>
              <a:t>Section S2 · 硬件层创新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A2F00"/>
                </a:solidFill>
                <a:latin typeface="Inter, Arial, sans-serif"/>
              </a:rPr>
              <a:t>AI 數據路徑設計 (對象 + 並行 FS + 緩存)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3A2F00"/>
                </a:solidFill>
                <a:latin typeface="Inter, Arial, sans-serif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0324"/>
            <a:ext cx="12191695" cy="22860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3440" y="921511"/>
            <a:ext cx="73152" cy="7315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320" y="784352"/>
            <a:ext cx="103019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建議：S</a:t>
            </a:r>
            <a:r>
              <a:rPr sz="1400" b="1">
                <a:solidFill>
                  <a:srgbClr val="00599C"/>
                </a:solidFill>
                <a:latin typeface="Inter, Arial, sans-serif"/>
              </a:rPr>
              <a:t>3</a:t>
            </a:r>
            <a:r>
              <a:rPr sz="1400">
                <a:solidFill>
                  <a:srgbClr val="16202A"/>
                </a:solidFill>
                <a:latin typeface="Inter, Arial, sans-serif"/>
              </a:rPr>
              <a:t>+並行文件系統+本地 </a:t>
            </a:r>
            <a:r>
              <a:rPr sz="1400" b="1">
                <a:solidFill>
                  <a:srgbClr val="00599C"/>
                </a:solidFill>
                <a:latin typeface="Inter, Arial, sans-serif"/>
              </a:rPr>
              <a:t>NVMe cache</a:t>
            </a:r>
            <a:r>
              <a:rPr sz="1400">
                <a:solidFill>
                  <a:srgbClr val="16202A"/>
                </a:solidFill>
                <a:latin typeface="Inter, Arial, sans-serif"/>
              </a:rPr>
              <a:t> 組合用於訓練</a:t>
            </a:r>
          </a:p>
        </p:txBody>
      </p:sp>
      <p:sp>
        <p:nvSpPr>
          <p:cNvPr id="9" name="Oval 8"/>
          <p:cNvSpPr/>
          <p:nvPr/>
        </p:nvSpPr>
        <p:spPr>
          <a:xfrm>
            <a:off x="853440" y="1287271"/>
            <a:ext cx="73152" cy="73152"/>
          </a:xfrm>
          <a:prstGeom prst="ellipse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320" y="1150112"/>
            <a:ext cx="103019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驗證點：緩存命中率、並行文件系統元數據擴展性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160" y="3775456"/>
            <a:ext cx="2255443" cy="640080"/>
          </a:xfrm>
          <a:prstGeom prst="roundRect">
            <a:avLst/>
          </a:prstGeom>
          <a:solidFill>
            <a:srgbClr val="00599C"/>
          </a:solidFill>
          <a:ln w="19050">
            <a:solidFill>
              <a:srgbClr val="00599C"/>
            </a:solidFill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Inter, Arial, sans-serif"/>
              </a:rPr>
              <a:t>ObjectStorage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323" y="4081780"/>
            <a:ext cx="320040" cy="27432"/>
          </a:xfrm>
          <a:prstGeom prst="rect">
            <a:avLst/>
          </a:prstGeom>
          <a:solidFill>
            <a:srgbClr val="425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3474643" y="4040632"/>
            <a:ext cx="109728" cy="109728"/>
          </a:xfrm>
          <a:prstGeom prst="triangle">
            <a:avLst/>
          </a:prstGeom>
          <a:solidFill>
            <a:srgbClr val="425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03" y="3775456"/>
            <a:ext cx="2255443" cy="640080"/>
          </a:xfrm>
          <a:prstGeom prst="roundRect">
            <a:avLst/>
          </a:prstGeom>
          <a:solidFill>
            <a:srgbClr val="00B3A4"/>
          </a:solidFill>
          <a:ln w="19050">
            <a:solidFill>
              <a:srgbClr val="00B3A4"/>
            </a:solidFill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Inter, Arial, sans-serif"/>
              </a:rPr>
              <a:t>Alluxio/Local NVMe Cache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12967" y="4081780"/>
            <a:ext cx="320040" cy="27432"/>
          </a:xfrm>
          <a:prstGeom prst="rect">
            <a:avLst/>
          </a:prstGeom>
          <a:solidFill>
            <a:srgbClr val="425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6187287" y="4040632"/>
            <a:ext cx="109728" cy="109728"/>
          </a:xfrm>
          <a:prstGeom prst="triangle">
            <a:avLst/>
          </a:prstGeom>
          <a:solidFill>
            <a:srgbClr val="425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4447" y="3775456"/>
            <a:ext cx="2255443" cy="640080"/>
          </a:xfrm>
          <a:prstGeom prst="roundRect">
            <a:avLst/>
          </a:prstGeom>
          <a:solidFill>
            <a:srgbClr val="FFD100"/>
          </a:solidFill>
          <a:ln w="19050">
            <a:solidFill>
              <a:srgbClr val="FFD100"/>
            </a:solidFill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Inter, Arial, sans-serif"/>
              </a:rPr>
              <a:t>ParallelFS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25611" y="4081780"/>
            <a:ext cx="320040" cy="27432"/>
          </a:xfrm>
          <a:prstGeom prst="rect">
            <a:avLst/>
          </a:prstGeom>
          <a:solidFill>
            <a:srgbClr val="425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899931" y="4040632"/>
            <a:ext cx="109728" cy="109728"/>
          </a:xfrm>
          <a:prstGeom prst="triangle">
            <a:avLst/>
          </a:prstGeom>
          <a:solidFill>
            <a:srgbClr val="425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37091" y="3775456"/>
            <a:ext cx="2255443" cy="640080"/>
          </a:xfrm>
          <a:prstGeom prst="roundRect">
            <a:avLst/>
          </a:prstGeom>
          <a:solidFill>
            <a:srgbClr val="7F8DA6"/>
          </a:solidFill>
          <a:ln w="19050">
            <a:solidFill>
              <a:srgbClr val="7F8DA6"/>
            </a:solidFill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Inter, Arial, sans-serif"/>
              </a:rPr>
              <a:t>Compute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192024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A2F00"/>
                </a:solidFill>
                <a:latin typeface="Inter, Arial, sans-serif"/>
              </a:rPr>
              <a:t>安全、可靠性與數據治理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2743200"/>
            <a:ext cx="1828800" cy="2743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33600" y="3086100"/>
            <a:ext cx="7924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3A2F00"/>
                </a:solidFill>
              </a:rPr>
              <a:t>加密、审计、合规策略与灾备设计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1679" y="5349240"/>
            <a:ext cx="337021" cy="7315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65" y="5349240"/>
            <a:ext cx="337021" cy="7315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35451" y="5349240"/>
            <a:ext cx="337021" cy="73152"/>
          </a:xfrm>
          <a:prstGeom prst="rect">
            <a:avLst/>
          </a:prstGeom>
          <a:solidFill>
            <a:srgbClr val="3A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27336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9222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11108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02993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192024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廠商案例研究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274320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33600" y="3086100"/>
            <a:ext cx="7924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两家国际厂商的存储架构亮点与试点建议对比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1679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65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35451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27336" y="5349240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19222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11108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02993" y="5349240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S3 · 系统与云原生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国内厂商案例：阿里云 vs 华为云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0324"/>
            <a:ext cx="12191695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000" y="830072"/>
            <a:ext cx="5265267" cy="2533903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830072"/>
            <a:ext cx="5265267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1728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阿里云 架构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1728" y="1287272"/>
            <a:ext cx="5045811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1728" y="1332992"/>
            <a:ext cx="5045811" cy="1939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亮点: Pangu + SSD cache 分层
场景: 大规模分析/训练
备注: 元数据扩展性强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4427" y="830072"/>
            <a:ext cx="5265267" cy="2533903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427" y="830072"/>
            <a:ext cx="5265267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4155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阿里云 试点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4155" y="1287272"/>
            <a:ext cx="5045811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4155" y="1332992"/>
            <a:ext cx="5045811" cy="1939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建议: 分层下沉成本验证 + 元数据扩展性试验
风险: 实现内部化优化难以外移
时间: 6–12 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3501135"/>
            <a:ext cx="5265267" cy="2533903"/>
          </a:xfrm>
          <a:prstGeom prst="roundRect">
            <a:avLst/>
          </a:prstGeom>
          <a:solidFill>
            <a:srgbClr val="D8DDE3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3501135"/>
            <a:ext cx="5265267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728" y="3610863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华为云 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1728" y="3958335"/>
            <a:ext cx="5045811" cy="18288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728" y="4004055"/>
            <a:ext cx="5045811" cy="1939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亮点: PMem + NVMe 层 + CXL 试点
场景: 低延迟事务/大模型内存弹性
备注: 硬件协同优势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4427" y="3501135"/>
            <a:ext cx="5265267" cy="2533903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4427" y="3501135"/>
            <a:ext cx="5265267" cy="45720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4155" y="3610863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599C"/>
                </a:solidFill>
                <a:latin typeface="Inter, Arial, sans-serif"/>
              </a:rPr>
              <a:t>华为云 试点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4155" y="3958335"/>
            <a:ext cx="5045811" cy="18288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4155" y="4004055"/>
            <a:ext cx="5045811" cy="1939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建议: 在受控集群测试 PMem/CXL 可用性与回退策略
风险: 国际互操作与硬件支持
时间: 6–12 月</a:t>
            </a:r>
          </a:p>
        </p:txBody>
      </p:sp>
      <p:sp>
        <p:nvSpPr>
          <p:cNvPr id="27" name="Oval 26"/>
          <p:cNvSpPr/>
          <p:nvPr/>
        </p:nvSpPr>
        <p:spPr>
          <a:xfrm>
            <a:off x="853440" y="6295643"/>
            <a:ext cx="73152" cy="73152"/>
          </a:xfrm>
          <a:prstGeom prst="ellipse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320" y="6172199"/>
            <a:ext cx="10301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202A"/>
                </a:solidFill>
                <a:latin typeface="Inter, Arial, sans-serif"/>
              </a:rPr>
              <a:t>两家国内厂商的存储架构亮点与试点建议对比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系统与云原生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